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media/image1.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Lst>
  <p:sldSz cx="14630400" cy="8229600"/>
  <p:notesSz cx="8229600" cy="14630400"/>
  <p:embeddedFontLst>
    <p:embeddedFont>
      <p:font typeface="Bitter Medium" charset="0"/>
      <p:regular r:id="rId29"/>
      <p:regular r:id="rId30"/>
      <p:regular r:id="rId31"/>
      <p:regular r:id="rId32"/>
    </p:embeddedFont>
    <p:embeddedFont>
      <p:font typeface="Open Sans" charset="0"/>
      <p:regular r:id="rId33"/>
      <p:regular r:id="rId34"/>
      <p:regular r:id="rId35"/>
      <p:regular r:id="rId3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6" Type="http://schemas.openxmlformats.org/officeDocument/2006/relationships/font" Target="fonts/font8.fntdata"/><Relationship Id="rId35" Type="http://schemas.openxmlformats.org/officeDocument/2006/relationships/font" Target="fonts/font7.fntdata"/><Relationship Id="rId34" Type="http://schemas.openxmlformats.org/officeDocument/2006/relationships/font" Target="fonts/font6.fntdata"/><Relationship Id="rId33" Type="http://schemas.openxmlformats.org/officeDocument/2006/relationships/font" Target="fonts/font5.fntdata"/><Relationship Id="rId32" Type="http://schemas.openxmlformats.org/officeDocument/2006/relationships/font" Target="fonts/font4.fntdata"/><Relationship Id="rId31" Type="http://schemas.openxmlformats.org/officeDocument/2006/relationships/font" Target="fonts/font3.fntdata"/><Relationship Id="rId30" Type="http://schemas.openxmlformats.org/officeDocument/2006/relationships/font" Target="fonts/font2.fntdata"/><Relationship Id="rId3" Type="http://schemas.openxmlformats.org/officeDocument/2006/relationships/slide" Target="slides/slide1.xml"/><Relationship Id="rId29" Type="http://schemas.openxmlformats.org/officeDocument/2006/relationships/font" Target="fonts/font1.fntdata"/><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p:spPr>
      </p:sp>
      <p:sp>
        <p:nvSpPr>
          <p:cNvPr id="3" name="Shape 1"/>
          <p:cNvSpPr/>
          <p:nvPr/>
        </p:nvSpPr>
        <p:spPr>
          <a:xfrm>
            <a:off x="0" y="0"/>
            <a:ext cx="14630400" cy="8229600"/>
          </a:xfrm>
          <a:prstGeom prst="rect">
            <a:avLst/>
          </a:prstGeom>
          <a:solidFill>
            <a:srgbClr val="FFF8F0"/>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p:spPr>
      </p:sp>
      <p:sp>
        <p:nvSpPr>
          <p:cNvPr id="3" name="Shape 1"/>
          <p:cNvSpPr/>
          <p:nvPr/>
        </p:nvSpPr>
        <p:spPr>
          <a:xfrm>
            <a:off x="0" y="0"/>
            <a:ext cx="14630400" cy="8229600"/>
          </a:xfrm>
          <a:prstGeom prst="rect">
            <a:avLst/>
          </a:prstGeom>
          <a:solidFill>
            <a:srgbClr val="FFF8F0"/>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p:spPr>
      </p:sp>
      <p:sp>
        <p:nvSpPr>
          <p:cNvPr id="3" name="Shape 1"/>
          <p:cNvSpPr/>
          <p:nvPr/>
        </p:nvSpPr>
        <p:spPr>
          <a:xfrm>
            <a:off x="0" y="0"/>
            <a:ext cx="14630400" cy="8229600"/>
          </a:xfrm>
          <a:prstGeom prst="rect">
            <a:avLst/>
          </a:prstGeom>
          <a:solidFill>
            <a:srgbClr val="FFF8F0"/>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p:spPr>
      </p:sp>
      <p:sp>
        <p:nvSpPr>
          <p:cNvPr id="3" name="Shape 1"/>
          <p:cNvSpPr/>
          <p:nvPr/>
        </p:nvSpPr>
        <p:spPr>
          <a:xfrm>
            <a:off x="0" y="0"/>
            <a:ext cx="14630400" cy="8229600"/>
          </a:xfrm>
          <a:prstGeom prst="rect">
            <a:avLst/>
          </a:prstGeom>
          <a:solidFill>
            <a:srgbClr val="FFF8F0"/>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p:spPr>
      </p:sp>
      <p:sp>
        <p:nvSpPr>
          <p:cNvPr id="3" name="Shape 1"/>
          <p:cNvSpPr/>
          <p:nvPr/>
        </p:nvSpPr>
        <p:spPr>
          <a:xfrm>
            <a:off x="0" y="0"/>
            <a:ext cx="14630400" cy="8229600"/>
          </a:xfrm>
          <a:prstGeom prst="rect">
            <a:avLst/>
          </a:prstGeom>
          <a:solidFill>
            <a:srgbClr val="FFF8F0"/>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p:spPr>
      </p:sp>
      <p:sp>
        <p:nvSpPr>
          <p:cNvPr id="3" name="Shape 1"/>
          <p:cNvSpPr/>
          <p:nvPr/>
        </p:nvSpPr>
        <p:spPr>
          <a:xfrm>
            <a:off x="0" y="0"/>
            <a:ext cx="14630400" cy="8229600"/>
          </a:xfrm>
          <a:prstGeom prst="rect">
            <a:avLst/>
          </a:prstGeom>
          <a:solidFill>
            <a:srgbClr val="FFF8F0"/>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p:spPr>
      </p:sp>
      <p:sp>
        <p:nvSpPr>
          <p:cNvPr id="3" name="Shape 1"/>
          <p:cNvSpPr/>
          <p:nvPr/>
        </p:nvSpPr>
        <p:spPr>
          <a:xfrm>
            <a:off x="0" y="0"/>
            <a:ext cx="14630400" cy="8229600"/>
          </a:xfrm>
          <a:prstGeom prst="rect">
            <a:avLst/>
          </a:prstGeom>
          <a:solidFill>
            <a:srgbClr val="FFF8F0"/>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p:spPr>
      </p:sp>
      <p:sp>
        <p:nvSpPr>
          <p:cNvPr id="3" name="Shape 1"/>
          <p:cNvSpPr/>
          <p:nvPr/>
        </p:nvSpPr>
        <p:spPr>
          <a:xfrm>
            <a:off x="0" y="0"/>
            <a:ext cx="14630400" cy="8229600"/>
          </a:xfrm>
          <a:prstGeom prst="rect">
            <a:avLst/>
          </a:prstGeom>
          <a:solidFill>
            <a:srgbClr val="FFF8F0"/>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p:spPr>
      </p:sp>
      <p:sp>
        <p:nvSpPr>
          <p:cNvPr id="3" name="Shape 1"/>
          <p:cNvSpPr/>
          <p:nvPr/>
        </p:nvSpPr>
        <p:spPr>
          <a:xfrm>
            <a:off x="0" y="0"/>
            <a:ext cx="14630400" cy="8229600"/>
          </a:xfrm>
          <a:prstGeom prst="rect">
            <a:avLst/>
          </a:prstGeom>
          <a:solidFill>
            <a:srgbClr val="FFF8F0"/>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p:spPr>
      </p:sp>
      <p:sp>
        <p:nvSpPr>
          <p:cNvPr id="3" name="Shape 1"/>
          <p:cNvSpPr/>
          <p:nvPr/>
        </p:nvSpPr>
        <p:spPr>
          <a:xfrm>
            <a:off x="0" y="0"/>
            <a:ext cx="14630400" cy="8229600"/>
          </a:xfrm>
          <a:prstGeom prst="rect">
            <a:avLst/>
          </a:prstGeom>
          <a:solidFill>
            <a:srgbClr val="FFF8F0"/>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p:spPr>
      </p:sp>
      <p:sp>
        <p:nvSpPr>
          <p:cNvPr id="3" name="Shape 1"/>
          <p:cNvSpPr/>
          <p:nvPr/>
        </p:nvSpPr>
        <p:spPr>
          <a:xfrm>
            <a:off x="0" y="0"/>
            <a:ext cx="14630400" cy="8229600"/>
          </a:xfrm>
          <a:prstGeom prst="rect">
            <a:avLst/>
          </a:prstGeom>
          <a:solidFill>
            <a:srgbClr val="FFF8F0"/>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p:spPr>
      </p:sp>
      <p:sp>
        <p:nvSpPr>
          <p:cNvPr id="3" name="Shape 1"/>
          <p:cNvSpPr/>
          <p:nvPr/>
        </p:nvSpPr>
        <p:spPr>
          <a:xfrm>
            <a:off x="0" y="0"/>
            <a:ext cx="14630400" cy="8229600"/>
          </a:xfrm>
          <a:prstGeom prst="rect">
            <a:avLst/>
          </a:prstGeom>
          <a:solidFill>
            <a:srgbClr val="FFF8F0"/>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p:spPr>
      </p:sp>
      <p:sp>
        <p:nvSpPr>
          <p:cNvPr id="3" name="Shape 1"/>
          <p:cNvSpPr/>
          <p:nvPr/>
        </p:nvSpPr>
        <p:spPr>
          <a:xfrm>
            <a:off x="0" y="0"/>
            <a:ext cx="14630400" cy="8229600"/>
          </a:xfrm>
          <a:prstGeom prst="rect">
            <a:avLst/>
          </a:prstGeom>
          <a:solidFill>
            <a:srgbClr val="FFF8F0"/>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p:spPr>
      </p:sp>
      <p:sp>
        <p:nvSpPr>
          <p:cNvPr id="3" name="Shape 1"/>
          <p:cNvSpPr/>
          <p:nvPr/>
        </p:nvSpPr>
        <p:spPr>
          <a:xfrm>
            <a:off x="0" y="0"/>
            <a:ext cx="14630400" cy="8229600"/>
          </a:xfrm>
          <a:prstGeom prst="rect">
            <a:avLst/>
          </a:prstGeom>
          <a:solidFill>
            <a:srgbClr val="FFF8F0"/>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p:spPr>
      </p:sp>
      <p:sp>
        <p:nvSpPr>
          <p:cNvPr id="3" name="Shape 1"/>
          <p:cNvSpPr/>
          <p:nvPr/>
        </p:nvSpPr>
        <p:spPr>
          <a:xfrm>
            <a:off x="0" y="0"/>
            <a:ext cx="14630400" cy="8229600"/>
          </a:xfrm>
          <a:prstGeom prst="rect">
            <a:avLst/>
          </a:prstGeom>
          <a:solidFill>
            <a:srgbClr val="FFF8F0"/>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p:spPr>
      </p:sp>
      <p:sp>
        <p:nvSpPr>
          <p:cNvPr id="3" name="Shape 1"/>
          <p:cNvSpPr/>
          <p:nvPr/>
        </p:nvSpPr>
        <p:spPr>
          <a:xfrm>
            <a:off x="0" y="0"/>
            <a:ext cx="14630400" cy="8229600"/>
          </a:xfrm>
          <a:prstGeom prst="rect">
            <a:avLst/>
          </a:prstGeom>
          <a:solidFill>
            <a:srgbClr val="FFF8F0"/>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p:spPr>
      </p:sp>
      <p:sp>
        <p:nvSpPr>
          <p:cNvPr id="3" name="Shape 1"/>
          <p:cNvSpPr/>
          <p:nvPr/>
        </p:nvSpPr>
        <p:spPr>
          <a:xfrm>
            <a:off x="0" y="0"/>
            <a:ext cx="14630400" cy="8229600"/>
          </a:xfrm>
          <a:prstGeom prst="rect">
            <a:avLst/>
          </a:prstGeom>
          <a:solidFill>
            <a:srgbClr val="FFF8F0"/>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p:spPr>
      </p:sp>
      <p:sp>
        <p:nvSpPr>
          <p:cNvPr id="3" name="Shape 1"/>
          <p:cNvSpPr/>
          <p:nvPr/>
        </p:nvSpPr>
        <p:spPr>
          <a:xfrm>
            <a:off x="0" y="0"/>
            <a:ext cx="14630400" cy="8229600"/>
          </a:xfrm>
          <a:prstGeom prst="rect">
            <a:avLst/>
          </a:prstGeom>
          <a:solidFill>
            <a:srgbClr val="FFF8F0"/>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p:spPr>
      </p:sp>
      <p:sp>
        <p:nvSpPr>
          <p:cNvPr id="3" name="Shape 1"/>
          <p:cNvSpPr/>
          <p:nvPr/>
        </p:nvSpPr>
        <p:spPr>
          <a:xfrm>
            <a:off x="0" y="0"/>
            <a:ext cx="14630400" cy="8229600"/>
          </a:xfrm>
          <a:prstGeom prst="rect">
            <a:avLst/>
          </a:prstGeom>
          <a:solidFill>
            <a:srgbClr val="FFF8F0"/>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p:spPr>
      </p:sp>
      <p:sp>
        <p:nvSpPr>
          <p:cNvPr id="3" name="Shape 1"/>
          <p:cNvSpPr/>
          <p:nvPr/>
        </p:nvSpPr>
        <p:spPr>
          <a:xfrm>
            <a:off x="0" y="0"/>
            <a:ext cx="14630400" cy="8229600"/>
          </a:xfrm>
          <a:prstGeom prst="rect">
            <a:avLst/>
          </a:prstGeom>
          <a:solidFill>
            <a:srgbClr val="FFF8F0"/>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p:spPr>
      </p:sp>
      <p:sp>
        <p:nvSpPr>
          <p:cNvPr id="3" name="Shape 1"/>
          <p:cNvSpPr/>
          <p:nvPr/>
        </p:nvSpPr>
        <p:spPr>
          <a:xfrm>
            <a:off x="0" y="0"/>
            <a:ext cx="14630400" cy="8229600"/>
          </a:xfrm>
          <a:prstGeom prst="rect">
            <a:avLst/>
          </a:prstGeom>
          <a:solidFill>
            <a:srgbClr val="FFF8F0"/>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p:spPr>
      </p:sp>
      <p:sp>
        <p:nvSpPr>
          <p:cNvPr id="3" name="Shape 1"/>
          <p:cNvSpPr/>
          <p:nvPr/>
        </p:nvSpPr>
        <p:spPr>
          <a:xfrm>
            <a:off x="0" y="0"/>
            <a:ext cx="14630400" cy="8229600"/>
          </a:xfrm>
          <a:prstGeom prst="rect">
            <a:avLst/>
          </a:prstGeom>
          <a:solidFill>
            <a:srgbClr val="FFF8F0"/>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4" Type="http://schemas.openxmlformats.org/officeDocument/2006/relationships/theme" Target="../theme/theme1.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8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8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8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8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5.xml"/><Relationship Id="rId6" Type="http://schemas.openxmlformats.org/officeDocument/2006/relationships/image" Target="../media/image2.png"/><Relationship Id="rId5" Type="http://schemas.openxmlformats.org/officeDocument/2006/relationships/image" Target="../media/image4.svg"/><Relationship Id="rId4" Type="http://schemas.openxmlformats.org/officeDocument/2006/relationships/image" Target="../media/image3.svg"/><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8.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9.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10.xml"/><Relationship Id="rId6" Type="http://schemas.openxmlformats.org/officeDocument/2006/relationships/image" Target="../media/image2.png"/><Relationship Id="rId5" Type="http://schemas.openxmlformats.org/officeDocument/2006/relationships/image" Target="../media/image8.svg"/><Relationship Id="rId4" Type="http://schemas.openxmlformats.org/officeDocument/2006/relationships/image" Target="../media/image7.svg"/><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11.xml"/><Relationship Id="rId6" Type="http://schemas.openxmlformats.org/officeDocument/2006/relationships/image" Target="../media/image2.png"/><Relationship Id="rId5" Type="http://schemas.openxmlformats.org/officeDocument/2006/relationships/image" Target="../media/image12.svg"/><Relationship Id="rId4" Type="http://schemas.openxmlformats.org/officeDocument/2006/relationships/image" Target="../media/image11.svg"/><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16.svg"/><Relationship Id="rId4" Type="http://schemas.openxmlformats.org/officeDocument/2006/relationships/image" Target="../media/image15.svg"/><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3.xml"/><Relationship Id="rId2" Type="http://schemas.openxmlformats.org/officeDocument/2006/relationships/image" Target="../media/image2.png"/><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4.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5.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6.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7.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8.xml"/><Relationship Id="rId2" Type="http://schemas.openxmlformats.org/officeDocument/2006/relationships/image" Target="../media/image4.png"/><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9.xml"/><Relationship Id="rId2" Type="http://schemas.openxmlformats.org/officeDocument/2006/relationships/image" Target="../media/image2.png"/><Relationship Id="rId1" Type="http://schemas.openxmlformats.org/officeDocument/2006/relationships/image" Target="../media/image5.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20.xml"/><Relationship Id="rId2" Type="http://schemas.openxmlformats.org/officeDocument/2006/relationships/image" Target="../media/image8.png"/><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1.xml"/><Relationship Id="rId2" Type="http://schemas.openxmlformats.org/officeDocument/2006/relationships/image" Target="../media/image9.png"/><Relationship Id="rId1"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2.xml"/><Relationship Id="rId1"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3.xml"/><Relationship Id="rId1"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2697123"/>
            <a:ext cx="13042821" cy="2835354"/>
          </a:xfrm>
          <a:prstGeom prst="rect">
            <a:avLst/>
          </a:prstGeom>
          <a:noFill/>
        </p:spPr>
        <p:txBody>
          <a:bodyPr wrap="square" lIns="0" tIns="0" rIns="0" bIns="0" rtlCol="0" anchor="t"/>
          <a:lstStyle/>
          <a:p>
            <a:pPr marL="0" indent="0" algn="l">
              <a:lnSpc>
                <a:spcPts val="11150"/>
              </a:lnSpc>
              <a:buNone/>
            </a:pPr>
            <a:r>
              <a:rPr lang="en-US" sz="8900" dirty="0">
                <a:solidFill>
                  <a:srgbClr val="2C3F42"/>
                </a:solidFill>
                <a:latin typeface="Bitter Medium" pitchFamily="34" charset="0"/>
                <a:ea typeface="Bitter Medium" pitchFamily="34" charset="-122"/>
                <a:cs typeface="Bitter Medium" pitchFamily="34" charset="-120"/>
              </a:rPr>
              <a:t>Emergency Route Finder</a:t>
            </a:r>
            <a:endParaRPr lang="en-US" sz="8900" dirty="0"/>
          </a:p>
        </p:txBody>
      </p:sp>
      <p:pic>
        <p:nvPicPr>
          <p:cNvPr id="3" name="Picture 2"/>
          <p:cNvPicPr>
            <a:picLocks noChangeAspect="1"/>
          </p:cNvPicPr>
          <p:nvPr/>
        </p:nvPicPr>
        <p:blipFill>
          <a:blip r:embed="rId1"/>
          <a:stretch>
            <a:fillRect/>
          </a:stretch>
        </p:blipFill>
        <p:spPr>
          <a:xfrm>
            <a:off x="11985625" y="7682865"/>
            <a:ext cx="2505075" cy="4667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2921318"/>
            <a:ext cx="5670590" cy="708779"/>
          </a:xfrm>
          <a:prstGeom prst="rect">
            <a:avLst/>
          </a:prstGeom>
          <a:noFill/>
        </p:spPr>
        <p:txBody>
          <a:bodyPr wrap="none" lIns="0" tIns="0" rIns="0" bIns="0" rtlCol="0" anchor="t"/>
          <a:lstStyle/>
          <a:p>
            <a:pPr marL="0" indent="0" algn="l">
              <a:lnSpc>
                <a:spcPts val="5550"/>
              </a:lnSpc>
              <a:buNone/>
            </a:pPr>
            <a:r>
              <a:rPr lang="en-US" sz="4450" dirty="0">
                <a:solidFill>
                  <a:srgbClr val="2C3F42"/>
                </a:solidFill>
                <a:latin typeface="Bitter Medium" pitchFamily="34" charset="0"/>
                <a:ea typeface="Bitter Medium" pitchFamily="34" charset="-122"/>
                <a:cs typeface="Bitter Medium" pitchFamily="34" charset="-120"/>
              </a:rPr>
              <a:t>Team Members</a:t>
            </a:r>
            <a:endParaRPr lang="en-US" sz="4450" dirty="0"/>
          </a:p>
        </p:txBody>
      </p:sp>
      <p:sp>
        <p:nvSpPr>
          <p:cNvPr id="3" name="Text 1"/>
          <p:cNvSpPr/>
          <p:nvPr/>
        </p:nvSpPr>
        <p:spPr>
          <a:xfrm>
            <a:off x="793790" y="4174331"/>
            <a:ext cx="6244709" cy="362903"/>
          </a:xfrm>
          <a:prstGeom prst="rect">
            <a:avLst/>
          </a:prstGeom>
          <a:noFill/>
        </p:spPr>
        <p:txBody>
          <a:bodyPr wrap="non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Huzaifa Basit</a:t>
            </a:r>
            <a:endParaRPr lang="en-US" sz="1750" dirty="0"/>
          </a:p>
        </p:txBody>
      </p:sp>
      <p:sp>
        <p:nvSpPr>
          <p:cNvPr id="4" name="Text 2"/>
          <p:cNvSpPr/>
          <p:nvPr/>
        </p:nvSpPr>
        <p:spPr>
          <a:xfrm>
            <a:off x="793790" y="4741307"/>
            <a:ext cx="6244709" cy="362903"/>
          </a:xfrm>
          <a:prstGeom prst="rect">
            <a:avLst/>
          </a:prstGeom>
          <a:noFill/>
        </p:spPr>
        <p:txBody>
          <a:bodyPr wrap="non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Kashmala Deen</a:t>
            </a:r>
            <a:endParaRPr lang="en-US" sz="1750" dirty="0"/>
          </a:p>
        </p:txBody>
      </p:sp>
      <p:sp>
        <p:nvSpPr>
          <p:cNvPr id="5" name="Text 3"/>
          <p:cNvSpPr/>
          <p:nvPr/>
        </p:nvSpPr>
        <p:spPr>
          <a:xfrm>
            <a:off x="7599521" y="4174331"/>
            <a:ext cx="6244709" cy="362903"/>
          </a:xfrm>
          <a:prstGeom prst="rect">
            <a:avLst/>
          </a:prstGeom>
          <a:noFill/>
        </p:spPr>
        <p:txBody>
          <a:bodyPr wrap="non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Hasnat Haider</a:t>
            </a:r>
            <a:endParaRPr lang="en-US" sz="1750" dirty="0"/>
          </a:p>
        </p:txBody>
      </p:sp>
      <p:sp>
        <p:nvSpPr>
          <p:cNvPr id="6" name="Text 4"/>
          <p:cNvSpPr/>
          <p:nvPr/>
        </p:nvSpPr>
        <p:spPr>
          <a:xfrm>
            <a:off x="7599521" y="4741307"/>
            <a:ext cx="6244709" cy="362903"/>
          </a:xfrm>
          <a:prstGeom prst="rect">
            <a:avLst/>
          </a:prstGeom>
          <a:noFill/>
        </p:spPr>
        <p:txBody>
          <a:bodyPr wrap="non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Rafia Mariam</a:t>
            </a:r>
            <a:endParaRPr lang="en-US" sz="1750" dirty="0"/>
          </a:p>
        </p:txBody>
      </p:sp>
      <p:pic>
        <p:nvPicPr>
          <p:cNvPr id="7" name="Picture 6"/>
          <p:cNvPicPr>
            <a:picLocks noChangeAspect="1"/>
          </p:cNvPicPr>
          <p:nvPr/>
        </p:nvPicPr>
        <p:blipFill>
          <a:blip r:embed="rId1"/>
          <a:stretch>
            <a:fillRect/>
          </a:stretch>
        </p:blipFill>
        <p:spPr>
          <a:xfrm>
            <a:off x="12125325" y="7762875"/>
            <a:ext cx="2505075" cy="4667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14601" y="482918"/>
            <a:ext cx="4390192" cy="548640"/>
          </a:xfrm>
          <a:prstGeom prst="rect">
            <a:avLst/>
          </a:prstGeom>
          <a:noFill/>
        </p:spPr>
        <p:txBody>
          <a:bodyPr wrap="none" lIns="0" tIns="0" rIns="0" bIns="0" rtlCol="0" anchor="t"/>
          <a:lstStyle/>
          <a:p>
            <a:pPr marL="0" indent="0" algn="l">
              <a:lnSpc>
                <a:spcPts val="4300"/>
              </a:lnSpc>
              <a:buNone/>
            </a:pPr>
            <a:r>
              <a:rPr lang="en-US" sz="3450" dirty="0">
                <a:solidFill>
                  <a:srgbClr val="2C3F42"/>
                </a:solidFill>
                <a:latin typeface="Bitter Medium" pitchFamily="34" charset="0"/>
                <a:ea typeface="Bitter Medium" pitchFamily="34" charset="-122"/>
                <a:cs typeface="Bitter Medium" pitchFamily="34" charset="-120"/>
              </a:rPr>
              <a:t>What We'll Cover</a:t>
            </a:r>
            <a:endParaRPr lang="en-US" sz="3450" dirty="0"/>
          </a:p>
        </p:txBody>
      </p:sp>
      <p:sp>
        <p:nvSpPr>
          <p:cNvPr id="3" name="Shape 1"/>
          <p:cNvSpPr/>
          <p:nvPr/>
        </p:nvSpPr>
        <p:spPr>
          <a:xfrm>
            <a:off x="614601" y="1382673"/>
            <a:ext cx="395049" cy="395049"/>
          </a:xfrm>
          <a:prstGeom prst="roundRect">
            <a:avLst>
              <a:gd name="adj" fmla="val 18670"/>
            </a:avLst>
          </a:prstGeom>
          <a:solidFill>
            <a:srgbClr val="FCE2CF"/>
          </a:solidFill>
          <a:ln w="7620">
            <a:solidFill>
              <a:srgbClr val="E2C8B5"/>
            </a:solidFill>
            <a:prstDash val="solid"/>
          </a:ln>
        </p:spPr>
      </p:sp>
      <p:sp>
        <p:nvSpPr>
          <p:cNvPr id="4" name="Text 2"/>
          <p:cNvSpPr/>
          <p:nvPr/>
        </p:nvSpPr>
        <p:spPr>
          <a:xfrm>
            <a:off x="680442" y="1415594"/>
            <a:ext cx="263366" cy="329208"/>
          </a:xfrm>
          <a:prstGeom prst="rect">
            <a:avLst/>
          </a:prstGeom>
          <a:noFill/>
        </p:spPr>
        <p:txBody>
          <a:bodyPr wrap="none" lIns="0" tIns="0" rIns="0" bIns="0" rtlCol="0" anchor="t"/>
          <a:lstStyle/>
          <a:p>
            <a:pPr marL="0" indent="0" algn="ctr">
              <a:lnSpc>
                <a:spcPts val="2050"/>
              </a:lnSpc>
              <a:buNone/>
            </a:pPr>
            <a:r>
              <a:rPr lang="en-US" sz="2050" dirty="0">
                <a:solidFill>
                  <a:srgbClr val="2B2E3C"/>
                </a:solidFill>
                <a:latin typeface="Bitter Medium" pitchFamily="34" charset="0"/>
                <a:ea typeface="Bitter Medium" pitchFamily="34" charset="-122"/>
                <a:cs typeface="Bitter Medium" pitchFamily="34" charset="-120"/>
              </a:rPr>
              <a:t>1</a:t>
            </a:r>
            <a:endParaRPr lang="en-US" sz="2050" dirty="0"/>
          </a:p>
        </p:txBody>
      </p:sp>
      <p:sp>
        <p:nvSpPr>
          <p:cNvPr id="5" name="Text 3"/>
          <p:cNvSpPr/>
          <p:nvPr/>
        </p:nvSpPr>
        <p:spPr>
          <a:xfrm>
            <a:off x="1185148" y="1443038"/>
            <a:ext cx="2195036" cy="274439"/>
          </a:xfrm>
          <a:prstGeom prst="rect">
            <a:avLst/>
          </a:prstGeom>
          <a:noFill/>
        </p:spPr>
        <p:txBody>
          <a:bodyPr wrap="none" lIns="0" tIns="0" rIns="0" bIns="0" rtlCol="0" anchor="t"/>
          <a:lstStyle/>
          <a:p>
            <a:pPr marL="0" indent="0" algn="l">
              <a:lnSpc>
                <a:spcPts val="2150"/>
              </a:lnSpc>
              <a:buNone/>
            </a:pPr>
            <a:r>
              <a:rPr lang="en-US" sz="1700" dirty="0">
                <a:solidFill>
                  <a:srgbClr val="2B2E3C"/>
                </a:solidFill>
                <a:latin typeface="Bitter Medium" pitchFamily="34" charset="0"/>
                <a:ea typeface="Bitter Medium" pitchFamily="34" charset="-122"/>
                <a:cs typeface="Bitter Medium" pitchFamily="34" charset="-120"/>
              </a:rPr>
              <a:t>Advantages</a:t>
            </a:r>
            <a:endParaRPr lang="en-US" sz="1700" dirty="0"/>
          </a:p>
        </p:txBody>
      </p:sp>
      <p:sp>
        <p:nvSpPr>
          <p:cNvPr id="6" name="Shape 4"/>
          <p:cNvSpPr/>
          <p:nvPr/>
        </p:nvSpPr>
        <p:spPr>
          <a:xfrm>
            <a:off x="614601" y="2128838"/>
            <a:ext cx="395049" cy="395049"/>
          </a:xfrm>
          <a:prstGeom prst="roundRect">
            <a:avLst>
              <a:gd name="adj" fmla="val 18670"/>
            </a:avLst>
          </a:prstGeom>
          <a:solidFill>
            <a:srgbClr val="FCE2CF"/>
          </a:solidFill>
          <a:ln w="7620">
            <a:solidFill>
              <a:srgbClr val="E2C8B5"/>
            </a:solidFill>
            <a:prstDash val="solid"/>
          </a:ln>
        </p:spPr>
      </p:sp>
      <p:sp>
        <p:nvSpPr>
          <p:cNvPr id="7" name="Text 5"/>
          <p:cNvSpPr/>
          <p:nvPr/>
        </p:nvSpPr>
        <p:spPr>
          <a:xfrm>
            <a:off x="680442" y="2161758"/>
            <a:ext cx="263366" cy="329208"/>
          </a:xfrm>
          <a:prstGeom prst="rect">
            <a:avLst/>
          </a:prstGeom>
          <a:noFill/>
        </p:spPr>
        <p:txBody>
          <a:bodyPr wrap="none" lIns="0" tIns="0" rIns="0" bIns="0" rtlCol="0" anchor="t"/>
          <a:lstStyle/>
          <a:p>
            <a:pPr marL="0" indent="0" algn="ctr">
              <a:lnSpc>
                <a:spcPts val="2050"/>
              </a:lnSpc>
              <a:buNone/>
            </a:pPr>
            <a:r>
              <a:rPr lang="en-US" sz="2050" dirty="0">
                <a:solidFill>
                  <a:srgbClr val="2B2E3C"/>
                </a:solidFill>
                <a:latin typeface="Bitter Medium" pitchFamily="34" charset="0"/>
                <a:ea typeface="Bitter Medium" pitchFamily="34" charset="-122"/>
                <a:cs typeface="Bitter Medium" pitchFamily="34" charset="-120"/>
              </a:rPr>
              <a:t>2</a:t>
            </a:r>
            <a:endParaRPr lang="en-US" sz="2050" dirty="0"/>
          </a:p>
        </p:txBody>
      </p:sp>
      <p:sp>
        <p:nvSpPr>
          <p:cNvPr id="8" name="Text 6"/>
          <p:cNvSpPr/>
          <p:nvPr/>
        </p:nvSpPr>
        <p:spPr>
          <a:xfrm>
            <a:off x="1185148" y="2189202"/>
            <a:ext cx="2195036" cy="274439"/>
          </a:xfrm>
          <a:prstGeom prst="rect">
            <a:avLst/>
          </a:prstGeom>
          <a:noFill/>
        </p:spPr>
        <p:txBody>
          <a:bodyPr wrap="none" lIns="0" tIns="0" rIns="0" bIns="0" rtlCol="0" anchor="t"/>
          <a:lstStyle/>
          <a:p>
            <a:pPr marL="0" indent="0" algn="l">
              <a:lnSpc>
                <a:spcPts val="2150"/>
              </a:lnSpc>
              <a:buNone/>
            </a:pPr>
            <a:r>
              <a:rPr lang="en-US" sz="1700" dirty="0">
                <a:solidFill>
                  <a:srgbClr val="2B2E3C"/>
                </a:solidFill>
                <a:latin typeface="Bitter Medium" pitchFamily="34" charset="0"/>
                <a:ea typeface="Bitter Medium" pitchFamily="34" charset="-122"/>
                <a:cs typeface="Bitter Medium" pitchFamily="34" charset="-120"/>
              </a:rPr>
              <a:t>#include Lines</a:t>
            </a:r>
            <a:endParaRPr lang="en-US" sz="1700" dirty="0"/>
          </a:p>
        </p:txBody>
      </p:sp>
      <p:sp>
        <p:nvSpPr>
          <p:cNvPr id="9" name="Shape 7"/>
          <p:cNvSpPr/>
          <p:nvPr/>
        </p:nvSpPr>
        <p:spPr>
          <a:xfrm>
            <a:off x="614601" y="2875002"/>
            <a:ext cx="395049" cy="395049"/>
          </a:xfrm>
          <a:prstGeom prst="roundRect">
            <a:avLst>
              <a:gd name="adj" fmla="val 18670"/>
            </a:avLst>
          </a:prstGeom>
          <a:solidFill>
            <a:srgbClr val="FCE2CF"/>
          </a:solidFill>
          <a:ln w="7620">
            <a:solidFill>
              <a:srgbClr val="E2C8B5"/>
            </a:solidFill>
            <a:prstDash val="solid"/>
          </a:ln>
        </p:spPr>
      </p:sp>
      <p:sp>
        <p:nvSpPr>
          <p:cNvPr id="10" name="Text 8"/>
          <p:cNvSpPr/>
          <p:nvPr/>
        </p:nvSpPr>
        <p:spPr>
          <a:xfrm>
            <a:off x="680442" y="2907923"/>
            <a:ext cx="263366" cy="329208"/>
          </a:xfrm>
          <a:prstGeom prst="rect">
            <a:avLst/>
          </a:prstGeom>
          <a:noFill/>
        </p:spPr>
        <p:txBody>
          <a:bodyPr wrap="none" lIns="0" tIns="0" rIns="0" bIns="0" rtlCol="0" anchor="t"/>
          <a:lstStyle/>
          <a:p>
            <a:pPr marL="0" indent="0" algn="ctr">
              <a:lnSpc>
                <a:spcPts val="2050"/>
              </a:lnSpc>
              <a:buNone/>
            </a:pPr>
            <a:r>
              <a:rPr lang="en-US" sz="2050" dirty="0">
                <a:solidFill>
                  <a:srgbClr val="2B2E3C"/>
                </a:solidFill>
                <a:latin typeface="Bitter Medium" pitchFamily="34" charset="0"/>
                <a:ea typeface="Bitter Medium" pitchFamily="34" charset="-122"/>
                <a:cs typeface="Bitter Medium" pitchFamily="34" charset="-120"/>
              </a:rPr>
              <a:t>3</a:t>
            </a:r>
            <a:endParaRPr lang="en-US" sz="2050" dirty="0"/>
          </a:p>
        </p:txBody>
      </p:sp>
      <p:sp>
        <p:nvSpPr>
          <p:cNvPr id="11" name="Text 9"/>
          <p:cNvSpPr/>
          <p:nvPr/>
        </p:nvSpPr>
        <p:spPr>
          <a:xfrm>
            <a:off x="1185148" y="2935367"/>
            <a:ext cx="2195036" cy="274439"/>
          </a:xfrm>
          <a:prstGeom prst="rect">
            <a:avLst/>
          </a:prstGeom>
          <a:noFill/>
        </p:spPr>
        <p:txBody>
          <a:bodyPr wrap="none" lIns="0" tIns="0" rIns="0" bIns="0" rtlCol="0" anchor="t"/>
          <a:lstStyle/>
          <a:p>
            <a:pPr marL="0" indent="0" algn="l">
              <a:lnSpc>
                <a:spcPts val="2150"/>
              </a:lnSpc>
              <a:buNone/>
            </a:pPr>
            <a:r>
              <a:rPr lang="en-US" sz="1700" dirty="0">
                <a:solidFill>
                  <a:srgbClr val="2B2E3C"/>
                </a:solidFill>
                <a:latin typeface="Bitter Medium" pitchFamily="34" charset="0"/>
                <a:ea typeface="Bitter Medium" pitchFamily="34" charset="-122"/>
                <a:cs typeface="Bitter Medium" pitchFamily="34" charset="-120"/>
              </a:rPr>
              <a:t>Dijkstra Function</a:t>
            </a:r>
            <a:endParaRPr lang="en-US" sz="1700" dirty="0"/>
          </a:p>
        </p:txBody>
      </p:sp>
      <p:sp>
        <p:nvSpPr>
          <p:cNvPr id="12" name="Shape 10"/>
          <p:cNvSpPr/>
          <p:nvPr/>
        </p:nvSpPr>
        <p:spPr>
          <a:xfrm>
            <a:off x="614601" y="3621167"/>
            <a:ext cx="395049" cy="395049"/>
          </a:xfrm>
          <a:prstGeom prst="roundRect">
            <a:avLst>
              <a:gd name="adj" fmla="val 18670"/>
            </a:avLst>
          </a:prstGeom>
          <a:solidFill>
            <a:srgbClr val="FCE2CF"/>
          </a:solidFill>
          <a:ln w="7620">
            <a:solidFill>
              <a:srgbClr val="E2C8B5"/>
            </a:solidFill>
            <a:prstDash val="solid"/>
          </a:ln>
        </p:spPr>
      </p:sp>
      <p:sp>
        <p:nvSpPr>
          <p:cNvPr id="13" name="Text 11"/>
          <p:cNvSpPr/>
          <p:nvPr/>
        </p:nvSpPr>
        <p:spPr>
          <a:xfrm>
            <a:off x="680442" y="3654088"/>
            <a:ext cx="263366" cy="329208"/>
          </a:xfrm>
          <a:prstGeom prst="rect">
            <a:avLst/>
          </a:prstGeom>
          <a:noFill/>
        </p:spPr>
        <p:txBody>
          <a:bodyPr wrap="none" lIns="0" tIns="0" rIns="0" bIns="0" rtlCol="0" anchor="t"/>
          <a:lstStyle/>
          <a:p>
            <a:pPr marL="0" indent="0" algn="ctr">
              <a:lnSpc>
                <a:spcPts val="2050"/>
              </a:lnSpc>
              <a:buNone/>
            </a:pPr>
            <a:r>
              <a:rPr lang="en-US" sz="2050" dirty="0">
                <a:solidFill>
                  <a:srgbClr val="2B2E3C"/>
                </a:solidFill>
                <a:latin typeface="Bitter Medium" pitchFamily="34" charset="0"/>
                <a:ea typeface="Bitter Medium" pitchFamily="34" charset="-122"/>
                <a:cs typeface="Bitter Medium" pitchFamily="34" charset="-120"/>
              </a:rPr>
              <a:t>4</a:t>
            </a:r>
            <a:endParaRPr lang="en-US" sz="2050" dirty="0"/>
          </a:p>
        </p:txBody>
      </p:sp>
      <p:sp>
        <p:nvSpPr>
          <p:cNvPr id="14" name="Text 12"/>
          <p:cNvSpPr/>
          <p:nvPr/>
        </p:nvSpPr>
        <p:spPr>
          <a:xfrm>
            <a:off x="1185148" y="3681532"/>
            <a:ext cx="2195036" cy="274439"/>
          </a:xfrm>
          <a:prstGeom prst="rect">
            <a:avLst/>
          </a:prstGeom>
          <a:noFill/>
        </p:spPr>
        <p:txBody>
          <a:bodyPr wrap="none" lIns="0" tIns="0" rIns="0" bIns="0" rtlCol="0" anchor="t"/>
          <a:lstStyle/>
          <a:p>
            <a:pPr marL="0" indent="0" algn="l">
              <a:lnSpc>
                <a:spcPts val="2150"/>
              </a:lnSpc>
              <a:buNone/>
            </a:pPr>
            <a:r>
              <a:rPr lang="en-US" sz="1700" dirty="0">
                <a:solidFill>
                  <a:srgbClr val="2B2E3C"/>
                </a:solidFill>
                <a:latin typeface="Bitter Medium" pitchFamily="34" charset="0"/>
                <a:ea typeface="Bitter Medium" pitchFamily="34" charset="-122"/>
                <a:cs typeface="Bitter Medium" pitchFamily="34" charset="-120"/>
              </a:rPr>
              <a:t>Travel to Destination</a:t>
            </a:r>
            <a:endParaRPr lang="en-US" sz="1700" dirty="0"/>
          </a:p>
        </p:txBody>
      </p:sp>
      <p:sp>
        <p:nvSpPr>
          <p:cNvPr id="15" name="Shape 13"/>
          <p:cNvSpPr/>
          <p:nvPr/>
        </p:nvSpPr>
        <p:spPr>
          <a:xfrm>
            <a:off x="614601" y="4367332"/>
            <a:ext cx="395049" cy="395049"/>
          </a:xfrm>
          <a:prstGeom prst="roundRect">
            <a:avLst>
              <a:gd name="adj" fmla="val 18670"/>
            </a:avLst>
          </a:prstGeom>
          <a:solidFill>
            <a:srgbClr val="FCE2CF"/>
          </a:solidFill>
          <a:ln w="7620">
            <a:solidFill>
              <a:srgbClr val="E2C8B5"/>
            </a:solidFill>
            <a:prstDash val="solid"/>
          </a:ln>
        </p:spPr>
      </p:sp>
      <p:sp>
        <p:nvSpPr>
          <p:cNvPr id="16" name="Text 14"/>
          <p:cNvSpPr/>
          <p:nvPr/>
        </p:nvSpPr>
        <p:spPr>
          <a:xfrm>
            <a:off x="680442" y="4400252"/>
            <a:ext cx="263366" cy="329208"/>
          </a:xfrm>
          <a:prstGeom prst="rect">
            <a:avLst/>
          </a:prstGeom>
          <a:noFill/>
        </p:spPr>
        <p:txBody>
          <a:bodyPr wrap="none" lIns="0" tIns="0" rIns="0" bIns="0" rtlCol="0" anchor="t"/>
          <a:lstStyle/>
          <a:p>
            <a:pPr marL="0" indent="0" algn="ctr">
              <a:lnSpc>
                <a:spcPts val="2050"/>
              </a:lnSpc>
              <a:buNone/>
            </a:pPr>
            <a:r>
              <a:rPr lang="en-US" sz="2050" dirty="0">
                <a:solidFill>
                  <a:srgbClr val="2B2E3C"/>
                </a:solidFill>
                <a:latin typeface="Bitter Medium" pitchFamily="34" charset="0"/>
                <a:ea typeface="Bitter Medium" pitchFamily="34" charset="-122"/>
                <a:cs typeface="Bitter Medium" pitchFamily="34" charset="-120"/>
              </a:rPr>
              <a:t>5</a:t>
            </a:r>
            <a:endParaRPr lang="en-US" sz="2050" dirty="0"/>
          </a:p>
        </p:txBody>
      </p:sp>
      <p:sp>
        <p:nvSpPr>
          <p:cNvPr id="17" name="Text 15"/>
          <p:cNvSpPr/>
          <p:nvPr/>
        </p:nvSpPr>
        <p:spPr>
          <a:xfrm>
            <a:off x="1185148" y="4427696"/>
            <a:ext cx="2195036" cy="274439"/>
          </a:xfrm>
          <a:prstGeom prst="rect">
            <a:avLst/>
          </a:prstGeom>
          <a:noFill/>
        </p:spPr>
        <p:txBody>
          <a:bodyPr wrap="none" lIns="0" tIns="0" rIns="0" bIns="0" rtlCol="0" anchor="t"/>
          <a:lstStyle/>
          <a:p>
            <a:pPr marL="0" indent="0" algn="l">
              <a:lnSpc>
                <a:spcPts val="2150"/>
              </a:lnSpc>
              <a:buNone/>
            </a:pPr>
            <a:r>
              <a:rPr lang="en-US" sz="1700" dirty="0">
                <a:solidFill>
                  <a:srgbClr val="2B2E3C"/>
                </a:solidFill>
                <a:latin typeface="Bitter Medium" pitchFamily="34" charset="0"/>
                <a:ea typeface="Bitter Medium" pitchFamily="34" charset="-122"/>
                <a:cs typeface="Bitter Medium" pitchFamily="34" charset="-120"/>
              </a:rPr>
              <a:t>Block a Road</a:t>
            </a:r>
            <a:endParaRPr lang="en-US" sz="1700" dirty="0"/>
          </a:p>
        </p:txBody>
      </p:sp>
      <p:sp>
        <p:nvSpPr>
          <p:cNvPr id="18" name="Shape 16"/>
          <p:cNvSpPr/>
          <p:nvPr/>
        </p:nvSpPr>
        <p:spPr>
          <a:xfrm>
            <a:off x="614601" y="5113496"/>
            <a:ext cx="395049" cy="395049"/>
          </a:xfrm>
          <a:prstGeom prst="roundRect">
            <a:avLst>
              <a:gd name="adj" fmla="val 18670"/>
            </a:avLst>
          </a:prstGeom>
          <a:solidFill>
            <a:srgbClr val="FCE2CF"/>
          </a:solidFill>
          <a:ln w="7620">
            <a:solidFill>
              <a:srgbClr val="E2C8B5"/>
            </a:solidFill>
            <a:prstDash val="solid"/>
          </a:ln>
        </p:spPr>
      </p:sp>
      <p:sp>
        <p:nvSpPr>
          <p:cNvPr id="19" name="Text 17"/>
          <p:cNvSpPr/>
          <p:nvPr/>
        </p:nvSpPr>
        <p:spPr>
          <a:xfrm>
            <a:off x="680442" y="5146417"/>
            <a:ext cx="263366" cy="329208"/>
          </a:xfrm>
          <a:prstGeom prst="rect">
            <a:avLst/>
          </a:prstGeom>
          <a:noFill/>
        </p:spPr>
        <p:txBody>
          <a:bodyPr wrap="none" lIns="0" tIns="0" rIns="0" bIns="0" rtlCol="0" anchor="t"/>
          <a:lstStyle/>
          <a:p>
            <a:pPr marL="0" indent="0" algn="ctr">
              <a:lnSpc>
                <a:spcPts val="2050"/>
              </a:lnSpc>
              <a:buNone/>
            </a:pPr>
            <a:r>
              <a:rPr lang="en-US" sz="2050" dirty="0">
                <a:solidFill>
                  <a:srgbClr val="2B2E3C"/>
                </a:solidFill>
                <a:latin typeface="Bitter Medium" pitchFamily="34" charset="0"/>
                <a:ea typeface="Bitter Medium" pitchFamily="34" charset="-122"/>
                <a:cs typeface="Bitter Medium" pitchFamily="34" charset="-120"/>
              </a:rPr>
              <a:t>6</a:t>
            </a:r>
            <a:endParaRPr lang="en-US" sz="2050" dirty="0"/>
          </a:p>
        </p:txBody>
      </p:sp>
      <p:sp>
        <p:nvSpPr>
          <p:cNvPr id="20" name="Text 18"/>
          <p:cNvSpPr/>
          <p:nvPr/>
        </p:nvSpPr>
        <p:spPr>
          <a:xfrm>
            <a:off x="1185148" y="5173861"/>
            <a:ext cx="2195036" cy="274439"/>
          </a:xfrm>
          <a:prstGeom prst="rect">
            <a:avLst/>
          </a:prstGeom>
          <a:noFill/>
        </p:spPr>
        <p:txBody>
          <a:bodyPr wrap="none" lIns="0" tIns="0" rIns="0" bIns="0" rtlCol="0" anchor="t"/>
          <a:lstStyle/>
          <a:p>
            <a:pPr marL="0" indent="0" algn="l">
              <a:lnSpc>
                <a:spcPts val="2150"/>
              </a:lnSpc>
              <a:buNone/>
            </a:pPr>
            <a:r>
              <a:rPr lang="en-US" sz="1700" dirty="0">
                <a:solidFill>
                  <a:srgbClr val="2B2E3C"/>
                </a:solidFill>
                <a:latin typeface="Bitter Medium" pitchFamily="34" charset="0"/>
                <a:ea typeface="Bitter Medium" pitchFamily="34" charset="-122"/>
                <a:cs typeface="Bitter Medium" pitchFamily="34" charset="-120"/>
              </a:rPr>
              <a:t>Unblock a Road</a:t>
            </a:r>
            <a:endParaRPr lang="en-US" sz="1700" dirty="0"/>
          </a:p>
        </p:txBody>
      </p:sp>
      <p:sp>
        <p:nvSpPr>
          <p:cNvPr id="21" name="Shape 19"/>
          <p:cNvSpPr/>
          <p:nvPr/>
        </p:nvSpPr>
        <p:spPr>
          <a:xfrm>
            <a:off x="614601" y="5859661"/>
            <a:ext cx="395049" cy="395049"/>
          </a:xfrm>
          <a:prstGeom prst="roundRect">
            <a:avLst>
              <a:gd name="adj" fmla="val 18670"/>
            </a:avLst>
          </a:prstGeom>
          <a:solidFill>
            <a:srgbClr val="FCE2CF"/>
          </a:solidFill>
          <a:ln w="7620">
            <a:solidFill>
              <a:srgbClr val="E2C8B5"/>
            </a:solidFill>
            <a:prstDash val="solid"/>
          </a:ln>
        </p:spPr>
      </p:sp>
      <p:sp>
        <p:nvSpPr>
          <p:cNvPr id="22" name="Text 20"/>
          <p:cNvSpPr/>
          <p:nvPr/>
        </p:nvSpPr>
        <p:spPr>
          <a:xfrm>
            <a:off x="680442" y="5892582"/>
            <a:ext cx="263366" cy="329208"/>
          </a:xfrm>
          <a:prstGeom prst="rect">
            <a:avLst/>
          </a:prstGeom>
          <a:noFill/>
        </p:spPr>
        <p:txBody>
          <a:bodyPr wrap="none" lIns="0" tIns="0" rIns="0" bIns="0" rtlCol="0" anchor="t"/>
          <a:lstStyle/>
          <a:p>
            <a:pPr marL="0" indent="0" algn="ctr">
              <a:lnSpc>
                <a:spcPts val="2050"/>
              </a:lnSpc>
              <a:buNone/>
            </a:pPr>
            <a:r>
              <a:rPr lang="en-US" sz="2050" dirty="0">
                <a:solidFill>
                  <a:srgbClr val="2B2E3C"/>
                </a:solidFill>
                <a:latin typeface="Bitter Medium" pitchFamily="34" charset="0"/>
                <a:ea typeface="Bitter Medium" pitchFamily="34" charset="-122"/>
                <a:cs typeface="Bitter Medium" pitchFamily="34" charset="-120"/>
              </a:rPr>
              <a:t>7</a:t>
            </a:r>
            <a:endParaRPr lang="en-US" sz="2050" dirty="0"/>
          </a:p>
        </p:txBody>
      </p:sp>
      <p:sp>
        <p:nvSpPr>
          <p:cNvPr id="23" name="Text 21"/>
          <p:cNvSpPr/>
          <p:nvPr/>
        </p:nvSpPr>
        <p:spPr>
          <a:xfrm>
            <a:off x="1185148" y="5920026"/>
            <a:ext cx="2195036" cy="274439"/>
          </a:xfrm>
          <a:prstGeom prst="rect">
            <a:avLst/>
          </a:prstGeom>
          <a:noFill/>
        </p:spPr>
        <p:txBody>
          <a:bodyPr wrap="none" lIns="0" tIns="0" rIns="0" bIns="0" rtlCol="0" anchor="t"/>
          <a:lstStyle/>
          <a:p>
            <a:pPr marL="0" indent="0" algn="l">
              <a:lnSpc>
                <a:spcPts val="2150"/>
              </a:lnSpc>
              <a:buNone/>
            </a:pPr>
            <a:r>
              <a:rPr lang="en-US" sz="1700" dirty="0">
                <a:solidFill>
                  <a:srgbClr val="2B2E3C"/>
                </a:solidFill>
                <a:latin typeface="Bitter Medium" pitchFamily="34" charset="0"/>
                <a:ea typeface="Bitter Medium" pitchFamily="34" charset="-122"/>
                <a:cs typeface="Bitter Medium" pitchFamily="34" charset="-120"/>
              </a:rPr>
              <a:t>BFS Traversal</a:t>
            </a:r>
            <a:endParaRPr lang="en-US" sz="1700" dirty="0"/>
          </a:p>
        </p:txBody>
      </p:sp>
      <p:sp>
        <p:nvSpPr>
          <p:cNvPr id="24" name="Shape 22"/>
          <p:cNvSpPr/>
          <p:nvPr/>
        </p:nvSpPr>
        <p:spPr>
          <a:xfrm>
            <a:off x="614601" y="6605826"/>
            <a:ext cx="395049" cy="395049"/>
          </a:xfrm>
          <a:prstGeom prst="roundRect">
            <a:avLst>
              <a:gd name="adj" fmla="val 18670"/>
            </a:avLst>
          </a:prstGeom>
          <a:solidFill>
            <a:srgbClr val="FCE2CF"/>
          </a:solidFill>
          <a:ln w="7620">
            <a:solidFill>
              <a:srgbClr val="E2C8B5"/>
            </a:solidFill>
            <a:prstDash val="solid"/>
          </a:ln>
        </p:spPr>
      </p:sp>
      <p:sp>
        <p:nvSpPr>
          <p:cNvPr id="25" name="Text 23"/>
          <p:cNvSpPr/>
          <p:nvPr/>
        </p:nvSpPr>
        <p:spPr>
          <a:xfrm>
            <a:off x="680442" y="6638746"/>
            <a:ext cx="263366" cy="329208"/>
          </a:xfrm>
          <a:prstGeom prst="rect">
            <a:avLst/>
          </a:prstGeom>
          <a:noFill/>
        </p:spPr>
        <p:txBody>
          <a:bodyPr wrap="none" lIns="0" tIns="0" rIns="0" bIns="0" rtlCol="0" anchor="t"/>
          <a:lstStyle/>
          <a:p>
            <a:pPr marL="0" indent="0" algn="ctr">
              <a:lnSpc>
                <a:spcPts val="2050"/>
              </a:lnSpc>
              <a:buNone/>
            </a:pPr>
            <a:r>
              <a:rPr lang="en-US" sz="2050" dirty="0">
                <a:solidFill>
                  <a:srgbClr val="2B2E3C"/>
                </a:solidFill>
                <a:latin typeface="Bitter Medium" pitchFamily="34" charset="0"/>
                <a:ea typeface="Bitter Medium" pitchFamily="34" charset="-122"/>
                <a:cs typeface="Bitter Medium" pitchFamily="34" charset="-120"/>
              </a:rPr>
              <a:t>8</a:t>
            </a:r>
            <a:endParaRPr lang="en-US" sz="2050" dirty="0"/>
          </a:p>
        </p:txBody>
      </p:sp>
      <p:sp>
        <p:nvSpPr>
          <p:cNvPr id="26" name="Text 24"/>
          <p:cNvSpPr/>
          <p:nvPr/>
        </p:nvSpPr>
        <p:spPr>
          <a:xfrm>
            <a:off x="1185148" y="6666190"/>
            <a:ext cx="2195036" cy="274439"/>
          </a:xfrm>
          <a:prstGeom prst="rect">
            <a:avLst/>
          </a:prstGeom>
          <a:noFill/>
        </p:spPr>
        <p:txBody>
          <a:bodyPr wrap="none" lIns="0" tIns="0" rIns="0" bIns="0" rtlCol="0" anchor="t"/>
          <a:lstStyle/>
          <a:p>
            <a:pPr marL="0" indent="0" algn="l">
              <a:lnSpc>
                <a:spcPts val="2150"/>
              </a:lnSpc>
              <a:buNone/>
            </a:pPr>
            <a:r>
              <a:rPr lang="en-US" sz="1700" dirty="0">
                <a:solidFill>
                  <a:srgbClr val="2B2E3C"/>
                </a:solidFill>
                <a:latin typeface="Bitter Medium" pitchFamily="34" charset="0"/>
                <a:ea typeface="Bitter Medium" pitchFamily="34" charset="-122"/>
                <a:cs typeface="Bitter Medium" pitchFamily="34" charset="-120"/>
              </a:rPr>
              <a:t>DFS Traversal</a:t>
            </a:r>
            <a:endParaRPr lang="en-US" sz="1700" dirty="0"/>
          </a:p>
        </p:txBody>
      </p:sp>
      <p:sp>
        <p:nvSpPr>
          <p:cNvPr id="27" name="Shape 25"/>
          <p:cNvSpPr/>
          <p:nvPr/>
        </p:nvSpPr>
        <p:spPr>
          <a:xfrm>
            <a:off x="614601" y="7351990"/>
            <a:ext cx="395049" cy="395049"/>
          </a:xfrm>
          <a:prstGeom prst="roundRect">
            <a:avLst>
              <a:gd name="adj" fmla="val 18670"/>
            </a:avLst>
          </a:prstGeom>
          <a:solidFill>
            <a:srgbClr val="FCE2CF"/>
          </a:solidFill>
          <a:ln w="7620">
            <a:solidFill>
              <a:srgbClr val="E2C8B5"/>
            </a:solidFill>
            <a:prstDash val="solid"/>
          </a:ln>
        </p:spPr>
      </p:sp>
      <p:sp>
        <p:nvSpPr>
          <p:cNvPr id="28" name="Text 26"/>
          <p:cNvSpPr/>
          <p:nvPr/>
        </p:nvSpPr>
        <p:spPr>
          <a:xfrm>
            <a:off x="680442" y="7384911"/>
            <a:ext cx="263366" cy="329208"/>
          </a:xfrm>
          <a:prstGeom prst="rect">
            <a:avLst/>
          </a:prstGeom>
          <a:noFill/>
        </p:spPr>
        <p:txBody>
          <a:bodyPr wrap="none" lIns="0" tIns="0" rIns="0" bIns="0" rtlCol="0" anchor="t"/>
          <a:lstStyle/>
          <a:p>
            <a:pPr marL="0" indent="0" algn="ctr">
              <a:lnSpc>
                <a:spcPts val="2050"/>
              </a:lnSpc>
              <a:buNone/>
            </a:pPr>
            <a:r>
              <a:rPr lang="en-US" sz="2050" dirty="0">
                <a:solidFill>
                  <a:srgbClr val="2B2E3C"/>
                </a:solidFill>
                <a:latin typeface="Bitter Medium" pitchFamily="34" charset="0"/>
                <a:ea typeface="Bitter Medium" pitchFamily="34" charset="-122"/>
                <a:cs typeface="Bitter Medium" pitchFamily="34" charset="-120"/>
              </a:rPr>
              <a:t>9</a:t>
            </a:r>
            <a:endParaRPr lang="en-US" sz="2050" dirty="0"/>
          </a:p>
        </p:txBody>
      </p:sp>
      <p:sp>
        <p:nvSpPr>
          <p:cNvPr id="29" name="Text 27"/>
          <p:cNvSpPr/>
          <p:nvPr/>
        </p:nvSpPr>
        <p:spPr>
          <a:xfrm>
            <a:off x="1185148" y="7412355"/>
            <a:ext cx="2195036" cy="274439"/>
          </a:xfrm>
          <a:prstGeom prst="rect">
            <a:avLst/>
          </a:prstGeom>
          <a:noFill/>
        </p:spPr>
        <p:txBody>
          <a:bodyPr wrap="none" lIns="0" tIns="0" rIns="0" bIns="0" rtlCol="0" anchor="t"/>
          <a:lstStyle/>
          <a:p>
            <a:pPr marL="0" indent="0" algn="l">
              <a:lnSpc>
                <a:spcPts val="2150"/>
              </a:lnSpc>
              <a:buNone/>
            </a:pPr>
            <a:r>
              <a:rPr lang="en-US" sz="1700" dirty="0">
                <a:solidFill>
                  <a:srgbClr val="2B2E3C"/>
                </a:solidFill>
                <a:latin typeface="Bitter Medium" pitchFamily="34" charset="0"/>
                <a:ea typeface="Bitter Medium" pitchFamily="34" charset="-122"/>
                <a:cs typeface="Bitter Medium" pitchFamily="34" charset="-120"/>
              </a:rPr>
              <a:t>Support Functions</a:t>
            </a:r>
            <a:endParaRPr lang="en-US" sz="1700" dirty="0"/>
          </a:p>
        </p:txBody>
      </p:sp>
      <p:pic>
        <p:nvPicPr>
          <p:cNvPr id="30" name="Picture 29"/>
          <p:cNvPicPr>
            <a:picLocks noChangeAspect="1"/>
          </p:cNvPicPr>
          <p:nvPr/>
        </p:nvPicPr>
        <p:blipFill>
          <a:blip r:embed="rId1"/>
          <a:stretch>
            <a:fillRect/>
          </a:stretch>
        </p:blipFill>
        <p:spPr>
          <a:xfrm>
            <a:off x="12125325" y="7747000"/>
            <a:ext cx="2505075" cy="4667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230035"/>
            <a:ext cx="7073622" cy="708779"/>
          </a:xfrm>
          <a:prstGeom prst="rect">
            <a:avLst/>
          </a:prstGeom>
          <a:noFill/>
        </p:spPr>
        <p:txBody>
          <a:bodyPr wrap="none" lIns="0" tIns="0" rIns="0" bIns="0" rtlCol="0" anchor="t"/>
          <a:lstStyle/>
          <a:p>
            <a:pPr marL="0" indent="0" algn="l">
              <a:lnSpc>
                <a:spcPts val="5550"/>
              </a:lnSpc>
              <a:buNone/>
            </a:pPr>
            <a:r>
              <a:rPr lang="en-US" sz="4450" dirty="0">
                <a:solidFill>
                  <a:srgbClr val="2C3F42"/>
                </a:solidFill>
                <a:latin typeface="Bitter Medium" pitchFamily="34" charset="0"/>
                <a:ea typeface="Bitter Medium" pitchFamily="34" charset="-122"/>
                <a:cs typeface="Bitter Medium" pitchFamily="34" charset="-120"/>
              </a:rPr>
              <a:t>Why Shortest Path Matters</a:t>
            </a:r>
            <a:endParaRPr lang="en-US" sz="4450" dirty="0"/>
          </a:p>
        </p:txBody>
      </p:sp>
      <p:pic>
        <p:nvPicPr>
          <p:cNvPr id="3"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3790" y="2392442"/>
            <a:ext cx="566976" cy="566976"/>
          </a:xfrm>
          <a:prstGeom prst="rect">
            <a:avLst/>
          </a:prstGeom>
        </p:spPr>
      </p:pic>
      <p:sp>
        <p:nvSpPr>
          <p:cNvPr id="4" name="Text 1"/>
          <p:cNvSpPr/>
          <p:nvPr/>
        </p:nvSpPr>
        <p:spPr>
          <a:xfrm>
            <a:off x="1644253" y="2527102"/>
            <a:ext cx="2835235" cy="354330"/>
          </a:xfrm>
          <a:prstGeom prst="rect">
            <a:avLst/>
          </a:prstGeom>
          <a:noFill/>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Speed Saves Lives</a:t>
            </a:r>
            <a:endParaRPr lang="en-US" sz="2200" dirty="0"/>
          </a:p>
        </p:txBody>
      </p:sp>
      <p:sp>
        <p:nvSpPr>
          <p:cNvPr id="5" name="Text 2"/>
          <p:cNvSpPr/>
          <p:nvPr/>
        </p:nvSpPr>
        <p:spPr>
          <a:xfrm>
            <a:off x="1644253" y="3017520"/>
            <a:ext cx="5529143" cy="1451610"/>
          </a:xfrm>
          <a:prstGeom prst="rect">
            <a:avLst/>
          </a:prstGeom>
          <a:noFill/>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In critical moments, every second counts. Finding the quickest route ensures rapid response, significantly increasing chances of survival for those in distress.</a:t>
            </a:r>
            <a:endParaRPr lang="en-US" sz="1750" dirty="0"/>
          </a:p>
        </p:txBody>
      </p:sp>
      <p:pic>
        <p:nvPicPr>
          <p:cNvPr id="6" name="Image 1" descr="preencoded.png"/>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a:off x="7456884" y="2392442"/>
            <a:ext cx="566976" cy="566976"/>
          </a:xfrm>
          <a:prstGeom prst="rect">
            <a:avLst/>
          </a:prstGeom>
        </p:spPr>
      </p:pic>
      <p:sp>
        <p:nvSpPr>
          <p:cNvPr id="7" name="Text 3"/>
          <p:cNvSpPr/>
          <p:nvPr/>
        </p:nvSpPr>
        <p:spPr>
          <a:xfrm>
            <a:off x="8307348" y="2527102"/>
            <a:ext cx="2960965" cy="354330"/>
          </a:xfrm>
          <a:prstGeom prst="rect">
            <a:avLst/>
          </a:prstGeom>
          <a:noFill/>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Operational Efficiency</a:t>
            </a:r>
            <a:endParaRPr lang="en-US" sz="2200" dirty="0"/>
          </a:p>
        </p:txBody>
      </p:sp>
      <p:sp>
        <p:nvSpPr>
          <p:cNvPr id="8" name="Text 4"/>
          <p:cNvSpPr/>
          <p:nvPr/>
        </p:nvSpPr>
        <p:spPr>
          <a:xfrm>
            <a:off x="8307348" y="3017520"/>
            <a:ext cx="5529263" cy="1088708"/>
          </a:xfrm>
          <a:prstGeom prst="rect">
            <a:avLst/>
          </a:prstGeom>
          <a:noFill/>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Optimized routes minimize travel time, reduce fuel consumption, and lessen wear and tear on vehicles, leading to more efficient emergency operations.</a:t>
            </a:r>
            <a:endParaRPr lang="en-US" sz="1750" dirty="0"/>
          </a:p>
        </p:txBody>
      </p:sp>
      <p:pic>
        <p:nvPicPr>
          <p:cNvPr id="9" name="Image 2" descr="preencoded.png"/>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793790" y="4922758"/>
            <a:ext cx="566976" cy="566976"/>
          </a:xfrm>
          <a:prstGeom prst="rect">
            <a:avLst/>
          </a:prstGeom>
        </p:spPr>
      </p:pic>
      <p:sp>
        <p:nvSpPr>
          <p:cNvPr id="10" name="Text 5"/>
          <p:cNvSpPr/>
          <p:nvPr/>
        </p:nvSpPr>
        <p:spPr>
          <a:xfrm>
            <a:off x="1644253" y="5057418"/>
            <a:ext cx="3039189" cy="354330"/>
          </a:xfrm>
          <a:prstGeom prst="rect">
            <a:avLst/>
          </a:prstGeom>
          <a:noFill/>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Resource Optimization</a:t>
            </a:r>
            <a:endParaRPr lang="en-US" sz="2200" dirty="0"/>
          </a:p>
        </p:txBody>
      </p:sp>
      <p:sp>
        <p:nvSpPr>
          <p:cNvPr id="11" name="Text 6"/>
          <p:cNvSpPr/>
          <p:nvPr/>
        </p:nvSpPr>
        <p:spPr>
          <a:xfrm>
            <a:off x="1644253" y="5547836"/>
            <a:ext cx="5529143" cy="1451610"/>
          </a:xfrm>
          <a:prstGeom prst="rect">
            <a:avLst/>
          </a:prstGeom>
          <a:noFill/>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Efficient routing allows for better allocation of limited resources like ambulances, fire trucks, and personnel, ensuring they reach more incidents faster.</a:t>
            </a:r>
            <a:endParaRPr lang="en-US" sz="1750" dirty="0"/>
          </a:p>
        </p:txBody>
      </p:sp>
      <p:pic>
        <p:nvPicPr>
          <p:cNvPr id="12" name="Image 3" descr="preencoded.png"/>
          <p:cNvPicPr>
            <a:picLocks noChangeAspect="1"/>
          </p:cNvPicPr>
          <p:nvPr/>
        </p:nvPicPr>
        <p:blipFill>
          <a:blip r:embed="rId1">
            <a:extLst>
              <a:ext uri="{96DAC541-7B7A-43D3-8B79-37D633B846F1}">
                <asvg:svgBlip xmlns:asvg="http://schemas.microsoft.com/office/drawing/2016/SVG/main" r:embed="rId5"/>
              </a:ext>
            </a:extLst>
          </a:blip>
          <a:stretch>
            <a:fillRect/>
          </a:stretch>
        </p:blipFill>
        <p:spPr>
          <a:xfrm>
            <a:off x="7456884" y="4922758"/>
            <a:ext cx="566976" cy="566976"/>
          </a:xfrm>
          <a:prstGeom prst="rect">
            <a:avLst/>
          </a:prstGeom>
        </p:spPr>
      </p:pic>
      <p:sp>
        <p:nvSpPr>
          <p:cNvPr id="13" name="Text 7"/>
          <p:cNvSpPr/>
          <p:nvPr/>
        </p:nvSpPr>
        <p:spPr>
          <a:xfrm>
            <a:off x="8307348" y="5057418"/>
            <a:ext cx="3195042" cy="354330"/>
          </a:xfrm>
          <a:prstGeom prst="rect">
            <a:avLst/>
          </a:prstGeom>
          <a:noFill/>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Real-world Applications</a:t>
            </a:r>
            <a:endParaRPr lang="en-US" sz="2200" dirty="0"/>
          </a:p>
        </p:txBody>
      </p:sp>
      <p:sp>
        <p:nvSpPr>
          <p:cNvPr id="14" name="Text 8"/>
          <p:cNvSpPr/>
          <p:nvPr/>
        </p:nvSpPr>
        <p:spPr>
          <a:xfrm>
            <a:off x="8307348" y="5547836"/>
            <a:ext cx="5529263" cy="1451610"/>
          </a:xfrm>
          <a:prstGeom prst="rect">
            <a:avLst/>
          </a:prstGeom>
          <a:noFill/>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From navigating congested urban areas to coordinating disaster relief efforts, shortest path algorithms are vital for effective emergency management and evacuation strategies.</a:t>
            </a:r>
            <a:endParaRPr lang="en-US" sz="1750" dirty="0"/>
          </a:p>
        </p:txBody>
      </p:sp>
      <p:pic>
        <p:nvPicPr>
          <p:cNvPr id="15" name="Picture 14"/>
          <p:cNvPicPr>
            <a:picLocks noChangeAspect="1"/>
          </p:cNvPicPr>
          <p:nvPr/>
        </p:nvPicPr>
        <p:blipFill>
          <a:blip r:embed="rId6"/>
          <a:stretch>
            <a:fillRect/>
          </a:stretch>
        </p:blipFill>
        <p:spPr>
          <a:xfrm>
            <a:off x="12125325" y="7670800"/>
            <a:ext cx="2505075" cy="4667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21137" y="541972"/>
            <a:ext cx="6210776" cy="465296"/>
          </a:xfrm>
          <a:prstGeom prst="rect">
            <a:avLst/>
          </a:prstGeom>
          <a:noFill/>
        </p:spPr>
        <p:txBody>
          <a:bodyPr wrap="none" lIns="0" tIns="0" rIns="0" bIns="0" rtlCol="0" anchor="t"/>
          <a:lstStyle/>
          <a:p>
            <a:pPr marL="0" indent="0" algn="l">
              <a:lnSpc>
                <a:spcPts val="3650"/>
              </a:lnSpc>
              <a:buNone/>
            </a:pPr>
            <a:r>
              <a:rPr lang="en-US" sz="2900" dirty="0">
                <a:solidFill>
                  <a:srgbClr val="2C3F42"/>
                </a:solidFill>
                <a:latin typeface="Bitter Medium" pitchFamily="34" charset="0"/>
                <a:ea typeface="Bitter Medium" pitchFamily="34" charset="-122"/>
                <a:cs typeface="Bitter Medium" pitchFamily="34" charset="-120"/>
              </a:rPr>
              <a:t>Understanding C++ Includes - Part 1</a:t>
            </a:r>
            <a:endParaRPr lang="en-US" sz="2900" dirty="0"/>
          </a:p>
        </p:txBody>
      </p:sp>
      <p:sp>
        <p:nvSpPr>
          <p:cNvPr id="3" name="Text 1"/>
          <p:cNvSpPr/>
          <p:nvPr/>
        </p:nvSpPr>
        <p:spPr>
          <a:xfrm>
            <a:off x="521137" y="1305044"/>
            <a:ext cx="13588127" cy="238244"/>
          </a:xfrm>
          <a:prstGeom prst="rect">
            <a:avLst/>
          </a:prstGeom>
          <a:noFill/>
        </p:spPr>
        <p:txBody>
          <a:bodyPr wrap="none" lIns="0" tIns="0" rIns="0" bIns="0" rtlCol="0" anchor="t"/>
          <a:lstStyle/>
          <a:p>
            <a:pPr marL="0" indent="0" algn="l">
              <a:lnSpc>
                <a:spcPts val="1850"/>
              </a:lnSpc>
              <a:buNone/>
            </a:pPr>
            <a:r>
              <a:rPr lang="en-US" sz="1150" dirty="0">
                <a:solidFill>
                  <a:srgbClr val="2B2E3C"/>
                </a:solidFill>
                <a:latin typeface="Open Sans" pitchFamily="34" charset="0"/>
                <a:ea typeface="Open Sans" pitchFamily="34" charset="-122"/>
                <a:cs typeface="Open Sans" pitchFamily="34" charset="-120"/>
              </a:rPr>
              <a:t>To implement shortest path algorithms effectively, several standard C++ libraries are essential. Each provides specific functionalities that streamline development and ensure robust, efficient code.</a:t>
            </a:r>
            <a:endParaRPr lang="en-US" sz="1150" dirty="0"/>
          </a:p>
        </p:txBody>
      </p:sp>
      <p:sp>
        <p:nvSpPr>
          <p:cNvPr id="4" name="Shape 2"/>
          <p:cNvSpPr/>
          <p:nvPr/>
        </p:nvSpPr>
        <p:spPr>
          <a:xfrm>
            <a:off x="521137" y="1710809"/>
            <a:ext cx="13588127" cy="1796296"/>
          </a:xfrm>
          <a:prstGeom prst="roundRect">
            <a:avLst>
              <a:gd name="adj" fmla="val 3482"/>
            </a:avLst>
          </a:prstGeom>
          <a:solidFill>
            <a:srgbClr val="FFF8F0"/>
          </a:solidFill>
          <a:ln w="15240">
            <a:solidFill>
              <a:srgbClr val="E2C8B5"/>
            </a:solidFill>
            <a:prstDash val="solid"/>
          </a:ln>
        </p:spPr>
      </p:sp>
      <p:sp>
        <p:nvSpPr>
          <p:cNvPr id="5" name="Shape 3"/>
          <p:cNvSpPr/>
          <p:nvPr/>
        </p:nvSpPr>
        <p:spPr>
          <a:xfrm>
            <a:off x="536377" y="1726049"/>
            <a:ext cx="595551" cy="1765816"/>
          </a:xfrm>
          <a:prstGeom prst="roundRect">
            <a:avLst>
              <a:gd name="adj" fmla="val 7431"/>
            </a:avLst>
          </a:prstGeom>
          <a:solidFill>
            <a:srgbClr val="FCE2CF"/>
          </a:solidFill>
        </p:spPr>
      </p:sp>
      <p:sp>
        <p:nvSpPr>
          <p:cNvPr id="6" name="Text 4"/>
          <p:cNvSpPr/>
          <p:nvPr/>
        </p:nvSpPr>
        <p:spPr>
          <a:xfrm>
            <a:off x="718661" y="2469356"/>
            <a:ext cx="223361" cy="279202"/>
          </a:xfrm>
          <a:prstGeom prst="rect">
            <a:avLst/>
          </a:prstGeom>
          <a:noFill/>
        </p:spPr>
        <p:txBody>
          <a:bodyPr wrap="none" lIns="0" tIns="0" rIns="0" bIns="0" rtlCol="0" anchor="t"/>
          <a:lstStyle/>
          <a:p>
            <a:pPr marL="0" indent="0" algn="l">
              <a:lnSpc>
                <a:spcPts val="1750"/>
              </a:lnSpc>
              <a:buNone/>
            </a:pPr>
            <a:r>
              <a:rPr lang="en-US" sz="1750" dirty="0">
                <a:solidFill>
                  <a:srgbClr val="2B2E3C"/>
                </a:solidFill>
                <a:latin typeface="Bitter Medium" pitchFamily="34" charset="0"/>
                <a:ea typeface="Bitter Medium" pitchFamily="34" charset="-122"/>
                <a:cs typeface="Bitter Medium" pitchFamily="34" charset="-120"/>
              </a:rPr>
              <a:t>1</a:t>
            </a:r>
            <a:endParaRPr lang="en-US" sz="1750" dirty="0"/>
          </a:p>
        </p:txBody>
      </p:sp>
      <p:sp>
        <p:nvSpPr>
          <p:cNvPr id="7" name="Text 5"/>
          <p:cNvSpPr/>
          <p:nvPr/>
        </p:nvSpPr>
        <p:spPr>
          <a:xfrm>
            <a:off x="1280755" y="1874877"/>
            <a:ext cx="1861304" cy="232529"/>
          </a:xfrm>
          <a:prstGeom prst="rect">
            <a:avLst/>
          </a:prstGeom>
          <a:noFill/>
        </p:spPr>
        <p:txBody>
          <a:bodyPr wrap="none" lIns="0" tIns="0" rIns="0" bIns="0" rtlCol="0" anchor="t"/>
          <a:lstStyle/>
          <a:p>
            <a:pPr marL="0" indent="0" algn="l">
              <a:lnSpc>
                <a:spcPts val="1800"/>
              </a:lnSpc>
              <a:buNone/>
            </a:pPr>
            <a:r>
              <a:rPr lang="en-US" sz="1450" dirty="0">
                <a:solidFill>
                  <a:srgbClr val="2B2E3C"/>
                </a:solidFill>
                <a:latin typeface="Bitter Medium" pitchFamily="34" charset="0"/>
                <a:ea typeface="Bitter Medium" pitchFamily="34" charset="-122"/>
                <a:cs typeface="Bitter Medium" pitchFamily="34" charset="-120"/>
              </a:rPr>
              <a:t>#include &lt;iostream&gt;</a:t>
            </a:r>
            <a:endParaRPr lang="en-US" sz="1450" dirty="0"/>
          </a:p>
        </p:txBody>
      </p:sp>
      <p:sp>
        <p:nvSpPr>
          <p:cNvPr id="8" name="Text 6"/>
          <p:cNvSpPr/>
          <p:nvPr/>
        </p:nvSpPr>
        <p:spPr>
          <a:xfrm>
            <a:off x="1280755" y="2196703"/>
            <a:ext cx="12664440" cy="238244"/>
          </a:xfrm>
          <a:prstGeom prst="rect">
            <a:avLst/>
          </a:prstGeom>
          <a:noFill/>
        </p:spPr>
        <p:txBody>
          <a:bodyPr wrap="none" lIns="0" tIns="0" rIns="0" bIns="0" rtlCol="0" anchor="t"/>
          <a:lstStyle/>
          <a:p>
            <a:pPr marL="0" indent="0" algn="l">
              <a:lnSpc>
                <a:spcPts val="1850"/>
              </a:lnSpc>
              <a:buNone/>
            </a:pPr>
            <a:r>
              <a:rPr lang="en-US" sz="1150" b="1" dirty="0">
                <a:solidFill>
                  <a:srgbClr val="2B2E3C"/>
                </a:solidFill>
                <a:latin typeface="Open Sans" pitchFamily="34" charset="0"/>
                <a:ea typeface="Open Sans" pitchFamily="34" charset="-122"/>
                <a:cs typeface="Open Sans" pitchFamily="34" charset="-120"/>
              </a:rPr>
              <a:t>Why we used it:</a:t>
            </a:r>
            <a:endParaRPr lang="en-US" sz="1150" dirty="0"/>
          </a:p>
        </p:txBody>
      </p:sp>
      <p:sp>
        <p:nvSpPr>
          <p:cNvPr id="9" name="Text 7"/>
          <p:cNvSpPr/>
          <p:nvPr/>
        </p:nvSpPr>
        <p:spPr>
          <a:xfrm>
            <a:off x="1280755" y="2524244"/>
            <a:ext cx="12664440" cy="238244"/>
          </a:xfrm>
          <a:prstGeom prst="rect">
            <a:avLst/>
          </a:prstGeom>
          <a:noFill/>
        </p:spPr>
        <p:txBody>
          <a:bodyPr wrap="none" lIns="0" tIns="0" rIns="0" bIns="0" rtlCol="0" anchor="t"/>
          <a:lstStyle/>
          <a:p>
            <a:pPr marL="0" indent="0" algn="l">
              <a:lnSpc>
                <a:spcPts val="1850"/>
              </a:lnSpc>
              <a:buSzPct val="100000"/>
              <a:buNone/>
            </a:pPr>
            <a:r>
              <a:rPr lang="en-US" sz="1150" dirty="0">
                <a:solidFill>
                  <a:srgbClr val="2B2E3C"/>
                </a:solidFill>
                <a:latin typeface="Open Sans" pitchFamily="34" charset="0"/>
                <a:ea typeface="Open Sans" pitchFamily="34" charset="-122"/>
                <a:cs typeface="Open Sans" pitchFamily="34" charset="-120"/>
              </a:rPr>
              <a:t>Facilitates standard input operations (e.g., </a:t>
            </a:r>
            <a:r>
              <a:rPr lang="en-US" sz="1150" dirty="0">
                <a:solidFill>
                  <a:srgbClr val="2B2E3C"/>
                </a:solidFill>
                <a:highlight>
                  <a:srgbClr val="F2EBE3"/>
                </a:highlight>
                <a:latin typeface="Consolas" pitchFamily="34" charset="0"/>
                <a:ea typeface="Consolas" pitchFamily="34" charset="-122"/>
                <a:cs typeface="Consolas" pitchFamily="34" charset="-120"/>
              </a:rPr>
              <a:t>cin</a:t>
            </a:r>
            <a:r>
              <a:rPr lang="en-US" sz="1150" dirty="0">
                <a:solidFill>
                  <a:srgbClr val="2B2E3C"/>
                </a:solidFill>
                <a:latin typeface="Open Sans" pitchFamily="34" charset="0"/>
                <a:ea typeface="Open Sans" pitchFamily="34" charset="-122"/>
                <a:cs typeface="Open Sans" pitchFamily="34" charset="-120"/>
              </a:rPr>
              <a:t> for user input).</a:t>
            </a:r>
            <a:endParaRPr lang="en-US" sz="1150" dirty="0"/>
          </a:p>
        </p:txBody>
      </p:sp>
      <p:sp>
        <p:nvSpPr>
          <p:cNvPr id="10" name="Text 8"/>
          <p:cNvSpPr/>
          <p:nvPr/>
        </p:nvSpPr>
        <p:spPr>
          <a:xfrm>
            <a:off x="1280755" y="2814518"/>
            <a:ext cx="12664440" cy="238244"/>
          </a:xfrm>
          <a:prstGeom prst="rect">
            <a:avLst/>
          </a:prstGeom>
          <a:noFill/>
        </p:spPr>
        <p:txBody>
          <a:bodyPr wrap="none" lIns="0" tIns="0" rIns="0" bIns="0" rtlCol="0" anchor="t"/>
          <a:lstStyle/>
          <a:p>
            <a:pPr marL="0" indent="0" algn="l">
              <a:lnSpc>
                <a:spcPts val="1850"/>
              </a:lnSpc>
              <a:buSzPct val="100000"/>
              <a:buNone/>
            </a:pPr>
            <a:r>
              <a:rPr lang="en-US" sz="1150" dirty="0">
                <a:solidFill>
                  <a:srgbClr val="2B2E3C"/>
                </a:solidFill>
                <a:latin typeface="Open Sans" pitchFamily="34" charset="0"/>
                <a:ea typeface="Open Sans" pitchFamily="34" charset="-122"/>
                <a:cs typeface="Open Sans" pitchFamily="34" charset="-120"/>
              </a:rPr>
              <a:t>Enables standard output operations (e.g., </a:t>
            </a:r>
            <a:r>
              <a:rPr lang="en-US" sz="1150" dirty="0">
                <a:solidFill>
                  <a:srgbClr val="2B2E3C"/>
                </a:solidFill>
                <a:highlight>
                  <a:srgbClr val="F2EBE3"/>
                </a:highlight>
                <a:latin typeface="Consolas" pitchFamily="34" charset="0"/>
                <a:ea typeface="Consolas" pitchFamily="34" charset="-122"/>
                <a:cs typeface="Consolas" pitchFamily="34" charset="-120"/>
              </a:rPr>
              <a:t>cout</a:t>
            </a:r>
            <a:r>
              <a:rPr lang="en-US" sz="1150" dirty="0">
                <a:solidFill>
                  <a:srgbClr val="2B2E3C"/>
                </a:solidFill>
                <a:latin typeface="Open Sans" pitchFamily="34" charset="0"/>
                <a:ea typeface="Open Sans" pitchFamily="34" charset="-122"/>
                <a:cs typeface="Open Sans" pitchFamily="34" charset="-120"/>
              </a:rPr>
              <a:t> for printing results to the console).</a:t>
            </a:r>
            <a:endParaRPr lang="en-US" sz="1150" dirty="0"/>
          </a:p>
        </p:txBody>
      </p:sp>
      <p:sp>
        <p:nvSpPr>
          <p:cNvPr id="11" name="Text 9"/>
          <p:cNvSpPr/>
          <p:nvPr/>
        </p:nvSpPr>
        <p:spPr>
          <a:xfrm>
            <a:off x="1280755" y="3104793"/>
            <a:ext cx="12664440" cy="238244"/>
          </a:xfrm>
          <a:prstGeom prst="rect">
            <a:avLst/>
          </a:prstGeom>
          <a:noFill/>
        </p:spPr>
        <p:txBody>
          <a:bodyPr wrap="none" lIns="0" tIns="0" rIns="0" bIns="0" rtlCol="0" anchor="t"/>
          <a:lstStyle/>
          <a:p>
            <a:pPr marL="342900" indent="-342900" algn="l">
              <a:lnSpc>
                <a:spcPts val="1850"/>
              </a:lnSpc>
              <a:buSzPct val="100000"/>
              <a:buChar char="•"/>
            </a:pPr>
            <a:r>
              <a:rPr lang="en-US" sz="1150" dirty="0">
                <a:solidFill>
                  <a:srgbClr val="2B2E3C"/>
                </a:solidFill>
                <a:latin typeface="Open Sans" pitchFamily="34" charset="0"/>
                <a:ea typeface="Open Sans" pitchFamily="34" charset="-122"/>
                <a:cs typeface="Open Sans" pitchFamily="34" charset="-120"/>
              </a:rPr>
              <a:t>Allows displaying intermediate values and final shortest path results.</a:t>
            </a:r>
            <a:endParaRPr lang="en-US" sz="1150" dirty="0"/>
          </a:p>
        </p:txBody>
      </p:sp>
      <p:sp>
        <p:nvSpPr>
          <p:cNvPr id="12" name="Shape 10"/>
          <p:cNvSpPr/>
          <p:nvPr/>
        </p:nvSpPr>
        <p:spPr>
          <a:xfrm>
            <a:off x="521137" y="3655933"/>
            <a:ext cx="13588127" cy="2086570"/>
          </a:xfrm>
          <a:prstGeom prst="roundRect">
            <a:avLst>
              <a:gd name="adj" fmla="val 2997"/>
            </a:avLst>
          </a:prstGeom>
          <a:solidFill>
            <a:srgbClr val="FFF8F0"/>
          </a:solidFill>
          <a:ln w="15240">
            <a:solidFill>
              <a:srgbClr val="E2C8B5"/>
            </a:solidFill>
            <a:prstDash val="solid"/>
          </a:ln>
        </p:spPr>
      </p:sp>
      <p:sp>
        <p:nvSpPr>
          <p:cNvPr id="13" name="Shape 11"/>
          <p:cNvSpPr/>
          <p:nvPr/>
        </p:nvSpPr>
        <p:spPr>
          <a:xfrm>
            <a:off x="536377" y="3671173"/>
            <a:ext cx="595551" cy="2056090"/>
          </a:xfrm>
          <a:prstGeom prst="roundRect">
            <a:avLst>
              <a:gd name="adj" fmla="val 7431"/>
            </a:avLst>
          </a:prstGeom>
          <a:solidFill>
            <a:srgbClr val="FCE2CF"/>
          </a:solidFill>
        </p:spPr>
      </p:sp>
      <p:sp>
        <p:nvSpPr>
          <p:cNvPr id="14" name="Text 12"/>
          <p:cNvSpPr/>
          <p:nvPr/>
        </p:nvSpPr>
        <p:spPr>
          <a:xfrm>
            <a:off x="718661" y="4559618"/>
            <a:ext cx="223361" cy="279202"/>
          </a:xfrm>
          <a:prstGeom prst="rect">
            <a:avLst/>
          </a:prstGeom>
          <a:noFill/>
        </p:spPr>
        <p:txBody>
          <a:bodyPr wrap="none" lIns="0" tIns="0" rIns="0" bIns="0" rtlCol="0" anchor="t"/>
          <a:lstStyle/>
          <a:p>
            <a:pPr marL="0" indent="0" algn="l">
              <a:lnSpc>
                <a:spcPts val="1750"/>
              </a:lnSpc>
              <a:buNone/>
            </a:pPr>
            <a:r>
              <a:rPr lang="en-US" sz="1750" dirty="0">
                <a:solidFill>
                  <a:srgbClr val="2B2E3C"/>
                </a:solidFill>
                <a:latin typeface="Bitter Medium" pitchFamily="34" charset="0"/>
                <a:ea typeface="Bitter Medium" pitchFamily="34" charset="-122"/>
                <a:cs typeface="Bitter Medium" pitchFamily="34" charset="-120"/>
              </a:rPr>
              <a:t>2</a:t>
            </a:r>
            <a:endParaRPr lang="en-US" sz="1750" dirty="0"/>
          </a:p>
        </p:txBody>
      </p:sp>
      <p:sp>
        <p:nvSpPr>
          <p:cNvPr id="15" name="Text 13"/>
          <p:cNvSpPr/>
          <p:nvPr/>
        </p:nvSpPr>
        <p:spPr>
          <a:xfrm>
            <a:off x="1280755" y="3820001"/>
            <a:ext cx="1861304" cy="232529"/>
          </a:xfrm>
          <a:prstGeom prst="rect">
            <a:avLst/>
          </a:prstGeom>
          <a:noFill/>
        </p:spPr>
        <p:txBody>
          <a:bodyPr wrap="none" lIns="0" tIns="0" rIns="0" bIns="0" rtlCol="0" anchor="t"/>
          <a:lstStyle/>
          <a:p>
            <a:pPr marL="0" indent="0" algn="l">
              <a:lnSpc>
                <a:spcPts val="1800"/>
              </a:lnSpc>
              <a:buNone/>
            </a:pPr>
            <a:r>
              <a:rPr lang="en-US" sz="1450" dirty="0">
                <a:solidFill>
                  <a:srgbClr val="2B2E3C"/>
                </a:solidFill>
                <a:latin typeface="Bitter Medium" pitchFamily="34" charset="0"/>
                <a:ea typeface="Bitter Medium" pitchFamily="34" charset="-122"/>
                <a:cs typeface="Bitter Medium" pitchFamily="34" charset="-120"/>
              </a:rPr>
              <a:t>#include &lt;vector&gt;</a:t>
            </a:r>
            <a:endParaRPr lang="en-US" sz="1450" dirty="0"/>
          </a:p>
        </p:txBody>
      </p:sp>
      <p:sp>
        <p:nvSpPr>
          <p:cNvPr id="16" name="Text 14"/>
          <p:cNvSpPr/>
          <p:nvPr/>
        </p:nvSpPr>
        <p:spPr>
          <a:xfrm>
            <a:off x="1280755" y="4141827"/>
            <a:ext cx="12664440" cy="238244"/>
          </a:xfrm>
          <a:prstGeom prst="rect">
            <a:avLst/>
          </a:prstGeom>
          <a:noFill/>
        </p:spPr>
        <p:txBody>
          <a:bodyPr wrap="none" lIns="0" tIns="0" rIns="0" bIns="0" rtlCol="0" anchor="t"/>
          <a:lstStyle/>
          <a:p>
            <a:pPr marL="0" indent="0" algn="l">
              <a:lnSpc>
                <a:spcPts val="1850"/>
              </a:lnSpc>
              <a:buNone/>
            </a:pPr>
            <a:r>
              <a:rPr lang="en-US" sz="1150" b="1" dirty="0">
                <a:solidFill>
                  <a:srgbClr val="2B2E3C"/>
                </a:solidFill>
                <a:latin typeface="Open Sans" pitchFamily="34" charset="0"/>
                <a:ea typeface="Open Sans" pitchFamily="34" charset="-122"/>
                <a:cs typeface="Open Sans" pitchFamily="34" charset="-120"/>
              </a:rPr>
              <a:t>Why we used it:</a:t>
            </a:r>
            <a:endParaRPr lang="en-US" sz="1150" dirty="0"/>
          </a:p>
        </p:txBody>
      </p:sp>
      <p:sp>
        <p:nvSpPr>
          <p:cNvPr id="17" name="Text 15"/>
          <p:cNvSpPr/>
          <p:nvPr/>
        </p:nvSpPr>
        <p:spPr>
          <a:xfrm>
            <a:off x="1280755" y="4469368"/>
            <a:ext cx="12664440" cy="238244"/>
          </a:xfrm>
          <a:prstGeom prst="rect">
            <a:avLst/>
          </a:prstGeom>
          <a:noFill/>
        </p:spPr>
        <p:txBody>
          <a:bodyPr wrap="none" lIns="0" tIns="0" rIns="0" bIns="0" rtlCol="0" anchor="t"/>
          <a:lstStyle/>
          <a:p>
            <a:pPr marL="342900" indent="-342900" algn="l">
              <a:lnSpc>
                <a:spcPts val="1850"/>
              </a:lnSpc>
              <a:buSzPct val="100000"/>
              <a:buChar char="•"/>
            </a:pPr>
            <a:r>
              <a:rPr lang="en-US" sz="1150" dirty="0">
                <a:solidFill>
                  <a:srgbClr val="2B2E3C"/>
                </a:solidFill>
                <a:latin typeface="Open Sans" pitchFamily="34" charset="0"/>
                <a:ea typeface="Open Sans" pitchFamily="34" charset="-122"/>
                <a:cs typeface="Open Sans" pitchFamily="34" charset="-120"/>
              </a:rPr>
              <a:t>Used for dynamic data structures that can grow or shrink in size.</a:t>
            </a:r>
            <a:endParaRPr lang="en-US" sz="1150" dirty="0"/>
          </a:p>
        </p:txBody>
      </p:sp>
      <p:sp>
        <p:nvSpPr>
          <p:cNvPr id="18" name="Text 16"/>
          <p:cNvSpPr/>
          <p:nvPr/>
        </p:nvSpPr>
        <p:spPr>
          <a:xfrm>
            <a:off x="1280755" y="4759643"/>
            <a:ext cx="12664440" cy="238244"/>
          </a:xfrm>
          <a:prstGeom prst="rect">
            <a:avLst/>
          </a:prstGeom>
          <a:noFill/>
        </p:spPr>
        <p:txBody>
          <a:bodyPr wrap="none" lIns="0" tIns="0" rIns="0" bIns="0" rtlCol="0" anchor="t"/>
          <a:lstStyle/>
          <a:p>
            <a:pPr marL="0" indent="0" algn="l">
              <a:lnSpc>
                <a:spcPts val="1850"/>
              </a:lnSpc>
              <a:buSzPct val="100000"/>
              <a:buNone/>
            </a:pPr>
            <a:r>
              <a:rPr lang="en-US" sz="1150" dirty="0">
                <a:solidFill>
                  <a:srgbClr val="2B2E3C"/>
                </a:solidFill>
                <a:latin typeface="Open Sans" pitchFamily="34" charset="0"/>
                <a:ea typeface="Open Sans" pitchFamily="34" charset="-122"/>
                <a:cs typeface="Open Sans" pitchFamily="34" charset="-120"/>
              </a:rPr>
              <a:t>Crucial for representing the graph's adjacency list (e.g., </a:t>
            </a:r>
            <a:r>
              <a:rPr lang="en-US" sz="1150" dirty="0">
                <a:solidFill>
                  <a:srgbClr val="2B2E3C"/>
                </a:solidFill>
                <a:highlight>
                  <a:srgbClr val="F2EBE3"/>
                </a:highlight>
                <a:latin typeface="Consolas" pitchFamily="34" charset="0"/>
                <a:ea typeface="Consolas" pitchFamily="34" charset="-122"/>
                <a:cs typeface="Consolas" pitchFamily="34" charset="-120"/>
              </a:rPr>
              <a:t>vector&lt;vector&lt;pair&lt;int,int&gt;&gt;&gt; graph;</a:t>
            </a:r>
            <a:r>
              <a:rPr lang="en-US" sz="1150" dirty="0">
                <a:solidFill>
                  <a:srgbClr val="2B2E3C"/>
                </a:solidFill>
                <a:latin typeface="Open Sans" pitchFamily="34" charset="0"/>
                <a:ea typeface="Open Sans" pitchFamily="34" charset="-122"/>
                <a:cs typeface="Open Sans" pitchFamily="34" charset="-120"/>
              </a:rPr>
              <a:t>).</a:t>
            </a:r>
            <a:endParaRPr lang="en-US" sz="1150" dirty="0"/>
          </a:p>
        </p:txBody>
      </p:sp>
      <p:sp>
        <p:nvSpPr>
          <p:cNvPr id="19" name="Text 17"/>
          <p:cNvSpPr/>
          <p:nvPr/>
        </p:nvSpPr>
        <p:spPr>
          <a:xfrm>
            <a:off x="1280755" y="5049917"/>
            <a:ext cx="12664440" cy="238244"/>
          </a:xfrm>
          <a:prstGeom prst="rect">
            <a:avLst/>
          </a:prstGeom>
          <a:noFill/>
        </p:spPr>
        <p:txBody>
          <a:bodyPr wrap="none" lIns="0" tIns="0" rIns="0" bIns="0" rtlCol="0" anchor="t"/>
          <a:lstStyle/>
          <a:p>
            <a:pPr marL="342900" indent="-342900" algn="l">
              <a:lnSpc>
                <a:spcPts val="1850"/>
              </a:lnSpc>
              <a:buSzPct val="100000"/>
              <a:buChar char="•"/>
            </a:pPr>
            <a:r>
              <a:rPr lang="en-US" sz="1150" dirty="0">
                <a:solidFill>
                  <a:srgbClr val="2B2E3C"/>
                </a:solidFill>
                <a:latin typeface="Open Sans" pitchFamily="34" charset="0"/>
                <a:ea typeface="Open Sans" pitchFamily="34" charset="-122"/>
                <a:cs typeface="Open Sans" pitchFamily="34" charset="-120"/>
              </a:rPr>
              <a:t>Ideal for storing distance arrays, parent arrays (to reconstruct path), and visited arrays.</a:t>
            </a:r>
            <a:endParaRPr lang="en-US" sz="1150" dirty="0"/>
          </a:p>
        </p:txBody>
      </p:sp>
      <p:sp>
        <p:nvSpPr>
          <p:cNvPr id="20" name="Text 18"/>
          <p:cNvSpPr/>
          <p:nvPr/>
        </p:nvSpPr>
        <p:spPr>
          <a:xfrm>
            <a:off x="1280755" y="5340191"/>
            <a:ext cx="12664440" cy="238244"/>
          </a:xfrm>
          <a:prstGeom prst="rect">
            <a:avLst/>
          </a:prstGeom>
          <a:noFill/>
        </p:spPr>
        <p:txBody>
          <a:bodyPr wrap="none" lIns="0" tIns="0" rIns="0" bIns="0" rtlCol="0" anchor="t"/>
          <a:lstStyle/>
          <a:p>
            <a:pPr marL="342900" indent="-342900" algn="l">
              <a:lnSpc>
                <a:spcPts val="1850"/>
              </a:lnSpc>
              <a:buSzPct val="100000"/>
              <a:buChar char="•"/>
            </a:pPr>
            <a:r>
              <a:rPr lang="en-US" sz="1150" dirty="0">
                <a:solidFill>
                  <a:srgbClr val="2B2E3C"/>
                </a:solidFill>
                <a:latin typeface="Open Sans" pitchFamily="34" charset="0"/>
                <a:ea typeface="Open Sans" pitchFamily="34" charset="-122"/>
                <a:cs typeface="Open Sans" pitchFamily="34" charset="-120"/>
              </a:rPr>
              <a:t>Offers greater flexibility and easier memory management compared to static C-style arrays.</a:t>
            </a:r>
            <a:endParaRPr lang="en-US" sz="1150" dirty="0"/>
          </a:p>
        </p:txBody>
      </p:sp>
      <p:sp>
        <p:nvSpPr>
          <p:cNvPr id="21" name="Shape 19"/>
          <p:cNvSpPr/>
          <p:nvPr/>
        </p:nvSpPr>
        <p:spPr>
          <a:xfrm>
            <a:off x="521137" y="5891332"/>
            <a:ext cx="13588127" cy="1796296"/>
          </a:xfrm>
          <a:prstGeom prst="roundRect">
            <a:avLst>
              <a:gd name="adj" fmla="val 3482"/>
            </a:avLst>
          </a:prstGeom>
          <a:solidFill>
            <a:srgbClr val="FFF8F0"/>
          </a:solidFill>
          <a:ln w="15240">
            <a:solidFill>
              <a:srgbClr val="E2C8B5"/>
            </a:solidFill>
            <a:prstDash val="solid"/>
          </a:ln>
        </p:spPr>
      </p:sp>
      <p:sp>
        <p:nvSpPr>
          <p:cNvPr id="22" name="Shape 20"/>
          <p:cNvSpPr/>
          <p:nvPr/>
        </p:nvSpPr>
        <p:spPr>
          <a:xfrm>
            <a:off x="536377" y="5906572"/>
            <a:ext cx="595551" cy="1765816"/>
          </a:xfrm>
          <a:prstGeom prst="roundRect">
            <a:avLst>
              <a:gd name="adj" fmla="val 7431"/>
            </a:avLst>
          </a:prstGeom>
          <a:solidFill>
            <a:srgbClr val="FCE2CF"/>
          </a:solidFill>
        </p:spPr>
      </p:sp>
      <p:sp>
        <p:nvSpPr>
          <p:cNvPr id="23" name="Text 21"/>
          <p:cNvSpPr/>
          <p:nvPr/>
        </p:nvSpPr>
        <p:spPr>
          <a:xfrm>
            <a:off x="718661" y="6649879"/>
            <a:ext cx="223361" cy="279202"/>
          </a:xfrm>
          <a:prstGeom prst="rect">
            <a:avLst/>
          </a:prstGeom>
          <a:noFill/>
        </p:spPr>
        <p:txBody>
          <a:bodyPr wrap="none" lIns="0" tIns="0" rIns="0" bIns="0" rtlCol="0" anchor="t"/>
          <a:lstStyle/>
          <a:p>
            <a:pPr marL="0" indent="0" algn="l">
              <a:lnSpc>
                <a:spcPts val="1750"/>
              </a:lnSpc>
              <a:buNone/>
            </a:pPr>
            <a:r>
              <a:rPr lang="en-US" sz="1750" dirty="0">
                <a:solidFill>
                  <a:srgbClr val="2B2E3C"/>
                </a:solidFill>
                <a:latin typeface="Bitter Medium" pitchFamily="34" charset="0"/>
                <a:ea typeface="Bitter Medium" pitchFamily="34" charset="-122"/>
                <a:cs typeface="Bitter Medium" pitchFamily="34" charset="-120"/>
              </a:rPr>
              <a:t>3</a:t>
            </a:r>
            <a:endParaRPr lang="en-US" sz="1750" dirty="0"/>
          </a:p>
        </p:txBody>
      </p:sp>
      <p:sp>
        <p:nvSpPr>
          <p:cNvPr id="24" name="Text 22"/>
          <p:cNvSpPr/>
          <p:nvPr/>
        </p:nvSpPr>
        <p:spPr>
          <a:xfrm>
            <a:off x="1280755" y="6055400"/>
            <a:ext cx="1861304" cy="232529"/>
          </a:xfrm>
          <a:prstGeom prst="rect">
            <a:avLst/>
          </a:prstGeom>
          <a:noFill/>
        </p:spPr>
        <p:txBody>
          <a:bodyPr wrap="none" lIns="0" tIns="0" rIns="0" bIns="0" rtlCol="0" anchor="t"/>
          <a:lstStyle/>
          <a:p>
            <a:pPr marL="0" indent="0" algn="l">
              <a:lnSpc>
                <a:spcPts val="1800"/>
              </a:lnSpc>
              <a:buNone/>
            </a:pPr>
            <a:r>
              <a:rPr lang="en-US" sz="1450" dirty="0">
                <a:solidFill>
                  <a:srgbClr val="2B2E3C"/>
                </a:solidFill>
                <a:latin typeface="Bitter Medium" pitchFamily="34" charset="0"/>
                <a:ea typeface="Bitter Medium" pitchFamily="34" charset="-122"/>
                <a:cs typeface="Bitter Medium" pitchFamily="34" charset="-120"/>
              </a:rPr>
              <a:t>#include &lt;queue&gt;</a:t>
            </a:r>
            <a:endParaRPr lang="en-US" sz="1450" dirty="0"/>
          </a:p>
        </p:txBody>
      </p:sp>
      <p:sp>
        <p:nvSpPr>
          <p:cNvPr id="25" name="Text 23"/>
          <p:cNvSpPr/>
          <p:nvPr/>
        </p:nvSpPr>
        <p:spPr>
          <a:xfrm>
            <a:off x="1280755" y="6377226"/>
            <a:ext cx="12664440" cy="238244"/>
          </a:xfrm>
          <a:prstGeom prst="rect">
            <a:avLst/>
          </a:prstGeom>
          <a:noFill/>
        </p:spPr>
        <p:txBody>
          <a:bodyPr wrap="none" lIns="0" tIns="0" rIns="0" bIns="0" rtlCol="0" anchor="t"/>
          <a:lstStyle/>
          <a:p>
            <a:pPr marL="0" indent="0" algn="l">
              <a:lnSpc>
                <a:spcPts val="1850"/>
              </a:lnSpc>
              <a:buNone/>
            </a:pPr>
            <a:r>
              <a:rPr lang="en-US" sz="1150" b="1" dirty="0">
                <a:solidFill>
                  <a:srgbClr val="2B2E3C"/>
                </a:solidFill>
                <a:latin typeface="Open Sans" pitchFamily="34" charset="0"/>
                <a:ea typeface="Open Sans" pitchFamily="34" charset="-122"/>
                <a:cs typeface="Open Sans" pitchFamily="34" charset="-120"/>
              </a:rPr>
              <a:t>Why we used it:</a:t>
            </a:r>
            <a:endParaRPr lang="en-US" sz="1150" dirty="0"/>
          </a:p>
        </p:txBody>
      </p:sp>
      <p:sp>
        <p:nvSpPr>
          <p:cNvPr id="26" name="Text 24"/>
          <p:cNvSpPr/>
          <p:nvPr/>
        </p:nvSpPr>
        <p:spPr>
          <a:xfrm>
            <a:off x="1280755" y="6704767"/>
            <a:ext cx="12664440" cy="238244"/>
          </a:xfrm>
          <a:prstGeom prst="rect">
            <a:avLst/>
          </a:prstGeom>
          <a:noFill/>
        </p:spPr>
        <p:txBody>
          <a:bodyPr wrap="none" lIns="0" tIns="0" rIns="0" bIns="0" rtlCol="0" anchor="t"/>
          <a:lstStyle/>
          <a:p>
            <a:pPr marL="342900" indent="-342900" algn="l">
              <a:lnSpc>
                <a:spcPts val="1850"/>
              </a:lnSpc>
              <a:buSzPct val="100000"/>
              <a:buChar char="•"/>
            </a:pPr>
            <a:r>
              <a:rPr lang="en-US" sz="1150" dirty="0">
                <a:solidFill>
                  <a:srgbClr val="2B2E3C"/>
                </a:solidFill>
                <a:latin typeface="Open Sans" pitchFamily="34" charset="0"/>
                <a:ea typeface="Open Sans" pitchFamily="34" charset="-122"/>
                <a:cs typeface="Open Sans" pitchFamily="34" charset="-120"/>
              </a:rPr>
              <a:t>Implements the standard queue data structure, essential for Breadth-First Search (BFS).</a:t>
            </a:r>
            <a:endParaRPr lang="en-US" sz="1150" dirty="0"/>
          </a:p>
        </p:txBody>
      </p:sp>
      <p:sp>
        <p:nvSpPr>
          <p:cNvPr id="27" name="Text 25"/>
          <p:cNvSpPr/>
          <p:nvPr/>
        </p:nvSpPr>
        <p:spPr>
          <a:xfrm>
            <a:off x="1280755" y="6995041"/>
            <a:ext cx="12664440" cy="238244"/>
          </a:xfrm>
          <a:prstGeom prst="rect">
            <a:avLst/>
          </a:prstGeom>
          <a:noFill/>
        </p:spPr>
        <p:txBody>
          <a:bodyPr wrap="none" lIns="0" tIns="0" rIns="0" bIns="0" rtlCol="0" anchor="t"/>
          <a:lstStyle/>
          <a:p>
            <a:pPr marL="0" indent="0" algn="l">
              <a:lnSpc>
                <a:spcPts val="1850"/>
              </a:lnSpc>
              <a:buSzPct val="100000"/>
              <a:buNone/>
            </a:pPr>
            <a:r>
              <a:rPr lang="en-US" sz="1150" dirty="0">
                <a:solidFill>
                  <a:srgbClr val="2B2E3C"/>
                </a:solidFill>
                <a:latin typeface="Open Sans" pitchFamily="34" charset="0"/>
                <a:ea typeface="Open Sans" pitchFamily="34" charset="-122"/>
                <a:cs typeface="Open Sans" pitchFamily="34" charset="-120"/>
              </a:rPr>
              <a:t>Used for priority queues (</a:t>
            </a:r>
            <a:r>
              <a:rPr lang="en-US" sz="1150" dirty="0">
                <a:solidFill>
                  <a:srgbClr val="2B2E3C"/>
                </a:solidFill>
                <a:highlight>
                  <a:srgbClr val="F2EBE3"/>
                </a:highlight>
                <a:latin typeface="Consolas" pitchFamily="34" charset="0"/>
                <a:ea typeface="Consolas" pitchFamily="34" charset="-122"/>
                <a:cs typeface="Consolas" pitchFamily="34" charset="-120"/>
              </a:rPr>
              <a:t>priority_queue</a:t>
            </a:r>
            <a:r>
              <a:rPr lang="en-US" sz="1150" dirty="0">
                <a:solidFill>
                  <a:srgbClr val="2B2E3C"/>
                </a:solidFill>
                <a:latin typeface="Open Sans" pitchFamily="34" charset="0"/>
                <a:ea typeface="Open Sans" pitchFamily="34" charset="-122"/>
                <a:cs typeface="Open Sans" pitchFamily="34" charset="-120"/>
              </a:rPr>
              <a:t>), fundamental for Dijkstra's algorithm to efficiently retrieve the node with the minimum distance.</a:t>
            </a:r>
            <a:endParaRPr lang="en-US" sz="1150" dirty="0"/>
          </a:p>
        </p:txBody>
      </p:sp>
      <p:sp>
        <p:nvSpPr>
          <p:cNvPr id="28" name="Text 26"/>
          <p:cNvSpPr/>
          <p:nvPr/>
        </p:nvSpPr>
        <p:spPr>
          <a:xfrm>
            <a:off x="1280755" y="7285315"/>
            <a:ext cx="12664440" cy="238244"/>
          </a:xfrm>
          <a:prstGeom prst="rect">
            <a:avLst/>
          </a:prstGeom>
          <a:noFill/>
        </p:spPr>
        <p:txBody>
          <a:bodyPr wrap="none" lIns="0" tIns="0" rIns="0" bIns="0" rtlCol="0" anchor="t"/>
          <a:lstStyle/>
          <a:p>
            <a:pPr marL="342900" indent="-342900" algn="l">
              <a:lnSpc>
                <a:spcPts val="1850"/>
              </a:lnSpc>
              <a:buSzPct val="100000"/>
              <a:buChar char="•"/>
            </a:pPr>
            <a:r>
              <a:rPr lang="en-US" sz="1150" dirty="0">
                <a:solidFill>
                  <a:srgbClr val="2B2E3C"/>
                </a:solidFill>
                <a:latin typeface="Open Sans" pitchFamily="34" charset="0"/>
                <a:ea typeface="Open Sans" pitchFamily="34" charset="-122"/>
                <a:cs typeface="Open Sans" pitchFamily="34" charset="-120"/>
              </a:rPr>
              <a:t>Ensures correct traversal order: FIFO for BFS, and min-priority extraction for Dijkstra's.</a:t>
            </a:r>
            <a:endParaRPr lang="en-US" sz="1150" dirty="0"/>
          </a:p>
        </p:txBody>
      </p:sp>
      <p:pic>
        <p:nvPicPr>
          <p:cNvPr id="29" name="Picture 28"/>
          <p:cNvPicPr>
            <a:picLocks noChangeAspect="1"/>
          </p:cNvPicPr>
          <p:nvPr/>
        </p:nvPicPr>
        <p:blipFill>
          <a:blip r:embed="rId1"/>
          <a:stretch>
            <a:fillRect/>
          </a:stretch>
        </p:blipFill>
        <p:spPr>
          <a:xfrm>
            <a:off x="12125325" y="7792720"/>
            <a:ext cx="2505075" cy="4667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88169" y="462082"/>
            <a:ext cx="7066121" cy="525185"/>
          </a:xfrm>
          <a:prstGeom prst="rect">
            <a:avLst/>
          </a:prstGeom>
          <a:noFill/>
        </p:spPr>
        <p:txBody>
          <a:bodyPr wrap="none" lIns="0" tIns="0" rIns="0" bIns="0" rtlCol="0" anchor="t"/>
          <a:lstStyle/>
          <a:p>
            <a:pPr marL="0" indent="0" algn="l">
              <a:lnSpc>
                <a:spcPts val="4100"/>
              </a:lnSpc>
              <a:buNone/>
            </a:pPr>
            <a:r>
              <a:rPr lang="en-US" sz="3300" dirty="0">
                <a:solidFill>
                  <a:srgbClr val="2C3F42"/>
                </a:solidFill>
                <a:latin typeface="Bitter Medium" pitchFamily="34" charset="0"/>
                <a:ea typeface="Bitter Medium" pitchFamily="34" charset="-122"/>
                <a:cs typeface="Bitter Medium" pitchFamily="34" charset="-120"/>
              </a:rPr>
              <a:t>Understanding C++ Includes - Part 2</a:t>
            </a:r>
            <a:endParaRPr lang="en-US" sz="3300" dirty="0"/>
          </a:p>
        </p:txBody>
      </p:sp>
      <p:sp>
        <p:nvSpPr>
          <p:cNvPr id="3" name="Shape 1"/>
          <p:cNvSpPr/>
          <p:nvPr/>
        </p:nvSpPr>
        <p:spPr>
          <a:xfrm>
            <a:off x="588169" y="1323380"/>
            <a:ext cx="13454063" cy="2039183"/>
          </a:xfrm>
          <a:prstGeom prst="roundRect">
            <a:avLst>
              <a:gd name="adj" fmla="val 3461"/>
            </a:avLst>
          </a:prstGeom>
          <a:solidFill>
            <a:srgbClr val="FFF8F0"/>
          </a:solidFill>
          <a:ln w="22860">
            <a:solidFill>
              <a:srgbClr val="E2C8B5"/>
            </a:solidFill>
            <a:prstDash val="solid"/>
          </a:ln>
        </p:spPr>
      </p:sp>
      <p:sp>
        <p:nvSpPr>
          <p:cNvPr id="4" name="Shape 2"/>
          <p:cNvSpPr/>
          <p:nvPr/>
        </p:nvSpPr>
        <p:spPr>
          <a:xfrm>
            <a:off x="611029" y="1346240"/>
            <a:ext cx="672227" cy="1993463"/>
          </a:xfrm>
          <a:prstGeom prst="roundRect">
            <a:avLst>
              <a:gd name="adj" fmla="val 6420"/>
            </a:avLst>
          </a:prstGeom>
          <a:solidFill>
            <a:srgbClr val="FCE2CF"/>
          </a:solidFill>
        </p:spPr>
      </p:sp>
      <p:sp>
        <p:nvSpPr>
          <p:cNvPr id="5" name="Text 3"/>
          <p:cNvSpPr/>
          <p:nvPr/>
        </p:nvSpPr>
        <p:spPr>
          <a:xfrm>
            <a:off x="817245" y="2185392"/>
            <a:ext cx="252055" cy="315039"/>
          </a:xfrm>
          <a:prstGeom prst="rect">
            <a:avLst/>
          </a:prstGeom>
          <a:noFill/>
        </p:spPr>
        <p:txBody>
          <a:bodyPr wrap="none" lIns="0" tIns="0" rIns="0" bIns="0" rtlCol="0" anchor="t"/>
          <a:lstStyle/>
          <a:p>
            <a:pPr marL="0" indent="0" algn="l">
              <a:lnSpc>
                <a:spcPts val="1950"/>
              </a:lnSpc>
              <a:buNone/>
            </a:pPr>
            <a:r>
              <a:rPr lang="en-US" sz="1950" dirty="0">
                <a:solidFill>
                  <a:srgbClr val="2B2E3C"/>
                </a:solidFill>
                <a:latin typeface="Bitter Medium" pitchFamily="34" charset="0"/>
                <a:ea typeface="Bitter Medium" pitchFamily="34" charset="-122"/>
                <a:cs typeface="Bitter Medium" pitchFamily="34" charset="-120"/>
              </a:rPr>
              <a:t>1</a:t>
            </a:r>
            <a:endParaRPr lang="en-US" sz="1950" dirty="0"/>
          </a:p>
        </p:txBody>
      </p:sp>
      <p:sp>
        <p:nvSpPr>
          <p:cNvPr id="6" name="Text 4"/>
          <p:cNvSpPr/>
          <p:nvPr/>
        </p:nvSpPr>
        <p:spPr>
          <a:xfrm>
            <a:off x="1451253" y="1514237"/>
            <a:ext cx="2100739" cy="262533"/>
          </a:xfrm>
          <a:prstGeom prst="rect">
            <a:avLst/>
          </a:prstGeom>
          <a:noFill/>
        </p:spPr>
        <p:txBody>
          <a:bodyPr wrap="none" lIns="0" tIns="0" rIns="0" bIns="0" rtlCol="0" anchor="t"/>
          <a:lstStyle/>
          <a:p>
            <a:pPr marL="0" indent="0" algn="l">
              <a:lnSpc>
                <a:spcPts val="2050"/>
              </a:lnSpc>
              <a:buNone/>
            </a:pPr>
            <a:r>
              <a:rPr lang="en-US" sz="1650" dirty="0">
                <a:solidFill>
                  <a:srgbClr val="2B2E3C"/>
                </a:solidFill>
                <a:latin typeface="Bitter Medium" pitchFamily="34" charset="0"/>
                <a:ea typeface="Bitter Medium" pitchFamily="34" charset="-122"/>
                <a:cs typeface="Bitter Medium" pitchFamily="34" charset="-120"/>
              </a:rPr>
              <a:t>#include &lt;map&gt;</a:t>
            </a:r>
            <a:endParaRPr lang="en-US" sz="1650" dirty="0"/>
          </a:p>
        </p:txBody>
      </p:sp>
      <p:sp>
        <p:nvSpPr>
          <p:cNvPr id="7" name="Text 5"/>
          <p:cNvSpPr/>
          <p:nvPr/>
        </p:nvSpPr>
        <p:spPr>
          <a:xfrm>
            <a:off x="1451253" y="1877497"/>
            <a:ext cx="12400121" cy="268962"/>
          </a:xfrm>
          <a:prstGeom prst="rect">
            <a:avLst/>
          </a:prstGeom>
          <a:noFill/>
        </p:spPr>
        <p:txBody>
          <a:bodyPr wrap="none" lIns="0" tIns="0" rIns="0" bIns="0" rtlCol="0" anchor="t"/>
          <a:lstStyle/>
          <a:p>
            <a:pPr marL="0" indent="0" algn="l">
              <a:lnSpc>
                <a:spcPts val="2100"/>
              </a:lnSpc>
              <a:buNone/>
            </a:pPr>
            <a:r>
              <a:rPr lang="en-US" sz="1300" b="1" dirty="0">
                <a:solidFill>
                  <a:srgbClr val="2B2E3C"/>
                </a:solidFill>
                <a:latin typeface="Open Sans" pitchFamily="34" charset="0"/>
                <a:ea typeface="Open Sans" pitchFamily="34" charset="-122"/>
                <a:cs typeface="Open Sans" pitchFamily="34" charset="-120"/>
              </a:rPr>
              <a:t>Why we used it:</a:t>
            </a:r>
            <a:endParaRPr lang="en-US" sz="1300" dirty="0"/>
          </a:p>
        </p:txBody>
      </p:sp>
      <p:sp>
        <p:nvSpPr>
          <p:cNvPr id="8" name="Text 6"/>
          <p:cNvSpPr/>
          <p:nvPr/>
        </p:nvSpPr>
        <p:spPr>
          <a:xfrm>
            <a:off x="1451253" y="2247186"/>
            <a:ext cx="12400121" cy="268962"/>
          </a:xfrm>
          <a:prstGeom prst="rect">
            <a:avLst/>
          </a:prstGeom>
          <a:noFill/>
        </p:spPr>
        <p:txBody>
          <a:bodyPr wrap="none" lIns="0" tIns="0" rIns="0" bIns="0" rtlCol="0" anchor="t"/>
          <a:lstStyle/>
          <a:p>
            <a:pPr marL="0" indent="0" algn="l">
              <a:lnSpc>
                <a:spcPts val="2100"/>
              </a:lnSpc>
              <a:buSzPct val="100000"/>
              <a:buNone/>
            </a:pPr>
            <a:r>
              <a:rPr lang="en-US" sz="1300" dirty="0">
                <a:solidFill>
                  <a:srgbClr val="2B2E3C"/>
                </a:solidFill>
                <a:latin typeface="Open Sans" pitchFamily="34" charset="0"/>
                <a:ea typeface="Open Sans" pitchFamily="34" charset="-122"/>
                <a:cs typeface="Open Sans" pitchFamily="34" charset="-120"/>
              </a:rPr>
              <a:t>Enables mapping string-based place names to integer node numbers (e.g., </a:t>
            </a:r>
            <a:r>
              <a:rPr lang="en-US" sz="1300" dirty="0">
                <a:solidFill>
                  <a:srgbClr val="2B2E3C"/>
                </a:solidFill>
                <a:highlight>
                  <a:srgbClr val="F2EBE3"/>
                </a:highlight>
                <a:latin typeface="Consolas" pitchFamily="34" charset="0"/>
                <a:ea typeface="Consolas" pitchFamily="34" charset="-122"/>
                <a:cs typeface="Consolas" pitchFamily="34" charset="-120"/>
              </a:rPr>
              <a:t>map&lt;string,int&gt; id;</a:t>
            </a:r>
            <a:r>
              <a:rPr lang="en-US" sz="1300" dirty="0">
                <a:solidFill>
                  <a:srgbClr val="2B2E3C"/>
                </a:solidFill>
                <a:latin typeface="Open Sans" pitchFamily="34" charset="0"/>
                <a:ea typeface="Open Sans" pitchFamily="34" charset="-122"/>
                <a:cs typeface="Open Sans" pitchFamily="34" charset="-120"/>
              </a:rPr>
              <a:t>).</a:t>
            </a:r>
            <a:endParaRPr lang="en-US" sz="1300" dirty="0"/>
          </a:p>
        </p:txBody>
      </p:sp>
      <p:sp>
        <p:nvSpPr>
          <p:cNvPr id="9" name="Text 7"/>
          <p:cNvSpPr/>
          <p:nvPr/>
        </p:nvSpPr>
        <p:spPr>
          <a:xfrm>
            <a:off x="1451253" y="2574965"/>
            <a:ext cx="12400121" cy="268962"/>
          </a:xfrm>
          <a:prstGeom prst="rect">
            <a:avLst/>
          </a:prstGeom>
          <a:noFill/>
        </p:spPr>
        <p:txBody>
          <a:bodyPr wrap="none" lIns="0" tIns="0" rIns="0" bIns="0" rtlCol="0" anchor="t"/>
          <a:lstStyle/>
          <a:p>
            <a:pPr marL="0" indent="0" algn="l">
              <a:lnSpc>
                <a:spcPts val="2100"/>
              </a:lnSpc>
              <a:buSzPct val="100000"/>
              <a:buNone/>
            </a:pPr>
            <a:r>
              <a:rPr lang="en-US" sz="1300" dirty="0">
                <a:solidFill>
                  <a:srgbClr val="2B2E3C"/>
                </a:solidFill>
                <a:latin typeface="Open Sans" pitchFamily="34" charset="0"/>
                <a:ea typeface="Open Sans" pitchFamily="34" charset="-122"/>
                <a:cs typeface="Open Sans" pitchFamily="34" charset="-120"/>
              </a:rPr>
              <a:t>Stores original road times, especially when edges need to be identified by their connected nodes (e.g., </a:t>
            </a:r>
            <a:r>
              <a:rPr lang="en-US" sz="1300" dirty="0">
                <a:solidFill>
                  <a:srgbClr val="2B2E3C"/>
                </a:solidFill>
                <a:highlight>
                  <a:srgbClr val="F2EBE3"/>
                </a:highlight>
                <a:latin typeface="Consolas" pitchFamily="34" charset="0"/>
                <a:ea typeface="Consolas" pitchFamily="34" charset="-122"/>
                <a:cs typeface="Consolas" pitchFamily="34" charset="-120"/>
              </a:rPr>
              <a:t>map&lt;pair&lt;int,int&gt;, int&gt; originalTime;</a:t>
            </a:r>
            <a:r>
              <a:rPr lang="en-US" sz="1300" dirty="0">
                <a:solidFill>
                  <a:srgbClr val="2B2E3C"/>
                </a:solidFill>
                <a:latin typeface="Open Sans" pitchFamily="34" charset="0"/>
                <a:ea typeface="Open Sans" pitchFamily="34" charset="-122"/>
                <a:cs typeface="Open Sans" pitchFamily="34" charset="-120"/>
              </a:rPr>
              <a:t>).</a:t>
            </a:r>
            <a:endParaRPr lang="en-US" sz="1300" dirty="0"/>
          </a:p>
        </p:txBody>
      </p:sp>
      <p:sp>
        <p:nvSpPr>
          <p:cNvPr id="10" name="Text 8"/>
          <p:cNvSpPr/>
          <p:nvPr/>
        </p:nvSpPr>
        <p:spPr>
          <a:xfrm>
            <a:off x="1451253" y="2902744"/>
            <a:ext cx="12400121" cy="268962"/>
          </a:xfrm>
          <a:prstGeom prst="rect">
            <a:avLst/>
          </a:prstGeom>
          <a:noFill/>
        </p:spPr>
        <p:txBody>
          <a:bodyPr wrap="none" lIns="0" tIns="0" rIns="0" bIns="0" rtlCol="0" anchor="t"/>
          <a:lstStyle/>
          <a:p>
            <a:pPr marL="342900" indent="-342900" algn="l">
              <a:lnSpc>
                <a:spcPts val="2100"/>
              </a:lnSpc>
              <a:buSzPct val="100000"/>
              <a:buChar char="•"/>
            </a:pPr>
            <a:r>
              <a:rPr lang="en-US" sz="1300" dirty="0">
                <a:solidFill>
                  <a:srgbClr val="2B2E3C"/>
                </a:solidFill>
                <a:latin typeface="Open Sans" pitchFamily="34" charset="0"/>
                <a:ea typeface="Open Sans" pitchFamily="34" charset="-122"/>
                <a:cs typeface="Open Sans" pitchFamily="34" charset="-120"/>
              </a:rPr>
              <a:t>Provides fast key-value lookups, making code readable and efficient when dealing with named entities.</a:t>
            </a:r>
            <a:endParaRPr lang="en-US" sz="1300" dirty="0"/>
          </a:p>
        </p:txBody>
      </p:sp>
      <p:sp>
        <p:nvSpPr>
          <p:cNvPr id="11" name="Shape 9"/>
          <p:cNvSpPr/>
          <p:nvPr/>
        </p:nvSpPr>
        <p:spPr>
          <a:xfrm>
            <a:off x="588169" y="3530560"/>
            <a:ext cx="13454063" cy="2039183"/>
          </a:xfrm>
          <a:prstGeom prst="roundRect">
            <a:avLst>
              <a:gd name="adj" fmla="val 3461"/>
            </a:avLst>
          </a:prstGeom>
          <a:solidFill>
            <a:srgbClr val="FFF8F0"/>
          </a:solidFill>
          <a:ln w="22860">
            <a:solidFill>
              <a:srgbClr val="E2C8B5"/>
            </a:solidFill>
            <a:prstDash val="solid"/>
          </a:ln>
        </p:spPr>
      </p:sp>
      <p:sp>
        <p:nvSpPr>
          <p:cNvPr id="12" name="Shape 10"/>
          <p:cNvSpPr/>
          <p:nvPr/>
        </p:nvSpPr>
        <p:spPr>
          <a:xfrm>
            <a:off x="611029" y="3553420"/>
            <a:ext cx="672227" cy="1993463"/>
          </a:xfrm>
          <a:prstGeom prst="roundRect">
            <a:avLst>
              <a:gd name="adj" fmla="val 6420"/>
            </a:avLst>
          </a:prstGeom>
          <a:solidFill>
            <a:srgbClr val="FCE2CF"/>
          </a:solidFill>
        </p:spPr>
      </p:sp>
      <p:sp>
        <p:nvSpPr>
          <p:cNvPr id="13" name="Text 11"/>
          <p:cNvSpPr/>
          <p:nvPr/>
        </p:nvSpPr>
        <p:spPr>
          <a:xfrm>
            <a:off x="817245" y="4392573"/>
            <a:ext cx="252055" cy="315039"/>
          </a:xfrm>
          <a:prstGeom prst="rect">
            <a:avLst/>
          </a:prstGeom>
          <a:noFill/>
        </p:spPr>
        <p:txBody>
          <a:bodyPr wrap="none" lIns="0" tIns="0" rIns="0" bIns="0" rtlCol="0" anchor="t"/>
          <a:lstStyle/>
          <a:p>
            <a:pPr marL="0" indent="0" algn="l">
              <a:lnSpc>
                <a:spcPts val="1950"/>
              </a:lnSpc>
              <a:buNone/>
            </a:pPr>
            <a:r>
              <a:rPr lang="en-US" sz="1950" dirty="0">
                <a:solidFill>
                  <a:srgbClr val="2B2E3C"/>
                </a:solidFill>
                <a:latin typeface="Bitter Medium" pitchFamily="34" charset="0"/>
                <a:ea typeface="Bitter Medium" pitchFamily="34" charset="-122"/>
                <a:cs typeface="Bitter Medium" pitchFamily="34" charset="-120"/>
              </a:rPr>
              <a:t>2</a:t>
            </a:r>
            <a:endParaRPr lang="en-US" sz="1950" dirty="0"/>
          </a:p>
        </p:txBody>
      </p:sp>
      <p:sp>
        <p:nvSpPr>
          <p:cNvPr id="14" name="Text 12"/>
          <p:cNvSpPr/>
          <p:nvPr/>
        </p:nvSpPr>
        <p:spPr>
          <a:xfrm>
            <a:off x="1451253" y="3721418"/>
            <a:ext cx="2100739" cy="262533"/>
          </a:xfrm>
          <a:prstGeom prst="rect">
            <a:avLst/>
          </a:prstGeom>
          <a:noFill/>
        </p:spPr>
        <p:txBody>
          <a:bodyPr wrap="none" lIns="0" tIns="0" rIns="0" bIns="0" rtlCol="0" anchor="t"/>
          <a:lstStyle/>
          <a:p>
            <a:pPr marL="0" indent="0" algn="l">
              <a:lnSpc>
                <a:spcPts val="2050"/>
              </a:lnSpc>
              <a:buNone/>
            </a:pPr>
            <a:r>
              <a:rPr lang="en-US" sz="1650" dirty="0">
                <a:solidFill>
                  <a:srgbClr val="2B2E3C"/>
                </a:solidFill>
                <a:latin typeface="Bitter Medium" pitchFamily="34" charset="0"/>
                <a:ea typeface="Bitter Medium" pitchFamily="34" charset="-122"/>
                <a:cs typeface="Bitter Medium" pitchFamily="34" charset="-120"/>
              </a:rPr>
              <a:t>#include &lt;limits&gt;</a:t>
            </a:r>
            <a:endParaRPr lang="en-US" sz="1650" dirty="0"/>
          </a:p>
        </p:txBody>
      </p:sp>
      <p:sp>
        <p:nvSpPr>
          <p:cNvPr id="15" name="Text 13"/>
          <p:cNvSpPr/>
          <p:nvPr/>
        </p:nvSpPr>
        <p:spPr>
          <a:xfrm>
            <a:off x="1451253" y="4084677"/>
            <a:ext cx="12400121" cy="268962"/>
          </a:xfrm>
          <a:prstGeom prst="rect">
            <a:avLst/>
          </a:prstGeom>
          <a:noFill/>
        </p:spPr>
        <p:txBody>
          <a:bodyPr wrap="none" lIns="0" tIns="0" rIns="0" bIns="0" rtlCol="0" anchor="t"/>
          <a:lstStyle/>
          <a:p>
            <a:pPr marL="0" indent="0" algn="l">
              <a:lnSpc>
                <a:spcPts val="2100"/>
              </a:lnSpc>
              <a:buNone/>
            </a:pPr>
            <a:r>
              <a:rPr lang="en-US" sz="1300" b="1" dirty="0">
                <a:solidFill>
                  <a:srgbClr val="2B2E3C"/>
                </a:solidFill>
                <a:latin typeface="Open Sans" pitchFamily="34" charset="0"/>
                <a:ea typeface="Open Sans" pitchFamily="34" charset="-122"/>
                <a:cs typeface="Open Sans" pitchFamily="34" charset="-120"/>
              </a:rPr>
              <a:t>Why we used it:</a:t>
            </a:r>
            <a:endParaRPr lang="en-US" sz="1300" dirty="0"/>
          </a:p>
        </p:txBody>
      </p:sp>
      <p:sp>
        <p:nvSpPr>
          <p:cNvPr id="16" name="Text 14"/>
          <p:cNvSpPr/>
          <p:nvPr/>
        </p:nvSpPr>
        <p:spPr>
          <a:xfrm>
            <a:off x="1451253" y="4454366"/>
            <a:ext cx="12400121" cy="268962"/>
          </a:xfrm>
          <a:prstGeom prst="rect">
            <a:avLst/>
          </a:prstGeom>
          <a:noFill/>
        </p:spPr>
        <p:txBody>
          <a:bodyPr wrap="none" lIns="0" tIns="0" rIns="0" bIns="0" rtlCol="0" anchor="t"/>
          <a:lstStyle/>
          <a:p>
            <a:pPr marL="342900" indent="-342900" algn="l">
              <a:lnSpc>
                <a:spcPts val="2100"/>
              </a:lnSpc>
              <a:buSzPct val="100000"/>
              <a:buChar char="•"/>
            </a:pPr>
            <a:r>
              <a:rPr lang="en-US" sz="1300" dirty="0">
                <a:solidFill>
                  <a:srgbClr val="2B2E3C"/>
                </a:solidFill>
                <a:latin typeface="Open Sans" pitchFamily="34" charset="0"/>
                <a:ea typeface="Open Sans" pitchFamily="34" charset="-122"/>
                <a:cs typeface="Open Sans" pitchFamily="34" charset="-120"/>
              </a:rPr>
              <a:t>Allows access to properties of fundamental data types, like their maximum or minimum representable values.</a:t>
            </a:r>
            <a:endParaRPr lang="en-US" sz="1300" dirty="0"/>
          </a:p>
        </p:txBody>
      </p:sp>
      <p:sp>
        <p:nvSpPr>
          <p:cNvPr id="17" name="Text 15"/>
          <p:cNvSpPr/>
          <p:nvPr/>
        </p:nvSpPr>
        <p:spPr>
          <a:xfrm>
            <a:off x="1451253" y="4782145"/>
            <a:ext cx="12400121" cy="268962"/>
          </a:xfrm>
          <a:prstGeom prst="rect">
            <a:avLst/>
          </a:prstGeom>
          <a:noFill/>
        </p:spPr>
        <p:txBody>
          <a:bodyPr wrap="none" lIns="0" tIns="0" rIns="0" bIns="0" rtlCol="0" anchor="t"/>
          <a:lstStyle/>
          <a:p>
            <a:pPr marL="0" indent="0" algn="l">
              <a:lnSpc>
                <a:spcPts val="2100"/>
              </a:lnSpc>
              <a:buSzPct val="100000"/>
              <a:buNone/>
            </a:pPr>
            <a:r>
              <a:rPr lang="en-US" sz="1300" dirty="0">
                <a:solidFill>
                  <a:srgbClr val="2B2E3C"/>
                </a:solidFill>
                <a:latin typeface="Open Sans" pitchFamily="34" charset="0"/>
                <a:ea typeface="Open Sans" pitchFamily="34" charset="-122"/>
                <a:cs typeface="Open Sans" pitchFamily="34" charset="-120"/>
              </a:rPr>
              <a:t>Crucial for defining a safe "infinity" value (</a:t>
            </a:r>
            <a:r>
              <a:rPr lang="en-US" sz="1300" dirty="0">
                <a:solidFill>
                  <a:srgbClr val="2B2E3C"/>
                </a:solidFill>
                <a:highlight>
                  <a:srgbClr val="F2EBE3"/>
                </a:highlight>
                <a:latin typeface="Consolas" pitchFamily="34" charset="0"/>
                <a:ea typeface="Consolas" pitchFamily="34" charset="-122"/>
                <a:cs typeface="Consolas" pitchFamily="34" charset="-120"/>
              </a:rPr>
              <a:t>INF</a:t>
            </a:r>
            <a:r>
              <a:rPr lang="en-US" sz="1300" dirty="0">
                <a:solidFill>
                  <a:srgbClr val="2B2E3C"/>
                </a:solidFill>
                <a:latin typeface="Open Sans" pitchFamily="34" charset="0"/>
                <a:ea typeface="Open Sans" pitchFamily="34" charset="-122"/>
                <a:cs typeface="Open Sans" pitchFamily="34" charset="-120"/>
              </a:rPr>
              <a:t>) without hardcoding, using </a:t>
            </a:r>
            <a:r>
              <a:rPr lang="en-US" sz="1300" dirty="0">
                <a:solidFill>
                  <a:srgbClr val="2B2E3C"/>
                </a:solidFill>
                <a:highlight>
                  <a:srgbClr val="F2EBE3"/>
                </a:highlight>
                <a:latin typeface="Consolas" pitchFamily="34" charset="0"/>
                <a:ea typeface="Consolas" pitchFamily="34" charset="-122"/>
                <a:cs typeface="Consolas" pitchFamily="34" charset="-120"/>
              </a:rPr>
              <a:t>std::numeric_limits&lt;int&gt;::max()</a:t>
            </a:r>
            <a:r>
              <a:rPr lang="en-US" sz="1300" dirty="0">
                <a:solidFill>
                  <a:srgbClr val="2B2E3C"/>
                </a:solidFill>
                <a:latin typeface="Open Sans" pitchFamily="34" charset="0"/>
                <a:ea typeface="Open Sans" pitchFamily="34" charset="-122"/>
                <a:cs typeface="Open Sans" pitchFamily="34" charset="-120"/>
              </a:rPr>
              <a:t>.</a:t>
            </a:r>
            <a:endParaRPr lang="en-US" sz="1300" dirty="0"/>
          </a:p>
        </p:txBody>
      </p:sp>
      <p:sp>
        <p:nvSpPr>
          <p:cNvPr id="18" name="Text 16"/>
          <p:cNvSpPr/>
          <p:nvPr/>
        </p:nvSpPr>
        <p:spPr>
          <a:xfrm>
            <a:off x="1451253" y="5109924"/>
            <a:ext cx="12400121" cy="268962"/>
          </a:xfrm>
          <a:prstGeom prst="rect">
            <a:avLst/>
          </a:prstGeom>
          <a:noFill/>
        </p:spPr>
        <p:txBody>
          <a:bodyPr wrap="none" lIns="0" tIns="0" rIns="0" bIns="0" rtlCol="0" anchor="t"/>
          <a:lstStyle/>
          <a:p>
            <a:pPr marL="342900" indent="-342900" algn="l">
              <a:lnSpc>
                <a:spcPts val="2100"/>
              </a:lnSpc>
              <a:buSzPct val="100000"/>
              <a:buChar char="•"/>
            </a:pPr>
            <a:r>
              <a:rPr lang="en-US" sz="1300" dirty="0">
                <a:solidFill>
                  <a:srgbClr val="2B2E3C"/>
                </a:solidFill>
                <a:latin typeface="Open Sans" pitchFamily="34" charset="0"/>
                <a:ea typeface="Open Sans" pitchFamily="34" charset="-122"/>
                <a:cs typeface="Open Sans" pitchFamily="34" charset="-120"/>
              </a:rPr>
              <a:t>Prevents integer overflow issues when initializing distances in shortest path algorithms, ensuring reliable comparisons.</a:t>
            </a:r>
            <a:endParaRPr lang="en-US" sz="1300" dirty="0"/>
          </a:p>
        </p:txBody>
      </p:sp>
      <p:sp>
        <p:nvSpPr>
          <p:cNvPr id="19" name="Shape 17"/>
          <p:cNvSpPr/>
          <p:nvPr/>
        </p:nvSpPr>
        <p:spPr>
          <a:xfrm>
            <a:off x="588169" y="5737741"/>
            <a:ext cx="13454063" cy="2039183"/>
          </a:xfrm>
          <a:prstGeom prst="roundRect">
            <a:avLst>
              <a:gd name="adj" fmla="val 3461"/>
            </a:avLst>
          </a:prstGeom>
          <a:solidFill>
            <a:srgbClr val="FFF8F0"/>
          </a:solidFill>
          <a:ln w="22860">
            <a:solidFill>
              <a:srgbClr val="E2C8B5"/>
            </a:solidFill>
            <a:prstDash val="solid"/>
          </a:ln>
        </p:spPr>
      </p:sp>
      <p:sp>
        <p:nvSpPr>
          <p:cNvPr id="20" name="Shape 18"/>
          <p:cNvSpPr/>
          <p:nvPr/>
        </p:nvSpPr>
        <p:spPr>
          <a:xfrm>
            <a:off x="611029" y="5760601"/>
            <a:ext cx="672227" cy="1993463"/>
          </a:xfrm>
          <a:prstGeom prst="roundRect">
            <a:avLst>
              <a:gd name="adj" fmla="val 6420"/>
            </a:avLst>
          </a:prstGeom>
          <a:solidFill>
            <a:srgbClr val="FCE2CF"/>
          </a:solidFill>
        </p:spPr>
      </p:sp>
      <p:sp>
        <p:nvSpPr>
          <p:cNvPr id="21" name="Text 19"/>
          <p:cNvSpPr/>
          <p:nvPr/>
        </p:nvSpPr>
        <p:spPr>
          <a:xfrm>
            <a:off x="817245" y="6599753"/>
            <a:ext cx="252055" cy="315039"/>
          </a:xfrm>
          <a:prstGeom prst="rect">
            <a:avLst/>
          </a:prstGeom>
          <a:noFill/>
        </p:spPr>
        <p:txBody>
          <a:bodyPr wrap="none" lIns="0" tIns="0" rIns="0" bIns="0" rtlCol="0" anchor="t"/>
          <a:lstStyle/>
          <a:p>
            <a:pPr marL="0" indent="0" algn="l">
              <a:lnSpc>
                <a:spcPts val="1950"/>
              </a:lnSpc>
              <a:buNone/>
            </a:pPr>
            <a:r>
              <a:rPr lang="en-US" sz="1950" dirty="0">
                <a:solidFill>
                  <a:srgbClr val="2B2E3C"/>
                </a:solidFill>
                <a:latin typeface="Bitter Medium" pitchFamily="34" charset="0"/>
                <a:ea typeface="Bitter Medium" pitchFamily="34" charset="-122"/>
                <a:cs typeface="Bitter Medium" pitchFamily="34" charset="-120"/>
              </a:rPr>
              <a:t>3</a:t>
            </a:r>
            <a:endParaRPr lang="en-US" sz="1950" dirty="0"/>
          </a:p>
        </p:txBody>
      </p:sp>
      <p:sp>
        <p:nvSpPr>
          <p:cNvPr id="22" name="Text 20"/>
          <p:cNvSpPr/>
          <p:nvPr/>
        </p:nvSpPr>
        <p:spPr>
          <a:xfrm>
            <a:off x="1451253" y="5928598"/>
            <a:ext cx="2127885" cy="262533"/>
          </a:xfrm>
          <a:prstGeom prst="rect">
            <a:avLst/>
          </a:prstGeom>
          <a:noFill/>
        </p:spPr>
        <p:txBody>
          <a:bodyPr wrap="none" lIns="0" tIns="0" rIns="0" bIns="0" rtlCol="0" anchor="t"/>
          <a:lstStyle/>
          <a:p>
            <a:pPr marL="0" indent="0" algn="l">
              <a:lnSpc>
                <a:spcPts val="2050"/>
              </a:lnSpc>
              <a:buNone/>
            </a:pPr>
            <a:r>
              <a:rPr lang="en-US" sz="1650" dirty="0">
                <a:solidFill>
                  <a:srgbClr val="2B2E3C"/>
                </a:solidFill>
                <a:latin typeface="Bitter Medium" pitchFamily="34" charset="0"/>
                <a:ea typeface="Bitter Medium" pitchFamily="34" charset="-122"/>
                <a:cs typeface="Bitter Medium" pitchFamily="34" charset="-120"/>
              </a:rPr>
              <a:t>#include &lt;algorithm&gt;</a:t>
            </a:r>
            <a:endParaRPr lang="en-US" sz="1650" dirty="0"/>
          </a:p>
        </p:txBody>
      </p:sp>
      <p:sp>
        <p:nvSpPr>
          <p:cNvPr id="23" name="Text 21"/>
          <p:cNvSpPr/>
          <p:nvPr/>
        </p:nvSpPr>
        <p:spPr>
          <a:xfrm>
            <a:off x="1451253" y="6291858"/>
            <a:ext cx="12400121" cy="268962"/>
          </a:xfrm>
          <a:prstGeom prst="rect">
            <a:avLst/>
          </a:prstGeom>
          <a:noFill/>
        </p:spPr>
        <p:txBody>
          <a:bodyPr wrap="none" lIns="0" tIns="0" rIns="0" bIns="0" rtlCol="0" anchor="t"/>
          <a:lstStyle/>
          <a:p>
            <a:pPr marL="0" indent="0" algn="l">
              <a:lnSpc>
                <a:spcPts val="2100"/>
              </a:lnSpc>
              <a:buNone/>
            </a:pPr>
            <a:r>
              <a:rPr lang="en-US" sz="1300" b="1" dirty="0">
                <a:solidFill>
                  <a:srgbClr val="2B2E3C"/>
                </a:solidFill>
                <a:latin typeface="Open Sans" pitchFamily="34" charset="0"/>
                <a:ea typeface="Open Sans" pitchFamily="34" charset="-122"/>
                <a:cs typeface="Open Sans" pitchFamily="34" charset="-120"/>
              </a:rPr>
              <a:t>Why we used it:</a:t>
            </a:r>
            <a:endParaRPr lang="en-US" sz="1300" dirty="0"/>
          </a:p>
        </p:txBody>
      </p:sp>
      <p:sp>
        <p:nvSpPr>
          <p:cNvPr id="24" name="Text 22"/>
          <p:cNvSpPr/>
          <p:nvPr/>
        </p:nvSpPr>
        <p:spPr>
          <a:xfrm>
            <a:off x="1451253" y="6661547"/>
            <a:ext cx="12400121" cy="268962"/>
          </a:xfrm>
          <a:prstGeom prst="rect">
            <a:avLst/>
          </a:prstGeom>
          <a:noFill/>
        </p:spPr>
        <p:txBody>
          <a:bodyPr wrap="none" lIns="0" tIns="0" rIns="0" bIns="0" rtlCol="0" anchor="t"/>
          <a:lstStyle/>
          <a:p>
            <a:pPr marL="0" indent="0" algn="l">
              <a:lnSpc>
                <a:spcPts val="2100"/>
              </a:lnSpc>
              <a:buSzPct val="100000"/>
              <a:buNone/>
            </a:pPr>
            <a:r>
              <a:rPr lang="en-US" sz="1300" dirty="0">
                <a:solidFill>
                  <a:srgbClr val="2B2E3C"/>
                </a:solidFill>
                <a:latin typeface="Open Sans" pitchFamily="34" charset="0"/>
                <a:ea typeface="Open Sans" pitchFamily="34" charset="-122"/>
                <a:cs typeface="Open Sans" pitchFamily="34" charset="-120"/>
              </a:rPr>
              <a:t>Supports helper operations like </a:t>
            </a:r>
            <a:r>
              <a:rPr lang="en-US" sz="1300" dirty="0">
                <a:solidFill>
                  <a:srgbClr val="2B2E3C"/>
                </a:solidFill>
                <a:highlight>
                  <a:srgbClr val="F2EBE3"/>
                </a:highlight>
                <a:latin typeface="Consolas" pitchFamily="34" charset="0"/>
                <a:ea typeface="Consolas" pitchFamily="34" charset="-122"/>
                <a:cs typeface="Consolas" pitchFamily="34" charset="-120"/>
              </a:rPr>
              <a:t>greater&lt;&gt;</a:t>
            </a:r>
            <a:r>
              <a:rPr lang="en-US" sz="1300" dirty="0">
                <a:solidFill>
                  <a:srgbClr val="2B2E3C"/>
                </a:solidFill>
                <a:latin typeface="Open Sans" pitchFamily="34" charset="0"/>
                <a:ea typeface="Open Sans" pitchFamily="34" charset="-122"/>
                <a:cs typeface="Open Sans" pitchFamily="34" charset="-120"/>
              </a:rPr>
              <a:t> in priority queue and utility functions.</a:t>
            </a:r>
            <a:endParaRPr lang="en-US" sz="1300" dirty="0"/>
          </a:p>
        </p:txBody>
      </p:sp>
      <p:sp>
        <p:nvSpPr>
          <p:cNvPr id="25" name="Text 23"/>
          <p:cNvSpPr/>
          <p:nvPr/>
        </p:nvSpPr>
        <p:spPr>
          <a:xfrm>
            <a:off x="1451253" y="6989326"/>
            <a:ext cx="12400121" cy="268962"/>
          </a:xfrm>
          <a:prstGeom prst="rect">
            <a:avLst/>
          </a:prstGeom>
          <a:noFill/>
        </p:spPr>
        <p:txBody>
          <a:bodyPr wrap="none" lIns="0" tIns="0" rIns="0" bIns="0" rtlCol="0" anchor="t"/>
          <a:lstStyle/>
          <a:p>
            <a:pPr marL="342900" indent="-342900" algn="l">
              <a:lnSpc>
                <a:spcPts val="2100"/>
              </a:lnSpc>
              <a:buSzPct val="100000"/>
              <a:buChar char="•"/>
            </a:pPr>
            <a:r>
              <a:rPr lang="en-US" sz="1300" dirty="0">
                <a:solidFill>
                  <a:srgbClr val="2B2E3C"/>
                </a:solidFill>
                <a:latin typeface="Open Sans" pitchFamily="34" charset="0"/>
                <a:ea typeface="Open Sans" pitchFamily="34" charset="-122"/>
                <a:cs typeface="Open Sans" pitchFamily="34" charset="-120"/>
              </a:rPr>
              <a:t>Used indirectly for comparison functions and sorting operations.</a:t>
            </a:r>
            <a:endParaRPr lang="en-US" sz="1300" dirty="0"/>
          </a:p>
        </p:txBody>
      </p:sp>
      <p:sp>
        <p:nvSpPr>
          <p:cNvPr id="26" name="Text 24"/>
          <p:cNvSpPr/>
          <p:nvPr/>
        </p:nvSpPr>
        <p:spPr>
          <a:xfrm>
            <a:off x="1451253" y="7317105"/>
            <a:ext cx="12400121" cy="268962"/>
          </a:xfrm>
          <a:prstGeom prst="rect">
            <a:avLst/>
          </a:prstGeom>
          <a:noFill/>
        </p:spPr>
        <p:txBody>
          <a:bodyPr wrap="none" lIns="0" tIns="0" rIns="0" bIns="0" rtlCol="0" anchor="t"/>
          <a:lstStyle/>
          <a:p>
            <a:pPr marL="342900" indent="-342900" algn="l">
              <a:lnSpc>
                <a:spcPts val="2100"/>
              </a:lnSpc>
              <a:buSzPct val="100000"/>
              <a:buChar char="•"/>
            </a:pPr>
            <a:r>
              <a:rPr lang="en-US" sz="1300" dirty="0">
                <a:solidFill>
                  <a:srgbClr val="2B2E3C"/>
                </a:solidFill>
                <a:latin typeface="Open Sans" pitchFamily="34" charset="0"/>
                <a:ea typeface="Open Sans" pitchFamily="34" charset="-122"/>
                <a:cs typeface="Open Sans" pitchFamily="34" charset="-120"/>
              </a:rPr>
              <a:t>Provides comparison and utility functions essential for algorithm implementation.</a:t>
            </a:r>
            <a:endParaRPr lang="en-US" sz="1300" dirty="0"/>
          </a:p>
        </p:txBody>
      </p:sp>
      <p:pic>
        <p:nvPicPr>
          <p:cNvPr id="28" name="Picture 27"/>
          <p:cNvPicPr>
            <a:picLocks noChangeAspect="1"/>
          </p:cNvPicPr>
          <p:nvPr/>
        </p:nvPicPr>
        <p:blipFill>
          <a:blip r:embed="rId1"/>
          <a:stretch>
            <a:fillRect/>
          </a:stretch>
        </p:blipFill>
        <p:spPr>
          <a:xfrm>
            <a:off x="11544300" y="7801610"/>
            <a:ext cx="3086100" cy="3143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61843" y="466844"/>
            <a:ext cx="5707380" cy="412313"/>
          </a:xfrm>
          <a:prstGeom prst="rect">
            <a:avLst/>
          </a:prstGeom>
          <a:noFill/>
        </p:spPr>
        <p:txBody>
          <a:bodyPr wrap="none" lIns="0" tIns="0" rIns="0" bIns="0" rtlCol="0" anchor="t"/>
          <a:lstStyle/>
          <a:p>
            <a:pPr marL="0" indent="0" algn="l">
              <a:lnSpc>
                <a:spcPts val="3200"/>
              </a:lnSpc>
              <a:buNone/>
            </a:pPr>
            <a:r>
              <a:rPr lang="en-US" sz="2550" dirty="0">
                <a:solidFill>
                  <a:srgbClr val="2C3F42"/>
                </a:solidFill>
                <a:latin typeface="Bitter Medium" pitchFamily="34" charset="0"/>
                <a:ea typeface="Bitter Medium" pitchFamily="34" charset="-122"/>
                <a:cs typeface="Bitter Medium" pitchFamily="34" charset="-120"/>
              </a:rPr>
              <a:t>Dijkstra Function Explanation - Part 1</a:t>
            </a:r>
            <a:endParaRPr lang="en-US" sz="2550" dirty="0"/>
          </a:p>
        </p:txBody>
      </p:sp>
      <p:sp>
        <p:nvSpPr>
          <p:cNvPr id="3" name="Text 1"/>
          <p:cNvSpPr/>
          <p:nvPr/>
        </p:nvSpPr>
        <p:spPr>
          <a:xfrm>
            <a:off x="461843" y="1143119"/>
            <a:ext cx="13706713" cy="211217"/>
          </a:xfrm>
          <a:prstGeom prst="rect">
            <a:avLst/>
          </a:prstGeom>
          <a:noFill/>
        </p:spPr>
        <p:txBody>
          <a:bodyPr wrap="none" lIns="0" tIns="0" rIns="0" bIns="0" rtlCol="0" anchor="t"/>
          <a:lstStyle/>
          <a:p>
            <a:pPr marL="0" indent="0" algn="l">
              <a:lnSpc>
                <a:spcPts val="1650"/>
              </a:lnSpc>
              <a:buNone/>
            </a:pPr>
            <a:r>
              <a:rPr lang="en-US" sz="1000" dirty="0">
                <a:solidFill>
                  <a:srgbClr val="2B2E3C"/>
                </a:solidFill>
                <a:latin typeface="Open Sans" pitchFamily="34" charset="0"/>
                <a:ea typeface="Open Sans" pitchFamily="34" charset="-122"/>
                <a:cs typeface="Open Sans" pitchFamily="34" charset="-120"/>
              </a:rPr>
              <a:t>The Dijkstra algorithm finds the shortest paths from a single source node to all other nodes in a graph with non-negative edge weights. Below are the initial steps for setting up and starting the algorithm.</a:t>
            </a:r>
            <a:endParaRPr lang="en-US" sz="1000" dirty="0"/>
          </a:p>
        </p:txBody>
      </p:sp>
      <p:sp>
        <p:nvSpPr>
          <p:cNvPr id="4" name="Shape 2"/>
          <p:cNvSpPr/>
          <p:nvPr/>
        </p:nvSpPr>
        <p:spPr>
          <a:xfrm>
            <a:off x="461843" y="1502807"/>
            <a:ext cx="13706713" cy="1042749"/>
          </a:xfrm>
          <a:prstGeom prst="roundRect">
            <a:avLst>
              <a:gd name="adj" fmla="val 5316"/>
            </a:avLst>
          </a:prstGeom>
          <a:solidFill>
            <a:srgbClr val="F2EBE3"/>
          </a:solidFill>
        </p:spPr>
      </p:sp>
      <p:sp>
        <p:nvSpPr>
          <p:cNvPr id="5" name="Shape 3"/>
          <p:cNvSpPr/>
          <p:nvPr/>
        </p:nvSpPr>
        <p:spPr>
          <a:xfrm>
            <a:off x="455295" y="1502807"/>
            <a:ext cx="13719810" cy="1042749"/>
          </a:xfrm>
          <a:prstGeom prst="roundRect">
            <a:avLst>
              <a:gd name="adj" fmla="val 1899"/>
            </a:avLst>
          </a:prstGeom>
          <a:solidFill>
            <a:srgbClr val="F2EBE3"/>
          </a:solidFill>
        </p:spPr>
      </p:sp>
      <p:sp>
        <p:nvSpPr>
          <p:cNvPr id="6" name="Text 4"/>
          <p:cNvSpPr/>
          <p:nvPr/>
        </p:nvSpPr>
        <p:spPr>
          <a:xfrm>
            <a:off x="587216" y="1601748"/>
            <a:ext cx="13455968" cy="844868"/>
          </a:xfrm>
          <a:prstGeom prst="rect">
            <a:avLst/>
          </a:prstGeom>
          <a:noFill/>
        </p:spPr>
        <p:txBody>
          <a:bodyPr wrap="square" lIns="0" tIns="0" rIns="0" bIns="0" rtlCol="0" anchor="t"/>
          <a:lstStyle/>
          <a:p>
            <a:pPr marL="0" indent="0" algn="l">
              <a:lnSpc>
                <a:spcPts val="1650"/>
              </a:lnSpc>
              <a:buNone/>
            </a:pPr>
            <a:r>
              <a:rPr lang="en-US" sz="1000" dirty="0">
                <a:solidFill>
                  <a:srgbClr val="2B2E3C"/>
                </a:solidFill>
                <a:highlight>
                  <a:srgbClr val="F2EBE3"/>
                </a:highlight>
                <a:latin typeface="Consolas" pitchFamily="34" charset="0"/>
                <a:ea typeface="Consolas" pitchFamily="34" charset="-122"/>
                <a:cs typeface="Consolas" pitchFamily="34" charset="-120"/>
              </a:rPr>
              <a:t>// Pseudocode for Dijkstra's Algorithm</a:t>
            </a:r>
            <a:endParaRPr lang="en-US" sz="1000" dirty="0"/>
          </a:p>
          <a:p>
            <a:pPr marL="0" indent="0" algn="l">
              <a:lnSpc>
                <a:spcPts val="1650"/>
              </a:lnSpc>
              <a:buNone/>
            </a:pPr>
            <a:r>
              <a:rPr lang="en-US" sz="1000" dirty="0">
                <a:solidFill>
                  <a:srgbClr val="2B2E3C"/>
                </a:solidFill>
                <a:highlight>
                  <a:srgbClr val="F2EBE3"/>
                </a:highlight>
                <a:latin typeface="Consolas" pitchFamily="34" charset="0"/>
                <a:ea typeface="Consolas" pitchFamily="34" charset="-122"/>
                <a:cs typeface="Consolas" pitchFamily="34" charset="-120"/>
              </a:rPr>
              <a:t>void dijkstra(int start_node, int num_nodes, const vector&lt;vector&lt;pair&lt;int, int&gt;&gt;&gt;&amp; graph) {</a:t>
            </a:r>
            <a:endParaRPr lang="en-US" sz="1000" dirty="0"/>
          </a:p>
          <a:p>
            <a:pPr marL="0" indent="0" algn="l">
              <a:lnSpc>
                <a:spcPts val="1650"/>
              </a:lnSpc>
              <a:buNone/>
            </a:pPr>
            <a:r>
              <a:rPr lang="en-US" sz="1000" dirty="0">
                <a:solidFill>
                  <a:srgbClr val="2B2E3C"/>
                </a:solidFill>
                <a:highlight>
                  <a:srgbClr val="F2EBE3"/>
                </a:highlight>
                <a:latin typeface="Consolas" pitchFamily="34" charset="0"/>
                <a:ea typeface="Consolas" pitchFamily="34" charset="-122"/>
                <a:cs typeface="Consolas" pitchFamily="34" charset="-120"/>
              </a:rPr>
              <a:t>    // Implementation details follow...</a:t>
            </a:r>
            <a:endParaRPr lang="en-US" sz="1000" dirty="0"/>
          </a:p>
          <a:p>
            <a:pPr marL="0" indent="0" algn="l">
              <a:lnSpc>
                <a:spcPts val="1650"/>
              </a:lnSpc>
              <a:buNone/>
            </a:pPr>
            <a:r>
              <a:rPr lang="en-US" sz="1000" dirty="0">
                <a:solidFill>
                  <a:srgbClr val="2B2E3C"/>
                </a:solidFill>
                <a:highlight>
                  <a:srgbClr val="F2EBE3"/>
                </a:highlight>
                <a:latin typeface="Consolas" pitchFamily="34" charset="0"/>
                <a:ea typeface="Consolas" pitchFamily="34" charset="-122"/>
                <a:cs typeface="Consolas" pitchFamily="34" charset="-120"/>
              </a:rPr>
              <a:t>}</a:t>
            </a:r>
            <a:endParaRPr lang="en-US" sz="1000" dirty="0"/>
          </a:p>
        </p:txBody>
      </p:sp>
      <p:sp>
        <p:nvSpPr>
          <p:cNvPr id="7" name="Shape 5"/>
          <p:cNvSpPr/>
          <p:nvPr/>
        </p:nvSpPr>
        <p:spPr>
          <a:xfrm>
            <a:off x="461843" y="2891909"/>
            <a:ext cx="4480917" cy="2798564"/>
          </a:xfrm>
          <a:prstGeom prst="roundRect">
            <a:avLst>
              <a:gd name="adj" fmla="val 2614"/>
            </a:avLst>
          </a:prstGeom>
          <a:solidFill>
            <a:srgbClr val="FFF8F0"/>
          </a:solidFill>
        </p:spPr>
      </p:sp>
      <p:sp>
        <p:nvSpPr>
          <p:cNvPr id="8" name="Shape 6"/>
          <p:cNvSpPr/>
          <p:nvPr/>
        </p:nvSpPr>
        <p:spPr>
          <a:xfrm>
            <a:off x="461843" y="2876669"/>
            <a:ext cx="4480917" cy="60960"/>
          </a:xfrm>
          <a:prstGeom prst="roundRect">
            <a:avLst>
              <a:gd name="adj" fmla="val 90935"/>
            </a:avLst>
          </a:prstGeom>
          <a:solidFill>
            <a:srgbClr val="D2600F"/>
          </a:solidFill>
        </p:spPr>
      </p:sp>
      <p:sp>
        <p:nvSpPr>
          <p:cNvPr id="9" name="Shape 7"/>
          <p:cNvSpPr/>
          <p:nvPr/>
        </p:nvSpPr>
        <p:spPr>
          <a:xfrm>
            <a:off x="2504301" y="2694027"/>
            <a:ext cx="395883" cy="395883"/>
          </a:xfrm>
          <a:prstGeom prst="roundRect">
            <a:avLst>
              <a:gd name="adj" fmla="val 230977"/>
            </a:avLst>
          </a:prstGeom>
          <a:solidFill>
            <a:srgbClr val="D2600F"/>
          </a:solidFill>
        </p:spPr>
      </p:sp>
      <p:sp>
        <p:nvSpPr>
          <p:cNvPr id="10" name="Text 8"/>
          <p:cNvSpPr/>
          <p:nvPr/>
        </p:nvSpPr>
        <p:spPr>
          <a:xfrm>
            <a:off x="2623006" y="2792968"/>
            <a:ext cx="158353" cy="197882"/>
          </a:xfrm>
          <a:prstGeom prst="rect">
            <a:avLst/>
          </a:prstGeom>
          <a:noFill/>
        </p:spPr>
        <p:txBody>
          <a:bodyPr wrap="none" lIns="0" tIns="0" rIns="0" bIns="0" rtlCol="0" anchor="t"/>
          <a:lstStyle/>
          <a:p>
            <a:pPr marL="0" indent="0" algn="l">
              <a:lnSpc>
                <a:spcPts val="1950"/>
              </a:lnSpc>
              <a:buNone/>
            </a:pPr>
            <a:r>
              <a:rPr lang="en-US" sz="1200" dirty="0">
                <a:solidFill>
                  <a:srgbClr val="FFFFFF"/>
                </a:solidFill>
                <a:latin typeface="Bitter Medium" pitchFamily="34" charset="0"/>
                <a:ea typeface="Bitter Medium" pitchFamily="34" charset="-122"/>
                <a:cs typeface="Bitter Medium" pitchFamily="34" charset="-120"/>
              </a:rPr>
              <a:t>1</a:t>
            </a:r>
            <a:endParaRPr lang="en-US" sz="1200" dirty="0"/>
          </a:p>
        </p:txBody>
      </p:sp>
      <p:sp>
        <p:nvSpPr>
          <p:cNvPr id="11" name="Text 9"/>
          <p:cNvSpPr/>
          <p:nvPr/>
        </p:nvSpPr>
        <p:spPr>
          <a:xfrm>
            <a:off x="609005" y="3221831"/>
            <a:ext cx="1649730" cy="206216"/>
          </a:xfrm>
          <a:prstGeom prst="rect">
            <a:avLst/>
          </a:prstGeom>
          <a:noFill/>
        </p:spPr>
        <p:txBody>
          <a:bodyPr wrap="none" lIns="0" tIns="0" rIns="0" bIns="0" rtlCol="0" anchor="t"/>
          <a:lstStyle/>
          <a:p>
            <a:pPr marL="0" indent="0" algn="l">
              <a:lnSpc>
                <a:spcPts val="1600"/>
              </a:lnSpc>
              <a:buNone/>
            </a:pPr>
            <a:r>
              <a:rPr lang="en-US" sz="1250" dirty="0">
                <a:solidFill>
                  <a:srgbClr val="2B2E3C"/>
                </a:solidFill>
                <a:latin typeface="Bitter Medium" pitchFamily="34" charset="0"/>
                <a:ea typeface="Bitter Medium" pitchFamily="34" charset="-122"/>
                <a:cs typeface="Bitter Medium" pitchFamily="34" charset="-120"/>
              </a:rPr>
              <a:t>Number of nodes</a:t>
            </a:r>
            <a:endParaRPr lang="en-US" sz="1250" dirty="0"/>
          </a:p>
        </p:txBody>
      </p:sp>
      <p:sp>
        <p:nvSpPr>
          <p:cNvPr id="12" name="Text 10"/>
          <p:cNvSpPr/>
          <p:nvPr/>
        </p:nvSpPr>
        <p:spPr>
          <a:xfrm>
            <a:off x="609005" y="3507224"/>
            <a:ext cx="4186595" cy="422434"/>
          </a:xfrm>
          <a:prstGeom prst="rect">
            <a:avLst/>
          </a:prstGeom>
          <a:noFill/>
        </p:spPr>
        <p:txBody>
          <a:bodyPr wrap="square" lIns="0" tIns="0" rIns="0" bIns="0" rtlCol="0" anchor="t"/>
          <a:lstStyle/>
          <a:p>
            <a:pPr marL="0" indent="0" algn="l">
              <a:lnSpc>
                <a:spcPts val="1650"/>
              </a:lnSpc>
              <a:buNone/>
            </a:pPr>
            <a:r>
              <a:rPr lang="en-US" sz="1000" dirty="0">
                <a:solidFill>
                  <a:srgbClr val="2B2E3C"/>
                </a:solidFill>
                <a:latin typeface="Open Sans" pitchFamily="34" charset="0"/>
                <a:ea typeface="Open Sans" pitchFamily="34" charset="-122"/>
                <a:cs typeface="Open Sans" pitchFamily="34" charset="-120"/>
              </a:rPr>
              <a:t>This line determines the total number of vertices in the graph, which is essential for sizing our data structures correctly.</a:t>
            </a:r>
            <a:endParaRPr lang="en-US" sz="1000" dirty="0"/>
          </a:p>
        </p:txBody>
      </p:sp>
      <p:sp>
        <p:nvSpPr>
          <p:cNvPr id="13" name="Shape 11"/>
          <p:cNvSpPr/>
          <p:nvPr/>
        </p:nvSpPr>
        <p:spPr>
          <a:xfrm>
            <a:off x="609005" y="4078129"/>
            <a:ext cx="4186595" cy="409099"/>
          </a:xfrm>
          <a:prstGeom prst="roundRect">
            <a:avLst>
              <a:gd name="adj" fmla="val 13550"/>
            </a:avLst>
          </a:prstGeom>
          <a:solidFill>
            <a:srgbClr val="F2EBE3"/>
          </a:solidFill>
        </p:spPr>
      </p:sp>
      <p:sp>
        <p:nvSpPr>
          <p:cNvPr id="14" name="Shape 12"/>
          <p:cNvSpPr/>
          <p:nvPr/>
        </p:nvSpPr>
        <p:spPr>
          <a:xfrm>
            <a:off x="602456" y="4078129"/>
            <a:ext cx="4199692" cy="409099"/>
          </a:xfrm>
          <a:prstGeom prst="roundRect">
            <a:avLst>
              <a:gd name="adj" fmla="val 4839"/>
            </a:avLst>
          </a:prstGeom>
          <a:solidFill>
            <a:srgbClr val="F2EBE3"/>
          </a:solidFill>
        </p:spPr>
      </p:sp>
      <p:sp>
        <p:nvSpPr>
          <p:cNvPr id="15" name="Text 13"/>
          <p:cNvSpPr/>
          <p:nvPr/>
        </p:nvSpPr>
        <p:spPr>
          <a:xfrm>
            <a:off x="734378" y="4177070"/>
            <a:ext cx="3935849" cy="211217"/>
          </a:xfrm>
          <a:prstGeom prst="rect">
            <a:avLst/>
          </a:prstGeom>
          <a:noFill/>
        </p:spPr>
        <p:txBody>
          <a:bodyPr wrap="none" lIns="0" tIns="0" rIns="0" bIns="0" rtlCol="0" anchor="t"/>
          <a:lstStyle/>
          <a:p>
            <a:pPr marL="0" indent="0" algn="l">
              <a:lnSpc>
                <a:spcPts val="1650"/>
              </a:lnSpc>
              <a:buNone/>
            </a:pPr>
            <a:r>
              <a:rPr lang="en-US" sz="1000" dirty="0">
                <a:solidFill>
                  <a:srgbClr val="2B2E3C"/>
                </a:solidFill>
                <a:highlight>
                  <a:srgbClr val="F2EBE3"/>
                </a:highlight>
                <a:latin typeface="Consolas" pitchFamily="34" charset="0"/>
                <a:ea typeface="Consolas" pitchFamily="34" charset="-122"/>
                <a:cs typeface="Consolas" pitchFamily="34" charset="-120"/>
              </a:rPr>
              <a:t>int n = graph.size();</a:t>
            </a:r>
            <a:endParaRPr lang="en-US" sz="1000" dirty="0"/>
          </a:p>
        </p:txBody>
      </p:sp>
      <p:sp>
        <p:nvSpPr>
          <p:cNvPr id="16" name="Shape 14"/>
          <p:cNvSpPr/>
          <p:nvPr/>
        </p:nvSpPr>
        <p:spPr>
          <a:xfrm>
            <a:off x="5074682" y="2891909"/>
            <a:ext cx="4480917" cy="2798564"/>
          </a:xfrm>
          <a:prstGeom prst="roundRect">
            <a:avLst>
              <a:gd name="adj" fmla="val 2614"/>
            </a:avLst>
          </a:prstGeom>
          <a:solidFill>
            <a:srgbClr val="FFF8F0"/>
          </a:solidFill>
        </p:spPr>
      </p:sp>
      <p:sp>
        <p:nvSpPr>
          <p:cNvPr id="17" name="Shape 15"/>
          <p:cNvSpPr/>
          <p:nvPr/>
        </p:nvSpPr>
        <p:spPr>
          <a:xfrm>
            <a:off x="5074682" y="2876669"/>
            <a:ext cx="4480917" cy="60960"/>
          </a:xfrm>
          <a:prstGeom prst="roundRect">
            <a:avLst>
              <a:gd name="adj" fmla="val 90935"/>
            </a:avLst>
          </a:prstGeom>
          <a:solidFill>
            <a:srgbClr val="D2600F"/>
          </a:solidFill>
        </p:spPr>
      </p:sp>
      <p:sp>
        <p:nvSpPr>
          <p:cNvPr id="18" name="Shape 16"/>
          <p:cNvSpPr/>
          <p:nvPr/>
        </p:nvSpPr>
        <p:spPr>
          <a:xfrm>
            <a:off x="7117140" y="2694027"/>
            <a:ext cx="395883" cy="395883"/>
          </a:xfrm>
          <a:prstGeom prst="roundRect">
            <a:avLst>
              <a:gd name="adj" fmla="val 230977"/>
            </a:avLst>
          </a:prstGeom>
          <a:solidFill>
            <a:srgbClr val="D2600F"/>
          </a:solidFill>
        </p:spPr>
      </p:sp>
      <p:sp>
        <p:nvSpPr>
          <p:cNvPr id="19" name="Text 17"/>
          <p:cNvSpPr/>
          <p:nvPr/>
        </p:nvSpPr>
        <p:spPr>
          <a:xfrm>
            <a:off x="7235845" y="2792968"/>
            <a:ext cx="158353" cy="197882"/>
          </a:xfrm>
          <a:prstGeom prst="rect">
            <a:avLst/>
          </a:prstGeom>
          <a:noFill/>
        </p:spPr>
        <p:txBody>
          <a:bodyPr wrap="none" lIns="0" tIns="0" rIns="0" bIns="0" rtlCol="0" anchor="t"/>
          <a:lstStyle/>
          <a:p>
            <a:pPr marL="0" indent="0" algn="l">
              <a:lnSpc>
                <a:spcPts val="1950"/>
              </a:lnSpc>
              <a:buNone/>
            </a:pPr>
            <a:r>
              <a:rPr lang="en-US" sz="1200" dirty="0">
                <a:solidFill>
                  <a:srgbClr val="FFFFFF"/>
                </a:solidFill>
                <a:latin typeface="Bitter Medium" pitchFamily="34" charset="0"/>
                <a:ea typeface="Bitter Medium" pitchFamily="34" charset="-122"/>
                <a:cs typeface="Bitter Medium" pitchFamily="34" charset="-120"/>
              </a:rPr>
              <a:t>2</a:t>
            </a:r>
            <a:endParaRPr lang="en-US" sz="1200" dirty="0"/>
          </a:p>
        </p:txBody>
      </p:sp>
      <p:sp>
        <p:nvSpPr>
          <p:cNvPr id="20" name="Text 18"/>
          <p:cNvSpPr/>
          <p:nvPr/>
        </p:nvSpPr>
        <p:spPr>
          <a:xfrm>
            <a:off x="5221843" y="3221831"/>
            <a:ext cx="1880711" cy="206216"/>
          </a:xfrm>
          <a:prstGeom prst="rect">
            <a:avLst/>
          </a:prstGeom>
          <a:noFill/>
        </p:spPr>
        <p:txBody>
          <a:bodyPr wrap="none" lIns="0" tIns="0" rIns="0" bIns="0" rtlCol="0" anchor="t"/>
          <a:lstStyle/>
          <a:p>
            <a:pPr marL="0" indent="0" algn="l">
              <a:lnSpc>
                <a:spcPts val="1600"/>
              </a:lnSpc>
              <a:buNone/>
            </a:pPr>
            <a:r>
              <a:rPr lang="en-US" sz="1250" dirty="0">
                <a:solidFill>
                  <a:srgbClr val="2B2E3C"/>
                </a:solidFill>
                <a:latin typeface="Bitter Medium" pitchFamily="34" charset="0"/>
                <a:ea typeface="Bitter Medium" pitchFamily="34" charset="-122"/>
                <a:cs typeface="Bitter Medium" pitchFamily="34" charset="-120"/>
              </a:rPr>
              <a:t>Distance &amp; parent arrays</a:t>
            </a:r>
            <a:endParaRPr lang="en-US" sz="1250" dirty="0"/>
          </a:p>
        </p:txBody>
      </p:sp>
      <p:sp>
        <p:nvSpPr>
          <p:cNvPr id="21" name="Text 19"/>
          <p:cNvSpPr/>
          <p:nvPr/>
        </p:nvSpPr>
        <p:spPr>
          <a:xfrm>
            <a:off x="5221843" y="3507224"/>
            <a:ext cx="4186595" cy="844868"/>
          </a:xfrm>
          <a:prstGeom prst="rect">
            <a:avLst/>
          </a:prstGeom>
          <a:noFill/>
        </p:spPr>
        <p:txBody>
          <a:bodyPr wrap="square" lIns="0" tIns="0" rIns="0" bIns="0" rtlCol="0" anchor="t"/>
          <a:lstStyle/>
          <a:p>
            <a:pPr marL="0" indent="0" algn="l">
              <a:lnSpc>
                <a:spcPts val="1650"/>
              </a:lnSpc>
              <a:buNone/>
            </a:pPr>
            <a:r>
              <a:rPr lang="en-US" sz="1000" dirty="0">
                <a:solidFill>
                  <a:srgbClr val="2B2E3C"/>
                </a:solidFill>
                <a:latin typeface="Open Sans" pitchFamily="34" charset="0"/>
                <a:ea typeface="Open Sans" pitchFamily="34" charset="-122"/>
                <a:cs typeface="Open Sans" pitchFamily="34" charset="-120"/>
              </a:rPr>
              <a:t>The </a:t>
            </a:r>
            <a:r>
              <a:rPr lang="en-US" sz="1000" dirty="0">
                <a:solidFill>
                  <a:srgbClr val="2B2E3C"/>
                </a:solidFill>
                <a:highlight>
                  <a:srgbClr val="F2EBE3"/>
                </a:highlight>
                <a:latin typeface="Consolas" pitchFamily="34" charset="0"/>
                <a:ea typeface="Consolas" pitchFamily="34" charset="-122"/>
                <a:cs typeface="Consolas" pitchFamily="34" charset="-120"/>
              </a:rPr>
              <a:t>dist</a:t>
            </a:r>
            <a:r>
              <a:rPr lang="en-US" sz="1000" dirty="0">
                <a:solidFill>
                  <a:srgbClr val="2B2E3C"/>
                </a:solidFill>
                <a:latin typeface="Open Sans" pitchFamily="34" charset="0"/>
                <a:ea typeface="Open Sans" pitchFamily="34" charset="-122"/>
                <a:cs typeface="Open Sans" pitchFamily="34" charset="-120"/>
              </a:rPr>
              <a:t> array stores the shortest known distance from the starting node to each other node, initialized to a very large value (</a:t>
            </a:r>
            <a:r>
              <a:rPr lang="en-US" sz="1000" dirty="0">
                <a:solidFill>
                  <a:srgbClr val="2B2E3C"/>
                </a:solidFill>
                <a:highlight>
                  <a:srgbClr val="F2EBE3"/>
                </a:highlight>
                <a:latin typeface="Consolas" pitchFamily="34" charset="0"/>
                <a:ea typeface="Consolas" pitchFamily="34" charset="-122"/>
                <a:cs typeface="Consolas" pitchFamily="34" charset="-120"/>
              </a:rPr>
              <a:t>INF</a:t>
            </a:r>
            <a:r>
              <a:rPr lang="en-US" sz="1000" dirty="0">
                <a:solidFill>
                  <a:srgbClr val="2B2E3C"/>
                </a:solidFill>
                <a:latin typeface="Open Sans" pitchFamily="34" charset="0"/>
                <a:ea typeface="Open Sans" pitchFamily="34" charset="-122"/>
                <a:cs typeface="Open Sans" pitchFamily="34" charset="-120"/>
              </a:rPr>
              <a:t>). The </a:t>
            </a:r>
            <a:r>
              <a:rPr lang="en-US" sz="1000" dirty="0">
                <a:solidFill>
                  <a:srgbClr val="2B2E3C"/>
                </a:solidFill>
                <a:highlight>
                  <a:srgbClr val="F2EBE3"/>
                </a:highlight>
                <a:latin typeface="Consolas" pitchFamily="34" charset="0"/>
                <a:ea typeface="Consolas" pitchFamily="34" charset="-122"/>
                <a:cs typeface="Consolas" pitchFamily="34" charset="-120"/>
              </a:rPr>
              <a:t>parent</a:t>
            </a:r>
            <a:r>
              <a:rPr lang="en-US" sz="1000" dirty="0">
                <a:solidFill>
                  <a:srgbClr val="2B2E3C"/>
                </a:solidFill>
                <a:latin typeface="Open Sans" pitchFamily="34" charset="0"/>
                <a:ea typeface="Open Sans" pitchFamily="34" charset="-122"/>
                <a:cs typeface="Open Sans" pitchFamily="34" charset="-120"/>
              </a:rPr>
              <a:t> array helps reconstruct the shortest path by storing the predecessor of each node.</a:t>
            </a:r>
            <a:endParaRPr lang="en-US" sz="1000" dirty="0"/>
          </a:p>
        </p:txBody>
      </p:sp>
      <p:sp>
        <p:nvSpPr>
          <p:cNvPr id="22" name="Shape 20"/>
          <p:cNvSpPr/>
          <p:nvPr/>
        </p:nvSpPr>
        <p:spPr>
          <a:xfrm>
            <a:off x="5221843" y="4500563"/>
            <a:ext cx="4186595" cy="620316"/>
          </a:xfrm>
          <a:prstGeom prst="roundRect">
            <a:avLst>
              <a:gd name="adj" fmla="val 8936"/>
            </a:avLst>
          </a:prstGeom>
          <a:solidFill>
            <a:srgbClr val="F2EBE3"/>
          </a:solidFill>
        </p:spPr>
      </p:sp>
      <p:sp>
        <p:nvSpPr>
          <p:cNvPr id="23" name="Shape 21"/>
          <p:cNvSpPr/>
          <p:nvPr/>
        </p:nvSpPr>
        <p:spPr>
          <a:xfrm>
            <a:off x="5215295" y="4500563"/>
            <a:ext cx="4199692" cy="620316"/>
          </a:xfrm>
          <a:prstGeom prst="roundRect">
            <a:avLst>
              <a:gd name="adj" fmla="val 3192"/>
            </a:avLst>
          </a:prstGeom>
          <a:solidFill>
            <a:srgbClr val="F2EBE3"/>
          </a:solidFill>
        </p:spPr>
      </p:sp>
      <p:sp>
        <p:nvSpPr>
          <p:cNvPr id="24" name="Text 22"/>
          <p:cNvSpPr/>
          <p:nvPr/>
        </p:nvSpPr>
        <p:spPr>
          <a:xfrm>
            <a:off x="5347216" y="4599503"/>
            <a:ext cx="3935849" cy="422434"/>
          </a:xfrm>
          <a:prstGeom prst="rect">
            <a:avLst/>
          </a:prstGeom>
          <a:noFill/>
        </p:spPr>
        <p:txBody>
          <a:bodyPr wrap="square" lIns="0" tIns="0" rIns="0" bIns="0" rtlCol="0" anchor="t"/>
          <a:lstStyle/>
          <a:p>
            <a:pPr marL="0" indent="0" algn="l">
              <a:lnSpc>
                <a:spcPts val="1650"/>
              </a:lnSpc>
              <a:buNone/>
            </a:pPr>
            <a:r>
              <a:rPr lang="en-US" sz="1000" dirty="0">
                <a:solidFill>
                  <a:srgbClr val="2B2E3C"/>
                </a:solidFill>
                <a:highlight>
                  <a:srgbClr val="F2EBE3"/>
                </a:highlight>
                <a:latin typeface="Consolas" pitchFamily="34" charset="0"/>
                <a:ea typeface="Consolas" pitchFamily="34" charset="-122"/>
                <a:cs typeface="Consolas" pitchFamily="34" charset="-120"/>
              </a:rPr>
              <a:t>// Assume INF is defined as std::numeric_limits&lt;int&gt;::max()</a:t>
            </a:r>
            <a:endParaRPr lang="en-US" sz="1000" dirty="0"/>
          </a:p>
          <a:p>
            <a:pPr marL="0" indent="0" algn="l">
              <a:lnSpc>
                <a:spcPts val="1650"/>
              </a:lnSpc>
              <a:buNone/>
            </a:pPr>
            <a:r>
              <a:rPr lang="en-US" sz="1000" dirty="0">
                <a:solidFill>
                  <a:srgbClr val="2B2E3C"/>
                </a:solidFill>
                <a:highlight>
                  <a:srgbClr val="F2EBE3"/>
                </a:highlight>
                <a:latin typeface="Consolas" pitchFamily="34" charset="0"/>
                <a:ea typeface="Consolas" pitchFamily="34" charset="-122"/>
                <a:cs typeface="Consolas" pitchFamily="34" charset="-120"/>
              </a:rPr>
              <a:t>vector&lt;int&gt; dist(n, INF), parent(n, -1);</a:t>
            </a:r>
            <a:endParaRPr lang="en-US" sz="1000" dirty="0"/>
          </a:p>
        </p:txBody>
      </p:sp>
      <p:sp>
        <p:nvSpPr>
          <p:cNvPr id="25" name="Shape 23"/>
          <p:cNvSpPr/>
          <p:nvPr/>
        </p:nvSpPr>
        <p:spPr>
          <a:xfrm>
            <a:off x="9687520" y="2891909"/>
            <a:ext cx="4480917" cy="2798564"/>
          </a:xfrm>
          <a:prstGeom prst="roundRect">
            <a:avLst>
              <a:gd name="adj" fmla="val 2614"/>
            </a:avLst>
          </a:prstGeom>
          <a:solidFill>
            <a:srgbClr val="FFF8F0"/>
          </a:solidFill>
        </p:spPr>
      </p:sp>
      <p:sp>
        <p:nvSpPr>
          <p:cNvPr id="26" name="Shape 24"/>
          <p:cNvSpPr/>
          <p:nvPr/>
        </p:nvSpPr>
        <p:spPr>
          <a:xfrm>
            <a:off x="9687520" y="2876669"/>
            <a:ext cx="4480917" cy="60960"/>
          </a:xfrm>
          <a:prstGeom prst="roundRect">
            <a:avLst>
              <a:gd name="adj" fmla="val 90935"/>
            </a:avLst>
          </a:prstGeom>
          <a:solidFill>
            <a:srgbClr val="D2600F"/>
          </a:solidFill>
        </p:spPr>
      </p:sp>
      <p:sp>
        <p:nvSpPr>
          <p:cNvPr id="27" name="Shape 25"/>
          <p:cNvSpPr/>
          <p:nvPr/>
        </p:nvSpPr>
        <p:spPr>
          <a:xfrm>
            <a:off x="11729978" y="2694027"/>
            <a:ext cx="395883" cy="395883"/>
          </a:xfrm>
          <a:prstGeom prst="roundRect">
            <a:avLst>
              <a:gd name="adj" fmla="val 230977"/>
            </a:avLst>
          </a:prstGeom>
          <a:solidFill>
            <a:srgbClr val="D2600F"/>
          </a:solidFill>
        </p:spPr>
      </p:sp>
      <p:sp>
        <p:nvSpPr>
          <p:cNvPr id="28" name="Text 26"/>
          <p:cNvSpPr/>
          <p:nvPr/>
        </p:nvSpPr>
        <p:spPr>
          <a:xfrm>
            <a:off x="11848683" y="2792968"/>
            <a:ext cx="158353" cy="197882"/>
          </a:xfrm>
          <a:prstGeom prst="rect">
            <a:avLst/>
          </a:prstGeom>
          <a:noFill/>
        </p:spPr>
        <p:txBody>
          <a:bodyPr wrap="none" lIns="0" tIns="0" rIns="0" bIns="0" rtlCol="0" anchor="t"/>
          <a:lstStyle/>
          <a:p>
            <a:pPr marL="0" indent="0" algn="l">
              <a:lnSpc>
                <a:spcPts val="1950"/>
              </a:lnSpc>
              <a:buNone/>
            </a:pPr>
            <a:r>
              <a:rPr lang="en-US" sz="1200" dirty="0">
                <a:solidFill>
                  <a:srgbClr val="FFFFFF"/>
                </a:solidFill>
                <a:latin typeface="Bitter Medium" pitchFamily="34" charset="0"/>
                <a:ea typeface="Bitter Medium" pitchFamily="34" charset="-122"/>
                <a:cs typeface="Bitter Medium" pitchFamily="34" charset="-120"/>
              </a:rPr>
              <a:t>3</a:t>
            </a:r>
            <a:endParaRPr lang="en-US" sz="1200" dirty="0"/>
          </a:p>
        </p:txBody>
      </p:sp>
      <p:sp>
        <p:nvSpPr>
          <p:cNvPr id="29" name="Text 27"/>
          <p:cNvSpPr/>
          <p:nvPr/>
        </p:nvSpPr>
        <p:spPr>
          <a:xfrm>
            <a:off x="9834682" y="3221831"/>
            <a:ext cx="1893808" cy="206216"/>
          </a:xfrm>
          <a:prstGeom prst="rect">
            <a:avLst/>
          </a:prstGeom>
          <a:noFill/>
        </p:spPr>
        <p:txBody>
          <a:bodyPr wrap="none" lIns="0" tIns="0" rIns="0" bIns="0" rtlCol="0" anchor="t"/>
          <a:lstStyle/>
          <a:p>
            <a:pPr marL="0" indent="0" algn="l">
              <a:lnSpc>
                <a:spcPts val="1600"/>
              </a:lnSpc>
              <a:buNone/>
            </a:pPr>
            <a:r>
              <a:rPr lang="en-US" sz="1250" dirty="0">
                <a:solidFill>
                  <a:srgbClr val="2B2E3C"/>
                </a:solidFill>
                <a:latin typeface="Bitter Medium" pitchFamily="34" charset="0"/>
                <a:ea typeface="Bitter Medium" pitchFamily="34" charset="-122"/>
                <a:cs typeface="Bitter Medium" pitchFamily="34" charset="-120"/>
              </a:rPr>
              <a:t>Min-heap priority queue</a:t>
            </a:r>
            <a:endParaRPr lang="en-US" sz="1250" dirty="0"/>
          </a:p>
        </p:txBody>
      </p:sp>
      <p:sp>
        <p:nvSpPr>
          <p:cNvPr id="30" name="Text 28"/>
          <p:cNvSpPr/>
          <p:nvPr/>
        </p:nvSpPr>
        <p:spPr>
          <a:xfrm>
            <a:off x="9834682" y="3507224"/>
            <a:ext cx="4186595" cy="844868"/>
          </a:xfrm>
          <a:prstGeom prst="rect">
            <a:avLst/>
          </a:prstGeom>
          <a:noFill/>
        </p:spPr>
        <p:txBody>
          <a:bodyPr wrap="square" lIns="0" tIns="0" rIns="0" bIns="0" rtlCol="0" anchor="t"/>
          <a:lstStyle/>
          <a:p>
            <a:pPr marL="0" indent="0" algn="l">
              <a:lnSpc>
                <a:spcPts val="1650"/>
              </a:lnSpc>
              <a:buNone/>
            </a:pPr>
            <a:r>
              <a:rPr lang="en-US" sz="1000" dirty="0">
                <a:solidFill>
                  <a:srgbClr val="2B2E3C"/>
                </a:solidFill>
                <a:latin typeface="Open Sans" pitchFamily="34" charset="0"/>
                <a:ea typeface="Open Sans" pitchFamily="34" charset="-122"/>
                <a:cs typeface="Open Sans" pitchFamily="34" charset="-120"/>
              </a:rPr>
              <a:t>This priority queue is crucial for Dijkstra's. It stores pairs of </a:t>
            </a:r>
            <a:r>
              <a:rPr lang="en-US" sz="1000" dirty="0">
                <a:solidFill>
                  <a:srgbClr val="2B2E3C"/>
                </a:solidFill>
                <a:highlight>
                  <a:srgbClr val="F2EBE3"/>
                </a:highlight>
                <a:latin typeface="Consolas" pitchFamily="34" charset="0"/>
                <a:ea typeface="Consolas" pitchFamily="34" charset="-122"/>
                <a:cs typeface="Consolas" pitchFamily="34" charset="-120"/>
              </a:rPr>
              <a:t>{distance, node}</a:t>
            </a:r>
            <a:r>
              <a:rPr lang="en-US" sz="1000" dirty="0">
                <a:solidFill>
                  <a:srgbClr val="2B2E3C"/>
                </a:solidFill>
                <a:latin typeface="Open Sans" pitchFamily="34" charset="0"/>
                <a:ea typeface="Open Sans" pitchFamily="34" charset="-122"/>
                <a:cs typeface="Open Sans" pitchFamily="34" charset="-120"/>
              </a:rPr>
              <a:t>, always ensuring that the node with the smallest current distance is extracted first, which is fundamental to the algorithm's correctness.</a:t>
            </a:r>
            <a:endParaRPr lang="en-US" sz="1000" dirty="0"/>
          </a:p>
        </p:txBody>
      </p:sp>
      <p:sp>
        <p:nvSpPr>
          <p:cNvPr id="31" name="Shape 29"/>
          <p:cNvSpPr/>
          <p:nvPr/>
        </p:nvSpPr>
        <p:spPr>
          <a:xfrm>
            <a:off x="9834682" y="4500563"/>
            <a:ext cx="4186595" cy="1042749"/>
          </a:xfrm>
          <a:prstGeom prst="roundRect">
            <a:avLst>
              <a:gd name="adj" fmla="val 5316"/>
            </a:avLst>
          </a:prstGeom>
          <a:solidFill>
            <a:srgbClr val="F2EBE3"/>
          </a:solidFill>
        </p:spPr>
      </p:sp>
      <p:sp>
        <p:nvSpPr>
          <p:cNvPr id="32" name="Shape 30"/>
          <p:cNvSpPr/>
          <p:nvPr/>
        </p:nvSpPr>
        <p:spPr>
          <a:xfrm>
            <a:off x="9828133" y="4500563"/>
            <a:ext cx="4199692" cy="1042749"/>
          </a:xfrm>
          <a:prstGeom prst="roundRect">
            <a:avLst>
              <a:gd name="adj" fmla="val 1899"/>
            </a:avLst>
          </a:prstGeom>
          <a:solidFill>
            <a:srgbClr val="F2EBE3"/>
          </a:solidFill>
        </p:spPr>
      </p:sp>
      <p:sp>
        <p:nvSpPr>
          <p:cNvPr id="33" name="Text 31"/>
          <p:cNvSpPr/>
          <p:nvPr/>
        </p:nvSpPr>
        <p:spPr>
          <a:xfrm>
            <a:off x="9960054" y="4599503"/>
            <a:ext cx="3935849" cy="844868"/>
          </a:xfrm>
          <a:prstGeom prst="rect">
            <a:avLst/>
          </a:prstGeom>
          <a:noFill/>
        </p:spPr>
        <p:txBody>
          <a:bodyPr wrap="square" lIns="0" tIns="0" rIns="0" bIns="0" rtlCol="0" anchor="t"/>
          <a:lstStyle/>
          <a:p>
            <a:pPr marL="0" indent="0" algn="l">
              <a:lnSpc>
                <a:spcPts val="1650"/>
              </a:lnSpc>
              <a:buNone/>
            </a:pPr>
            <a:r>
              <a:rPr lang="en-US" sz="1000" dirty="0">
                <a:solidFill>
                  <a:srgbClr val="2B2E3C"/>
                </a:solidFill>
                <a:highlight>
                  <a:srgbClr val="F2EBE3"/>
                </a:highlight>
                <a:latin typeface="Consolas" pitchFamily="34" charset="0"/>
                <a:ea typeface="Consolas" pitchFamily="34" charset="-122"/>
                <a:cs typeface="Consolas" pitchFamily="34" charset="-120"/>
              </a:rPr>
              <a:t>// std::greater makes it a min-heap</a:t>
            </a:r>
            <a:endParaRPr lang="en-US" sz="1000" dirty="0"/>
          </a:p>
          <a:p>
            <a:pPr marL="0" indent="0" algn="l">
              <a:lnSpc>
                <a:spcPts val="1650"/>
              </a:lnSpc>
              <a:buNone/>
            </a:pPr>
            <a:r>
              <a:rPr lang="en-US" sz="1000" dirty="0">
                <a:solidFill>
                  <a:srgbClr val="2B2E3C"/>
                </a:solidFill>
                <a:highlight>
                  <a:srgbClr val="F2EBE3"/>
                </a:highlight>
                <a:latin typeface="Consolas" pitchFamily="34" charset="0"/>
                <a:ea typeface="Consolas" pitchFamily="34" charset="-122"/>
                <a:cs typeface="Consolas" pitchFamily="34" charset="-120"/>
              </a:rPr>
              <a:t>priority_queue&lt;pair&lt;int, int&gt;, </a:t>
            </a:r>
            <a:endParaRPr lang="en-US" sz="1000" dirty="0"/>
          </a:p>
          <a:p>
            <a:pPr marL="0" indent="0" algn="l">
              <a:lnSpc>
                <a:spcPts val="1650"/>
              </a:lnSpc>
              <a:buNone/>
            </a:pPr>
            <a:r>
              <a:rPr lang="en-US" sz="1000" dirty="0">
                <a:solidFill>
                  <a:srgbClr val="2B2E3C"/>
                </a:solidFill>
                <a:highlight>
                  <a:srgbClr val="F2EBE3"/>
                </a:highlight>
                <a:latin typeface="Consolas" pitchFamily="34" charset="0"/>
                <a:ea typeface="Consolas" pitchFamily="34" charset="-122"/>
                <a:cs typeface="Consolas" pitchFamily="34" charset="-120"/>
              </a:rPr>
              <a:t>             vector&lt;pair&lt;int, int&gt;&gt;, </a:t>
            </a:r>
            <a:endParaRPr lang="en-US" sz="1000" dirty="0"/>
          </a:p>
          <a:p>
            <a:pPr marL="0" indent="0" algn="l">
              <a:lnSpc>
                <a:spcPts val="1650"/>
              </a:lnSpc>
              <a:buNone/>
            </a:pPr>
            <a:r>
              <a:rPr lang="en-US" sz="1000" dirty="0">
                <a:solidFill>
                  <a:srgbClr val="2B2E3C"/>
                </a:solidFill>
                <a:highlight>
                  <a:srgbClr val="F2EBE3"/>
                </a:highlight>
                <a:latin typeface="Consolas" pitchFamily="34" charset="0"/>
                <a:ea typeface="Consolas" pitchFamily="34" charset="-122"/>
                <a:cs typeface="Consolas" pitchFamily="34" charset="-120"/>
              </a:rPr>
              <a:t>             greater&lt;pair&lt;int, int&gt;&gt;&gt; pq;</a:t>
            </a:r>
            <a:endParaRPr lang="en-US" sz="1000" dirty="0"/>
          </a:p>
        </p:txBody>
      </p:sp>
      <p:sp>
        <p:nvSpPr>
          <p:cNvPr id="34" name="Shape 32"/>
          <p:cNvSpPr/>
          <p:nvPr/>
        </p:nvSpPr>
        <p:spPr>
          <a:xfrm>
            <a:off x="461843" y="6020276"/>
            <a:ext cx="13706594" cy="1742480"/>
          </a:xfrm>
          <a:prstGeom prst="roundRect">
            <a:avLst>
              <a:gd name="adj" fmla="val 4198"/>
            </a:avLst>
          </a:prstGeom>
          <a:solidFill>
            <a:srgbClr val="FFF8F0"/>
          </a:solidFill>
        </p:spPr>
      </p:sp>
      <p:sp>
        <p:nvSpPr>
          <p:cNvPr id="35" name="Shape 33"/>
          <p:cNvSpPr/>
          <p:nvPr/>
        </p:nvSpPr>
        <p:spPr>
          <a:xfrm>
            <a:off x="461843" y="6005036"/>
            <a:ext cx="13706594" cy="60960"/>
          </a:xfrm>
          <a:prstGeom prst="roundRect">
            <a:avLst>
              <a:gd name="adj" fmla="val 90935"/>
            </a:avLst>
          </a:prstGeom>
          <a:solidFill>
            <a:srgbClr val="D2600F"/>
          </a:solidFill>
        </p:spPr>
      </p:sp>
      <p:sp>
        <p:nvSpPr>
          <p:cNvPr id="36" name="Shape 34"/>
          <p:cNvSpPr/>
          <p:nvPr/>
        </p:nvSpPr>
        <p:spPr>
          <a:xfrm>
            <a:off x="7117140" y="5822394"/>
            <a:ext cx="395883" cy="395883"/>
          </a:xfrm>
          <a:prstGeom prst="roundRect">
            <a:avLst>
              <a:gd name="adj" fmla="val 230977"/>
            </a:avLst>
          </a:prstGeom>
          <a:solidFill>
            <a:srgbClr val="D2600F"/>
          </a:solidFill>
        </p:spPr>
      </p:sp>
      <p:sp>
        <p:nvSpPr>
          <p:cNvPr id="37" name="Text 35"/>
          <p:cNvSpPr/>
          <p:nvPr/>
        </p:nvSpPr>
        <p:spPr>
          <a:xfrm>
            <a:off x="7235845" y="5921335"/>
            <a:ext cx="158353" cy="197882"/>
          </a:xfrm>
          <a:prstGeom prst="rect">
            <a:avLst/>
          </a:prstGeom>
          <a:noFill/>
        </p:spPr>
        <p:txBody>
          <a:bodyPr wrap="none" lIns="0" tIns="0" rIns="0" bIns="0" rtlCol="0" anchor="t"/>
          <a:lstStyle/>
          <a:p>
            <a:pPr marL="0" indent="0" algn="l">
              <a:lnSpc>
                <a:spcPts val="1950"/>
              </a:lnSpc>
              <a:buNone/>
            </a:pPr>
            <a:r>
              <a:rPr lang="en-US" sz="1200" dirty="0">
                <a:solidFill>
                  <a:srgbClr val="FFFFFF"/>
                </a:solidFill>
                <a:latin typeface="Bitter Medium" pitchFamily="34" charset="0"/>
                <a:ea typeface="Bitter Medium" pitchFamily="34" charset="-122"/>
                <a:cs typeface="Bitter Medium" pitchFamily="34" charset="-120"/>
              </a:rPr>
              <a:t>4</a:t>
            </a:r>
            <a:endParaRPr lang="en-US" sz="1200" dirty="0"/>
          </a:p>
        </p:txBody>
      </p:sp>
      <p:sp>
        <p:nvSpPr>
          <p:cNvPr id="38" name="Text 36"/>
          <p:cNvSpPr/>
          <p:nvPr/>
        </p:nvSpPr>
        <p:spPr>
          <a:xfrm>
            <a:off x="609005" y="6350198"/>
            <a:ext cx="1750814" cy="206216"/>
          </a:xfrm>
          <a:prstGeom prst="rect">
            <a:avLst/>
          </a:prstGeom>
          <a:noFill/>
        </p:spPr>
        <p:txBody>
          <a:bodyPr wrap="none" lIns="0" tIns="0" rIns="0" bIns="0" rtlCol="0" anchor="t"/>
          <a:lstStyle/>
          <a:p>
            <a:pPr marL="0" indent="0" algn="l">
              <a:lnSpc>
                <a:spcPts val="1600"/>
              </a:lnSpc>
              <a:buNone/>
            </a:pPr>
            <a:r>
              <a:rPr lang="en-US" sz="1250" dirty="0">
                <a:solidFill>
                  <a:srgbClr val="2B2E3C"/>
                </a:solidFill>
                <a:latin typeface="Bitter Medium" pitchFamily="34" charset="0"/>
                <a:ea typeface="Bitter Medium" pitchFamily="34" charset="-122"/>
                <a:cs typeface="Bitter Medium" pitchFamily="34" charset="-120"/>
              </a:rPr>
              <a:t>Initialize starting node</a:t>
            </a:r>
            <a:endParaRPr lang="en-US" sz="1250" dirty="0"/>
          </a:p>
        </p:txBody>
      </p:sp>
      <p:sp>
        <p:nvSpPr>
          <p:cNvPr id="39" name="Text 37"/>
          <p:cNvSpPr/>
          <p:nvPr/>
        </p:nvSpPr>
        <p:spPr>
          <a:xfrm>
            <a:off x="609005" y="6635591"/>
            <a:ext cx="13412272" cy="211217"/>
          </a:xfrm>
          <a:prstGeom prst="rect">
            <a:avLst/>
          </a:prstGeom>
          <a:noFill/>
        </p:spPr>
        <p:txBody>
          <a:bodyPr wrap="none" lIns="0" tIns="0" rIns="0" bIns="0" rtlCol="0" anchor="t"/>
          <a:lstStyle/>
          <a:p>
            <a:pPr marL="0" indent="0" algn="l">
              <a:lnSpc>
                <a:spcPts val="1650"/>
              </a:lnSpc>
              <a:buNone/>
            </a:pPr>
            <a:r>
              <a:rPr lang="en-US" sz="1000" dirty="0">
                <a:solidFill>
                  <a:srgbClr val="2B2E3C"/>
                </a:solidFill>
                <a:latin typeface="Open Sans" pitchFamily="34" charset="0"/>
                <a:ea typeface="Open Sans" pitchFamily="34" charset="-122"/>
                <a:cs typeface="Open Sans" pitchFamily="34" charset="-120"/>
              </a:rPr>
              <a:t>The distance to the starting node from itself is zero. This node is then pushed into the priority queue to begin the exploration.</a:t>
            </a:r>
            <a:endParaRPr lang="en-US" sz="1000" dirty="0"/>
          </a:p>
        </p:txBody>
      </p:sp>
      <p:sp>
        <p:nvSpPr>
          <p:cNvPr id="40" name="Shape 38"/>
          <p:cNvSpPr/>
          <p:nvPr/>
        </p:nvSpPr>
        <p:spPr>
          <a:xfrm>
            <a:off x="609005" y="6995279"/>
            <a:ext cx="13412272" cy="620316"/>
          </a:xfrm>
          <a:prstGeom prst="roundRect">
            <a:avLst>
              <a:gd name="adj" fmla="val 8936"/>
            </a:avLst>
          </a:prstGeom>
          <a:solidFill>
            <a:srgbClr val="F2EBE3"/>
          </a:solidFill>
        </p:spPr>
      </p:sp>
      <p:sp>
        <p:nvSpPr>
          <p:cNvPr id="41" name="Shape 39"/>
          <p:cNvSpPr/>
          <p:nvPr/>
        </p:nvSpPr>
        <p:spPr>
          <a:xfrm>
            <a:off x="602456" y="6995279"/>
            <a:ext cx="13425368" cy="620316"/>
          </a:xfrm>
          <a:prstGeom prst="roundRect">
            <a:avLst>
              <a:gd name="adj" fmla="val 3192"/>
            </a:avLst>
          </a:prstGeom>
          <a:solidFill>
            <a:srgbClr val="F2EBE3"/>
          </a:solidFill>
        </p:spPr>
      </p:sp>
      <p:sp>
        <p:nvSpPr>
          <p:cNvPr id="42" name="Text 40"/>
          <p:cNvSpPr/>
          <p:nvPr/>
        </p:nvSpPr>
        <p:spPr>
          <a:xfrm>
            <a:off x="734378" y="7094220"/>
            <a:ext cx="13161526" cy="422434"/>
          </a:xfrm>
          <a:prstGeom prst="rect">
            <a:avLst/>
          </a:prstGeom>
          <a:noFill/>
        </p:spPr>
        <p:txBody>
          <a:bodyPr wrap="square" lIns="0" tIns="0" rIns="0" bIns="0" rtlCol="0" anchor="t"/>
          <a:lstStyle/>
          <a:p>
            <a:pPr marL="0" indent="0" algn="l">
              <a:lnSpc>
                <a:spcPts val="1650"/>
              </a:lnSpc>
              <a:buNone/>
            </a:pPr>
            <a:r>
              <a:rPr lang="en-US" sz="1000" dirty="0">
                <a:solidFill>
                  <a:srgbClr val="2B2E3C"/>
                </a:solidFill>
                <a:highlight>
                  <a:srgbClr val="F2EBE3"/>
                </a:highlight>
                <a:latin typeface="Consolas" pitchFamily="34" charset="0"/>
                <a:ea typeface="Consolas" pitchFamily="34" charset="-122"/>
                <a:cs typeface="Consolas" pitchFamily="34" charset="-120"/>
              </a:rPr>
              <a:t>dist[start_node] = 0;</a:t>
            </a:r>
            <a:endParaRPr lang="en-US" sz="1000" dirty="0"/>
          </a:p>
          <a:p>
            <a:pPr marL="0" indent="0" algn="l">
              <a:lnSpc>
                <a:spcPts val="1650"/>
              </a:lnSpc>
              <a:buNone/>
            </a:pPr>
            <a:r>
              <a:rPr lang="en-US" sz="1000" dirty="0">
                <a:solidFill>
                  <a:srgbClr val="2B2E3C"/>
                </a:solidFill>
                <a:highlight>
                  <a:srgbClr val="F2EBE3"/>
                </a:highlight>
                <a:latin typeface="Consolas" pitchFamily="34" charset="0"/>
                <a:ea typeface="Consolas" pitchFamily="34" charset="-122"/>
                <a:cs typeface="Consolas" pitchFamily="34" charset="-120"/>
              </a:rPr>
              <a:t>pq.push({0, start_node}); // {distance, node}</a:t>
            </a:r>
            <a:endParaRPr lang="en-US" sz="1000" dirty="0"/>
          </a:p>
        </p:txBody>
      </p:sp>
      <p:pic>
        <p:nvPicPr>
          <p:cNvPr id="43" name="Picture 42"/>
          <p:cNvPicPr>
            <a:picLocks noChangeAspect="1"/>
          </p:cNvPicPr>
          <p:nvPr/>
        </p:nvPicPr>
        <p:blipFill>
          <a:blip r:embed="rId1"/>
          <a:stretch>
            <a:fillRect/>
          </a:stretch>
        </p:blipFill>
        <p:spPr>
          <a:xfrm>
            <a:off x="12125325" y="7762875"/>
            <a:ext cx="2505075" cy="4667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4258" y="576858"/>
            <a:ext cx="9471422" cy="655558"/>
          </a:xfrm>
          <a:prstGeom prst="rect">
            <a:avLst/>
          </a:prstGeom>
          <a:noFill/>
        </p:spPr>
        <p:txBody>
          <a:bodyPr wrap="none" lIns="0" tIns="0" rIns="0" bIns="0" rtlCol="0" anchor="t"/>
          <a:lstStyle/>
          <a:p>
            <a:pPr marL="0" indent="0" algn="l">
              <a:lnSpc>
                <a:spcPts val="5150"/>
              </a:lnSpc>
              <a:buNone/>
            </a:pPr>
            <a:r>
              <a:rPr lang="en-US" sz="4100" dirty="0">
                <a:solidFill>
                  <a:srgbClr val="2C3F42"/>
                </a:solidFill>
                <a:latin typeface="Bitter Medium" pitchFamily="34" charset="0"/>
                <a:ea typeface="Bitter Medium" pitchFamily="34" charset="-122"/>
                <a:cs typeface="Bitter Medium" pitchFamily="34" charset="-120"/>
              </a:rPr>
              <a:t>Dijkstra Function Explanation - Part 1.5</a:t>
            </a:r>
            <a:endParaRPr lang="en-US" sz="4100" dirty="0"/>
          </a:p>
        </p:txBody>
      </p:sp>
      <p:sp>
        <p:nvSpPr>
          <p:cNvPr id="3" name="Text 1"/>
          <p:cNvSpPr/>
          <p:nvPr/>
        </p:nvSpPr>
        <p:spPr>
          <a:xfrm>
            <a:off x="734258" y="1651992"/>
            <a:ext cx="13161883" cy="671274"/>
          </a:xfrm>
          <a:prstGeom prst="rect">
            <a:avLst/>
          </a:prstGeom>
          <a:noFill/>
        </p:spPr>
        <p:txBody>
          <a:bodyPr wrap="square" lIns="0" tIns="0" rIns="0" bIns="0" rtlCol="0" anchor="t"/>
          <a:lstStyle/>
          <a:p>
            <a:pPr marL="0" indent="0" algn="l">
              <a:lnSpc>
                <a:spcPts val="2600"/>
              </a:lnSpc>
              <a:buNone/>
            </a:pPr>
            <a:r>
              <a:rPr lang="en-US" sz="1650" dirty="0">
                <a:solidFill>
                  <a:srgbClr val="2B2E3C"/>
                </a:solidFill>
                <a:latin typeface="Open Sans" pitchFamily="34" charset="0"/>
                <a:ea typeface="Open Sans" pitchFamily="34" charset="-122"/>
                <a:cs typeface="Open Sans" pitchFamily="34" charset="-120"/>
              </a:rPr>
              <a:t>Continuing with the Dijkstra algorithm, these next steps detail the core logic of iterating through nodes and updating distances to find the shortest paths efficiently.</a:t>
            </a:r>
            <a:endParaRPr lang="en-US" sz="1650" dirty="0"/>
          </a:p>
        </p:txBody>
      </p:sp>
      <p:sp>
        <p:nvSpPr>
          <p:cNvPr id="4" name="Shape 2"/>
          <p:cNvSpPr/>
          <p:nvPr/>
        </p:nvSpPr>
        <p:spPr>
          <a:xfrm>
            <a:off x="734258" y="2873931"/>
            <a:ext cx="4247436" cy="4782026"/>
          </a:xfrm>
          <a:prstGeom prst="roundRect">
            <a:avLst>
              <a:gd name="adj" fmla="val 2583"/>
            </a:avLst>
          </a:prstGeom>
          <a:solidFill>
            <a:srgbClr val="FFF8F0"/>
          </a:solidFill>
        </p:spPr>
      </p:sp>
      <p:sp>
        <p:nvSpPr>
          <p:cNvPr id="5" name="Shape 3"/>
          <p:cNvSpPr/>
          <p:nvPr/>
        </p:nvSpPr>
        <p:spPr>
          <a:xfrm>
            <a:off x="734258" y="2851071"/>
            <a:ext cx="4247436" cy="91440"/>
          </a:xfrm>
          <a:prstGeom prst="roundRect">
            <a:avLst>
              <a:gd name="adj" fmla="val 96367"/>
            </a:avLst>
          </a:prstGeom>
          <a:solidFill>
            <a:srgbClr val="D2600F"/>
          </a:solidFill>
        </p:spPr>
      </p:sp>
      <p:sp>
        <p:nvSpPr>
          <p:cNvPr id="6" name="Shape 4"/>
          <p:cNvSpPr/>
          <p:nvPr/>
        </p:nvSpPr>
        <p:spPr>
          <a:xfrm>
            <a:off x="2543294" y="2559248"/>
            <a:ext cx="629364" cy="629364"/>
          </a:xfrm>
          <a:prstGeom prst="roundRect">
            <a:avLst>
              <a:gd name="adj" fmla="val 145290"/>
            </a:avLst>
          </a:prstGeom>
          <a:solidFill>
            <a:srgbClr val="D2600F"/>
          </a:solidFill>
        </p:spPr>
      </p:sp>
      <p:sp>
        <p:nvSpPr>
          <p:cNvPr id="7" name="Text 5"/>
          <p:cNvSpPr/>
          <p:nvPr/>
        </p:nvSpPr>
        <p:spPr>
          <a:xfrm>
            <a:off x="2732127" y="2716530"/>
            <a:ext cx="251698" cy="314682"/>
          </a:xfrm>
          <a:prstGeom prst="rect">
            <a:avLst/>
          </a:prstGeom>
          <a:noFill/>
        </p:spPr>
        <p:txBody>
          <a:bodyPr wrap="none" lIns="0" tIns="0" rIns="0" bIns="0" rtlCol="0" anchor="t"/>
          <a:lstStyle/>
          <a:p>
            <a:pPr marL="0" indent="0" algn="l">
              <a:lnSpc>
                <a:spcPts val="3150"/>
              </a:lnSpc>
              <a:buNone/>
            </a:pPr>
            <a:r>
              <a:rPr lang="en-US" sz="1950" dirty="0">
                <a:solidFill>
                  <a:srgbClr val="FFFFFF"/>
                </a:solidFill>
                <a:latin typeface="Bitter Medium" pitchFamily="34" charset="0"/>
                <a:ea typeface="Bitter Medium" pitchFamily="34" charset="-122"/>
                <a:cs typeface="Bitter Medium" pitchFamily="34" charset="-120"/>
              </a:rPr>
              <a:t>1</a:t>
            </a:r>
            <a:endParaRPr lang="en-US" sz="1950" dirty="0"/>
          </a:p>
        </p:txBody>
      </p:sp>
      <p:sp>
        <p:nvSpPr>
          <p:cNvPr id="8" name="Text 6"/>
          <p:cNvSpPr/>
          <p:nvPr/>
        </p:nvSpPr>
        <p:spPr>
          <a:xfrm>
            <a:off x="966907" y="3398401"/>
            <a:ext cx="2622471" cy="327779"/>
          </a:xfrm>
          <a:prstGeom prst="rect">
            <a:avLst/>
          </a:prstGeom>
          <a:noFill/>
        </p:spPr>
        <p:txBody>
          <a:bodyPr wrap="none" lIns="0" tIns="0" rIns="0" bIns="0" rtlCol="0" anchor="t"/>
          <a:lstStyle/>
          <a:p>
            <a:pPr marL="0" indent="0" algn="l">
              <a:lnSpc>
                <a:spcPts val="2550"/>
              </a:lnSpc>
              <a:buNone/>
            </a:pPr>
            <a:r>
              <a:rPr lang="en-US" sz="2050" dirty="0">
                <a:solidFill>
                  <a:srgbClr val="2B2E3C"/>
                </a:solidFill>
                <a:latin typeface="Bitter Medium" pitchFamily="34" charset="0"/>
                <a:ea typeface="Bitter Medium" pitchFamily="34" charset="-122"/>
                <a:cs typeface="Bitter Medium" pitchFamily="34" charset="-120"/>
              </a:rPr>
              <a:t>Main loop</a:t>
            </a:r>
            <a:endParaRPr lang="en-US" sz="2050" dirty="0"/>
          </a:p>
        </p:txBody>
      </p:sp>
      <p:sp>
        <p:nvSpPr>
          <p:cNvPr id="9" name="Text 7"/>
          <p:cNvSpPr/>
          <p:nvPr/>
        </p:nvSpPr>
        <p:spPr>
          <a:xfrm>
            <a:off x="966907" y="3852029"/>
            <a:ext cx="3782139" cy="2013823"/>
          </a:xfrm>
          <a:prstGeom prst="rect">
            <a:avLst/>
          </a:prstGeom>
          <a:noFill/>
        </p:spPr>
        <p:txBody>
          <a:bodyPr wrap="square" lIns="0" tIns="0" rIns="0" bIns="0" rtlCol="0" anchor="t"/>
          <a:lstStyle/>
          <a:p>
            <a:pPr marL="0" indent="0" algn="l">
              <a:lnSpc>
                <a:spcPts val="2600"/>
              </a:lnSpc>
              <a:buNone/>
            </a:pPr>
            <a:r>
              <a:rPr lang="en-US" sz="1650" dirty="0">
                <a:solidFill>
                  <a:srgbClr val="2B2E3C"/>
                </a:solidFill>
                <a:latin typeface="Open Sans" pitchFamily="34" charset="0"/>
                <a:ea typeface="Open Sans" pitchFamily="34" charset="-122"/>
                <a:cs typeface="Open Sans" pitchFamily="34" charset="-120"/>
              </a:rPr>
              <a:t>The algorithm continues as long as there are nodes to process in the priority queue. The loop terminates once all reachable nodes have been visited and their shortest paths determined.</a:t>
            </a:r>
            <a:endParaRPr lang="en-US" sz="1650" dirty="0"/>
          </a:p>
        </p:txBody>
      </p:sp>
      <p:sp>
        <p:nvSpPr>
          <p:cNvPr id="10" name="Shape 8"/>
          <p:cNvSpPr/>
          <p:nvPr/>
        </p:nvSpPr>
        <p:spPr>
          <a:xfrm>
            <a:off x="966907" y="6101834"/>
            <a:ext cx="3782139" cy="1321475"/>
          </a:xfrm>
          <a:prstGeom prst="roundRect">
            <a:avLst>
              <a:gd name="adj" fmla="val 6668"/>
            </a:avLst>
          </a:prstGeom>
          <a:solidFill>
            <a:srgbClr val="F2EBE3"/>
          </a:solidFill>
        </p:spPr>
      </p:sp>
      <p:sp>
        <p:nvSpPr>
          <p:cNvPr id="11" name="Shape 9"/>
          <p:cNvSpPr/>
          <p:nvPr/>
        </p:nvSpPr>
        <p:spPr>
          <a:xfrm>
            <a:off x="956429" y="6101834"/>
            <a:ext cx="3803094" cy="1321475"/>
          </a:xfrm>
          <a:prstGeom prst="roundRect">
            <a:avLst>
              <a:gd name="adj" fmla="val 2381"/>
            </a:avLst>
          </a:prstGeom>
          <a:solidFill>
            <a:srgbClr val="F2EBE3"/>
          </a:solidFill>
        </p:spPr>
      </p:sp>
      <p:sp>
        <p:nvSpPr>
          <p:cNvPr id="12" name="Text 10"/>
          <p:cNvSpPr/>
          <p:nvPr/>
        </p:nvSpPr>
        <p:spPr>
          <a:xfrm>
            <a:off x="1166217" y="6259116"/>
            <a:ext cx="3383518" cy="1006912"/>
          </a:xfrm>
          <a:prstGeom prst="rect">
            <a:avLst/>
          </a:prstGeom>
          <a:noFill/>
        </p:spPr>
        <p:txBody>
          <a:bodyPr wrap="square" lIns="0" tIns="0" rIns="0" bIns="0" rtlCol="0" anchor="t"/>
          <a:lstStyle/>
          <a:p>
            <a:pPr marL="0" indent="0" algn="l">
              <a:lnSpc>
                <a:spcPts val="2600"/>
              </a:lnSpc>
              <a:buNone/>
            </a:pPr>
            <a:r>
              <a:rPr lang="en-US" sz="1650" dirty="0">
                <a:solidFill>
                  <a:srgbClr val="2B2E3C"/>
                </a:solidFill>
                <a:highlight>
                  <a:srgbClr val="F2EBE3"/>
                </a:highlight>
                <a:latin typeface="Consolas" pitchFamily="34" charset="0"/>
                <a:ea typeface="Consolas" pitchFamily="34" charset="-122"/>
                <a:cs typeface="Consolas" pitchFamily="34" charset="-120"/>
              </a:rPr>
              <a:t>while (!pq.empty()) {</a:t>
            </a:r>
            <a:endParaRPr lang="en-US" sz="1650" dirty="0"/>
          </a:p>
          <a:p>
            <a:pPr marL="0" indent="0" algn="l">
              <a:lnSpc>
                <a:spcPts val="2600"/>
              </a:lnSpc>
              <a:buNone/>
            </a:pPr>
            <a:r>
              <a:rPr lang="en-US" sz="1650" dirty="0">
                <a:solidFill>
                  <a:srgbClr val="2B2E3C"/>
                </a:solidFill>
                <a:highlight>
                  <a:srgbClr val="F2EBE3"/>
                </a:highlight>
                <a:latin typeface="Consolas" pitchFamily="34" charset="0"/>
                <a:ea typeface="Consolas" pitchFamily="34" charset="-122"/>
                <a:cs typeface="Consolas" pitchFamily="34" charset="-120"/>
              </a:rPr>
              <a:t>    // Algorithm logic goes here</a:t>
            </a:r>
            <a:endParaRPr lang="en-US" sz="1650" dirty="0"/>
          </a:p>
          <a:p>
            <a:pPr marL="0" indent="0" algn="l">
              <a:lnSpc>
                <a:spcPts val="2600"/>
              </a:lnSpc>
              <a:buNone/>
            </a:pPr>
            <a:r>
              <a:rPr lang="en-US" sz="1650" dirty="0">
                <a:solidFill>
                  <a:srgbClr val="2B2E3C"/>
                </a:solidFill>
                <a:highlight>
                  <a:srgbClr val="F2EBE3"/>
                </a:highlight>
                <a:latin typeface="Consolas" pitchFamily="34" charset="0"/>
                <a:ea typeface="Consolas" pitchFamily="34" charset="-122"/>
                <a:cs typeface="Consolas" pitchFamily="34" charset="-120"/>
              </a:rPr>
              <a:t>}</a:t>
            </a:r>
            <a:endParaRPr lang="en-US" sz="1650" dirty="0"/>
          </a:p>
        </p:txBody>
      </p:sp>
      <p:sp>
        <p:nvSpPr>
          <p:cNvPr id="13" name="Shape 11"/>
          <p:cNvSpPr/>
          <p:nvPr/>
        </p:nvSpPr>
        <p:spPr>
          <a:xfrm>
            <a:off x="5191482" y="2873931"/>
            <a:ext cx="4247436" cy="4782026"/>
          </a:xfrm>
          <a:prstGeom prst="roundRect">
            <a:avLst>
              <a:gd name="adj" fmla="val 2583"/>
            </a:avLst>
          </a:prstGeom>
          <a:solidFill>
            <a:srgbClr val="FFF8F0"/>
          </a:solidFill>
        </p:spPr>
      </p:sp>
      <p:sp>
        <p:nvSpPr>
          <p:cNvPr id="14" name="Shape 12"/>
          <p:cNvSpPr/>
          <p:nvPr/>
        </p:nvSpPr>
        <p:spPr>
          <a:xfrm>
            <a:off x="5191482" y="2851071"/>
            <a:ext cx="4247436" cy="91440"/>
          </a:xfrm>
          <a:prstGeom prst="roundRect">
            <a:avLst>
              <a:gd name="adj" fmla="val 96367"/>
            </a:avLst>
          </a:prstGeom>
          <a:solidFill>
            <a:srgbClr val="D2600F"/>
          </a:solidFill>
        </p:spPr>
      </p:sp>
      <p:sp>
        <p:nvSpPr>
          <p:cNvPr id="15" name="Shape 13"/>
          <p:cNvSpPr/>
          <p:nvPr/>
        </p:nvSpPr>
        <p:spPr>
          <a:xfrm>
            <a:off x="7000518" y="2559248"/>
            <a:ext cx="629364" cy="629364"/>
          </a:xfrm>
          <a:prstGeom prst="roundRect">
            <a:avLst>
              <a:gd name="adj" fmla="val 145290"/>
            </a:avLst>
          </a:prstGeom>
          <a:solidFill>
            <a:srgbClr val="D2600F"/>
          </a:solidFill>
        </p:spPr>
      </p:sp>
      <p:sp>
        <p:nvSpPr>
          <p:cNvPr id="16" name="Text 14"/>
          <p:cNvSpPr/>
          <p:nvPr/>
        </p:nvSpPr>
        <p:spPr>
          <a:xfrm>
            <a:off x="7189351" y="2716530"/>
            <a:ext cx="251698" cy="314682"/>
          </a:xfrm>
          <a:prstGeom prst="rect">
            <a:avLst/>
          </a:prstGeom>
          <a:noFill/>
        </p:spPr>
        <p:txBody>
          <a:bodyPr wrap="none" lIns="0" tIns="0" rIns="0" bIns="0" rtlCol="0" anchor="t"/>
          <a:lstStyle/>
          <a:p>
            <a:pPr marL="0" indent="0" algn="l">
              <a:lnSpc>
                <a:spcPts val="3150"/>
              </a:lnSpc>
              <a:buNone/>
            </a:pPr>
            <a:r>
              <a:rPr lang="en-US" sz="1950" dirty="0">
                <a:solidFill>
                  <a:srgbClr val="FFFFFF"/>
                </a:solidFill>
                <a:latin typeface="Bitter Medium" pitchFamily="34" charset="0"/>
                <a:ea typeface="Bitter Medium" pitchFamily="34" charset="-122"/>
                <a:cs typeface="Bitter Medium" pitchFamily="34" charset="-120"/>
              </a:rPr>
              <a:t>2</a:t>
            </a:r>
            <a:endParaRPr lang="en-US" sz="1950" dirty="0"/>
          </a:p>
        </p:txBody>
      </p:sp>
      <p:sp>
        <p:nvSpPr>
          <p:cNvPr id="17" name="Text 15"/>
          <p:cNvSpPr/>
          <p:nvPr/>
        </p:nvSpPr>
        <p:spPr>
          <a:xfrm>
            <a:off x="5424130" y="3398401"/>
            <a:ext cx="2622471" cy="327779"/>
          </a:xfrm>
          <a:prstGeom prst="rect">
            <a:avLst/>
          </a:prstGeom>
          <a:noFill/>
        </p:spPr>
        <p:txBody>
          <a:bodyPr wrap="none" lIns="0" tIns="0" rIns="0" bIns="0" rtlCol="0" anchor="t"/>
          <a:lstStyle/>
          <a:p>
            <a:pPr marL="0" indent="0" algn="l">
              <a:lnSpc>
                <a:spcPts val="2550"/>
              </a:lnSpc>
              <a:buNone/>
            </a:pPr>
            <a:r>
              <a:rPr lang="en-US" sz="2050" dirty="0">
                <a:solidFill>
                  <a:srgbClr val="2B2E3C"/>
                </a:solidFill>
                <a:latin typeface="Bitter Medium" pitchFamily="34" charset="0"/>
                <a:ea typeface="Bitter Medium" pitchFamily="34" charset="-122"/>
                <a:cs typeface="Bitter Medium" pitchFamily="34" charset="-120"/>
              </a:rPr>
              <a:t>Pick closest node</a:t>
            </a:r>
            <a:endParaRPr lang="en-US" sz="2050" dirty="0"/>
          </a:p>
        </p:txBody>
      </p:sp>
      <p:sp>
        <p:nvSpPr>
          <p:cNvPr id="18" name="Text 16"/>
          <p:cNvSpPr/>
          <p:nvPr/>
        </p:nvSpPr>
        <p:spPr>
          <a:xfrm>
            <a:off x="5424130" y="3852029"/>
            <a:ext cx="3782139" cy="1678186"/>
          </a:xfrm>
          <a:prstGeom prst="rect">
            <a:avLst/>
          </a:prstGeom>
          <a:noFill/>
        </p:spPr>
        <p:txBody>
          <a:bodyPr wrap="square" lIns="0" tIns="0" rIns="0" bIns="0" rtlCol="0" anchor="t"/>
          <a:lstStyle/>
          <a:p>
            <a:pPr marL="0" indent="0" algn="l">
              <a:lnSpc>
                <a:spcPts val="2600"/>
              </a:lnSpc>
              <a:buNone/>
            </a:pPr>
            <a:r>
              <a:rPr lang="en-US" sz="1650" dirty="0">
                <a:solidFill>
                  <a:srgbClr val="2B2E3C"/>
                </a:solidFill>
                <a:latin typeface="Open Sans" pitchFamily="34" charset="0"/>
                <a:ea typeface="Open Sans" pitchFamily="34" charset="-122"/>
                <a:cs typeface="Open Sans" pitchFamily="34" charset="-120"/>
              </a:rPr>
              <a:t>In each iteration, we extract the node with the minimum distance from the priority queue. This node is guaranteed to have its shortest path finalized.</a:t>
            </a:r>
            <a:endParaRPr lang="en-US" sz="1650" dirty="0"/>
          </a:p>
        </p:txBody>
      </p:sp>
      <p:sp>
        <p:nvSpPr>
          <p:cNvPr id="19" name="Shape 17"/>
          <p:cNvSpPr/>
          <p:nvPr/>
        </p:nvSpPr>
        <p:spPr>
          <a:xfrm>
            <a:off x="5424130" y="5766197"/>
            <a:ext cx="3782139" cy="1321475"/>
          </a:xfrm>
          <a:prstGeom prst="roundRect">
            <a:avLst>
              <a:gd name="adj" fmla="val 6668"/>
            </a:avLst>
          </a:prstGeom>
          <a:solidFill>
            <a:srgbClr val="F2EBE3"/>
          </a:solidFill>
        </p:spPr>
      </p:sp>
      <p:sp>
        <p:nvSpPr>
          <p:cNvPr id="20" name="Shape 18"/>
          <p:cNvSpPr/>
          <p:nvPr/>
        </p:nvSpPr>
        <p:spPr>
          <a:xfrm>
            <a:off x="5413653" y="5766197"/>
            <a:ext cx="3803094" cy="1321475"/>
          </a:xfrm>
          <a:prstGeom prst="roundRect">
            <a:avLst>
              <a:gd name="adj" fmla="val 2381"/>
            </a:avLst>
          </a:prstGeom>
          <a:solidFill>
            <a:srgbClr val="F2EBE3"/>
          </a:solidFill>
        </p:spPr>
      </p:sp>
      <p:sp>
        <p:nvSpPr>
          <p:cNvPr id="21" name="Text 19"/>
          <p:cNvSpPr/>
          <p:nvPr/>
        </p:nvSpPr>
        <p:spPr>
          <a:xfrm>
            <a:off x="5623441" y="5923478"/>
            <a:ext cx="3383518" cy="1006912"/>
          </a:xfrm>
          <a:prstGeom prst="rect">
            <a:avLst/>
          </a:prstGeom>
          <a:noFill/>
        </p:spPr>
        <p:txBody>
          <a:bodyPr wrap="square" lIns="0" tIns="0" rIns="0" bIns="0" rtlCol="0" anchor="t"/>
          <a:lstStyle/>
          <a:p>
            <a:pPr marL="0" indent="0" algn="l">
              <a:lnSpc>
                <a:spcPts val="2600"/>
              </a:lnSpc>
              <a:buNone/>
            </a:pPr>
            <a:r>
              <a:rPr lang="en-US" sz="1650" dirty="0">
                <a:solidFill>
                  <a:srgbClr val="2B2E3C"/>
                </a:solidFill>
                <a:highlight>
                  <a:srgbClr val="F2EBE3"/>
                </a:highlight>
                <a:latin typeface="Consolas" pitchFamily="34" charset="0"/>
                <a:ea typeface="Consolas" pitchFamily="34" charset="-122"/>
                <a:cs typeface="Consolas" pitchFamily="34" charset="-120"/>
              </a:rPr>
              <a:t>int d = pq.top().first;</a:t>
            </a:r>
            <a:endParaRPr lang="en-US" sz="1650" dirty="0"/>
          </a:p>
          <a:p>
            <a:pPr marL="0" indent="0" algn="l">
              <a:lnSpc>
                <a:spcPts val="2600"/>
              </a:lnSpc>
              <a:buNone/>
            </a:pPr>
            <a:r>
              <a:rPr lang="en-US" sz="1650" dirty="0">
                <a:solidFill>
                  <a:srgbClr val="2B2E3C"/>
                </a:solidFill>
                <a:highlight>
                  <a:srgbClr val="F2EBE3"/>
                </a:highlight>
                <a:latin typeface="Consolas" pitchFamily="34" charset="0"/>
                <a:ea typeface="Consolas" pitchFamily="34" charset="-122"/>
                <a:cs typeface="Consolas" pitchFamily="34" charset="-120"/>
              </a:rPr>
              <a:t>int node = pq.top().second;</a:t>
            </a:r>
            <a:endParaRPr lang="en-US" sz="1650" dirty="0"/>
          </a:p>
          <a:p>
            <a:pPr marL="0" indent="0" algn="l">
              <a:lnSpc>
                <a:spcPts val="2600"/>
              </a:lnSpc>
              <a:buNone/>
            </a:pPr>
            <a:r>
              <a:rPr lang="en-US" sz="1650" dirty="0">
                <a:solidFill>
                  <a:srgbClr val="2B2E3C"/>
                </a:solidFill>
                <a:highlight>
                  <a:srgbClr val="F2EBE3"/>
                </a:highlight>
                <a:latin typeface="Consolas" pitchFamily="34" charset="0"/>
                <a:ea typeface="Consolas" pitchFamily="34" charset="-122"/>
                <a:cs typeface="Consolas" pitchFamily="34" charset="-120"/>
              </a:rPr>
              <a:t>pq.pop();</a:t>
            </a:r>
            <a:endParaRPr lang="en-US" sz="1650" dirty="0"/>
          </a:p>
        </p:txBody>
      </p:sp>
      <p:sp>
        <p:nvSpPr>
          <p:cNvPr id="22" name="Shape 20"/>
          <p:cNvSpPr/>
          <p:nvPr/>
        </p:nvSpPr>
        <p:spPr>
          <a:xfrm>
            <a:off x="9648706" y="2873931"/>
            <a:ext cx="4247436" cy="4782026"/>
          </a:xfrm>
          <a:prstGeom prst="roundRect">
            <a:avLst>
              <a:gd name="adj" fmla="val 2583"/>
            </a:avLst>
          </a:prstGeom>
          <a:solidFill>
            <a:srgbClr val="FFF8F0"/>
          </a:solidFill>
        </p:spPr>
      </p:sp>
      <p:sp>
        <p:nvSpPr>
          <p:cNvPr id="23" name="Shape 21"/>
          <p:cNvSpPr/>
          <p:nvPr/>
        </p:nvSpPr>
        <p:spPr>
          <a:xfrm>
            <a:off x="9648706" y="2851071"/>
            <a:ext cx="4247436" cy="91440"/>
          </a:xfrm>
          <a:prstGeom prst="roundRect">
            <a:avLst>
              <a:gd name="adj" fmla="val 96367"/>
            </a:avLst>
          </a:prstGeom>
          <a:solidFill>
            <a:srgbClr val="D2600F"/>
          </a:solidFill>
        </p:spPr>
      </p:sp>
      <p:sp>
        <p:nvSpPr>
          <p:cNvPr id="24" name="Shape 22"/>
          <p:cNvSpPr/>
          <p:nvPr/>
        </p:nvSpPr>
        <p:spPr>
          <a:xfrm>
            <a:off x="11457742" y="2559248"/>
            <a:ext cx="629364" cy="629364"/>
          </a:xfrm>
          <a:prstGeom prst="roundRect">
            <a:avLst>
              <a:gd name="adj" fmla="val 145290"/>
            </a:avLst>
          </a:prstGeom>
          <a:solidFill>
            <a:srgbClr val="D2600F"/>
          </a:solidFill>
        </p:spPr>
      </p:sp>
      <p:sp>
        <p:nvSpPr>
          <p:cNvPr id="25" name="Text 23"/>
          <p:cNvSpPr/>
          <p:nvPr/>
        </p:nvSpPr>
        <p:spPr>
          <a:xfrm>
            <a:off x="11646575" y="2716530"/>
            <a:ext cx="251698" cy="314682"/>
          </a:xfrm>
          <a:prstGeom prst="rect">
            <a:avLst/>
          </a:prstGeom>
          <a:noFill/>
        </p:spPr>
        <p:txBody>
          <a:bodyPr wrap="none" lIns="0" tIns="0" rIns="0" bIns="0" rtlCol="0" anchor="t"/>
          <a:lstStyle/>
          <a:p>
            <a:pPr marL="0" indent="0" algn="l">
              <a:lnSpc>
                <a:spcPts val="3150"/>
              </a:lnSpc>
              <a:buNone/>
            </a:pPr>
            <a:r>
              <a:rPr lang="en-US" sz="1950" dirty="0">
                <a:solidFill>
                  <a:srgbClr val="FFFFFF"/>
                </a:solidFill>
                <a:latin typeface="Bitter Medium" pitchFamily="34" charset="0"/>
                <a:ea typeface="Bitter Medium" pitchFamily="34" charset="-122"/>
                <a:cs typeface="Bitter Medium" pitchFamily="34" charset="-120"/>
              </a:rPr>
              <a:t>3</a:t>
            </a:r>
            <a:endParaRPr lang="en-US" sz="1950" dirty="0"/>
          </a:p>
        </p:txBody>
      </p:sp>
      <p:sp>
        <p:nvSpPr>
          <p:cNvPr id="26" name="Text 24"/>
          <p:cNvSpPr/>
          <p:nvPr/>
        </p:nvSpPr>
        <p:spPr>
          <a:xfrm>
            <a:off x="9881354" y="3398401"/>
            <a:ext cx="2622471" cy="327779"/>
          </a:xfrm>
          <a:prstGeom prst="rect">
            <a:avLst/>
          </a:prstGeom>
          <a:noFill/>
        </p:spPr>
        <p:txBody>
          <a:bodyPr wrap="none" lIns="0" tIns="0" rIns="0" bIns="0" rtlCol="0" anchor="t"/>
          <a:lstStyle/>
          <a:p>
            <a:pPr marL="0" indent="0" algn="l">
              <a:lnSpc>
                <a:spcPts val="2550"/>
              </a:lnSpc>
              <a:buNone/>
            </a:pPr>
            <a:r>
              <a:rPr lang="en-US" sz="2050" dirty="0">
                <a:solidFill>
                  <a:srgbClr val="2B2E3C"/>
                </a:solidFill>
                <a:latin typeface="Bitter Medium" pitchFamily="34" charset="0"/>
                <a:ea typeface="Bitter Medium" pitchFamily="34" charset="-122"/>
                <a:cs typeface="Bitter Medium" pitchFamily="34" charset="-120"/>
              </a:rPr>
              <a:t>Skip outdated entries</a:t>
            </a:r>
            <a:endParaRPr lang="en-US" sz="2050" dirty="0"/>
          </a:p>
        </p:txBody>
      </p:sp>
      <p:sp>
        <p:nvSpPr>
          <p:cNvPr id="27" name="Text 25"/>
          <p:cNvSpPr/>
          <p:nvPr/>
        </p:nvSpPr>
        <p:spPr>
          <a:xfrm>
            <a:off x="9881354" y="3852029"/>
            <a:ext cx="3782139" cy="2013823"/>
          </a:xfrm>
          <a:prstGeom prst="rect">
            <a:avLst/>
          </a:prstGeom>
          <a:noFill/>
        </p:spPr>
        <p:txBody>
          <a:bodyPr wrap="square" lIns="0" tIns="0" rIns="0" bIns="0" rtlCol="0" anchor="t"/>
          <a:lstStyle/>
          <a:p>
            <a:pPr marL="0" indent="0" algn="l">
              <a:lnSpc>
                <a:spcPts val="2600"/>
              </a:lnSpc>
              <a:buNone/>
            </a:pPr>
            <a:r>
              <a:rPr lang="en-US" sz="1650" dirty="0">
                <a:solidFill>
                  <a:srgbClr val="2B2E3C"/>
                </a:solidFill>
                <a:latin typeface="Open Sans" pitchFamily="34" charset="0"/>
                <a:ea typeface="Open Sans" pitchFamily="34" charset="-122"/>
                <a:cs typeface="Open Sans" pitchFamily="34" charset="-120"/>
              </a:rPr>
              <a:t>This optimization checks if we've already found a shorter path to the current node than the one extracted from the priority queue. If so, this entry is outdated and can be skipped, improving efficiency.</a:t>
            </a:r>
            <a:endParaRPr lang="en-US" sz="1650" dirty="0"/>
          </a:p>
        </p:txBody>
      </p:sp>
      <p:sp>
        <p:nvSpPr>
          <p:cNvPr id="28" name="Shape 26"/>
          <p:cNvSpPr/>
          <p:nvPr/>
        </p:nvSpPr>
        <p:spPr>
          <a:xfrm>
            <a:off x="9881354" y="6101834"/>
            <a:ext cx="3782139" cy="1321475"/>
          </a:xfrm>
          <a:prstGeom prst="roundRect">
            <a:avLst>
              <a:gd name="adj" fmla="val 6668"/>
            </a:avLst>
          </a:prstGeom>
          <a:solidFill>
            <a:srgbClr val="F2EBE3"/>
          </a:solidFill>
        </p:spPr>
      </p:sp>
      <p:sp>
        <p:nvSpPr>
          <p:cNvPr id="29" name="Shape 27"/>
          <p:cNvSpPr/>
          <p:nvPr/>
        </p:nvSpPr>
        <p:spPr>
          <a:xfrm>
            <a:off x="9870877" y="6101834"/>
            <a:ext cx="3803094" cy="1321475"/>
          </a:xfrm>
          <a:prstGeom prst="roundRect">
            <a:avLst>
              <a:gd name="adj" fmla="val 2381"/>
            </a:avLst>
          </a:prstGeom>
          <a:solidFill>
            <a:srgbClr val="F2EBE3"/>
          </a:solidFill>
        </p:spPr>
      </p:sp>
      <p:sp>
        <p:nvSpPr>
          <p:cNvPr id="30" name="Text 28"/>
          <p:cNvSpPr/>
          <p:nvPr/>
        </p:nvSpPr>
        <p:spPr>
          <a:xfrm>
            <a:off x="10080665" y="6259116"/>
            <a:ext cx="3383518" cy="1006912"/>
          </a:xfrm>
          <a:prstGeom prst="rect">
            <a:avLst/>
          </a:prstGeom>
          <a:noFill/>
        </p:spPr>
        <p:txBody>
          <a:bodyPr wrap="square" lIns="0" tIns="0" rIns="0" bIns="0" rtlCol="0" anchor="t"/>
          <a:lstStyle/>
          <a:p>
            <a:pPr marL="0" indent="0" algn="l">
              <a:lnSpc>
                <a:spcPts val="2600"/>
              </a:lnSpc>
              <a:buNone/>
            </a:pPr>
            <a:r>
              <a:rPr lang="en-US" sz="1650" dirty="0">
                <a:solidFill>
                  <a:srgbClr val="2B2E3C"/>
                </a:solidFill>
                <a:highlight>
                  <a:srgbClr val="F2EBE3"/>
                </a:highlight>
                <a:latin typeface="Consolas" pitchFamily="34" charset="0"/>
                <a:ea typeface="Consolas" pitchFamily="34" charset="-122"/>
                <a:cs typeface="Consolas" pitchFamily="34" charset="-120"/>
              </a:rPr>
              <a:t>if (d &gt; dist[node]) {</a:t>
            </a:r>
            <a:endParaRPr lang="en-US" sz="1650" dirty="0"/>
          </a:p>
          <a:p>
            <a:pPr marL="0" indent="0" algn="l">
              <a:lnSpc>
                <a:spcPts val="2600"/>
              </a:lnSpc>
              <a:buNone/>
            </a:pPr>
            <a:r>
              <a:rPr lang="en-US" sz="1650" dirty="0">
                <a:solidFill>
                  <a:srgbClr val="2B2E3C"/>
                </a:solidFill>
                <a:highlight>
                  <a:srgbClr val="F2EBE3"/>
                </a:highlight>
                <a:latin typeface="Consolas" pitchFamily="34" charset="0"/>
                <a:ea typeface="Consolas" pitchFamily="34" charset="-122"/>
                <a:cs typeface="Consolas" pitchFamily="34" charset="-120"/>
              </a:rPr>
              <a:t>    continue;</a:t>
            </a:r>
            <a:endParaRPr lang="en-US" sz="1650" dirty="0"/>
          </a:p>
          <a:p>
            <a:pPr marL="0" indent="0" algn="l">
              <a:lnSpc>
                <a:spcPts val="2600"/>
              </a:lnSpc>
              <a:buNone/>
            </a:pPr>
            <a:r>
              <a:rPr lang="en-US" sz="1650" dirty="0">
                <a:solidFill>
                  <a:srgbClr val="2B2E3C"/>
                </a:solidFill>
                <a:highlight>
                  <a:srgbClr val="F2EBE3"/>
                </a:highlight>
                <a:latin typeface="Consolas" pitchFamily="34" charset="0"/>
                <a:ea typeface="Consolas" pitchFamily="34" charset="-122"/>
                <a:cs typeface="Consolas" pitchFamily="34" charset="-120"/>
              </a:rPr>
              <a:t>}</a:t>
            </a:r>
            <a:endParaRPr lang="en-US" sz="1650" dirty="0"/>
          </a:p>
        </p:txBody>
      </p:sp>
      <p:pic>
        <p:nvPicPr>
          <p:cNvPr id="31" name="Picture 30"/>
          <p:cNvPicPr>
            <a:picLocks noChangeAspect="1"/>
          </p:cNvPicPr>
          <p:nvPr/>
        </p:nvPicPr>
        <p:blipFill>
          <a:blip r:embed="rId1"/>
          <a:stretch>
            <a:fillRect/>
          </a:stretch>
        </p:blipFill>
        <p:spPr>
          <a:xfrm>
            <a:off x="12125325" y="7762875"/>
            <a:ext cx="2505075" cy="4667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51140" y="557093"/>
            <a:ext cx="6862405" cy="492085"/>
          </a:xfrm>
          <a:prstGeom prst="rect">
            <a:avLst/>
          </a:prstGeom>
          <a:noFill/>
        </p:spPr>
        <p:txBody>
          <a:bodyPr wrap="none" lIns="0" tIns="0" rIns="0" bIns="0" rtlCol="0" anchor="t"/>
          <a:lstStyle/>
          <a:p>
            <a:pPr marL="0" indent="0" algn="l">
              <a:lnSpc>
                <a:spcPts val="3850"/>
              </a:lnSpc>
              <a:buNone/>
            </a:pPr>
            <a:r>
              <a:rPr lang="en-US" sz="3100" dirty="0">
                <a:solidFill>
                  <a:srgbClr val="2C3F42"/>
                </a:solidFill>
                <a:latin typeface="Bitter Medium" pitchFamily="34" charset="0"/>
                <a:ea typeface="Bitter Medium" pitchFamily="34" charset="-122"/>
                <a:cs typeface="Bitter Medium" pitchFamily="34" charset="-120"/>
              </a:rPr>
              <a:t>Dijkstra Function Explanation - Part 2</a:t>
            </a:r>
            <a:endParaRPr lang="en-US" sz="3100" dirty="0"/>
          </a:p>
        </p:txBody>
      </p:sp>
      <p:sp>
        <p:nvSpPr>
          <p:cNvPr id="3" name="Shape 1"/>
          <p:cNvSpPr/>
          <p:nvPr/>
        </p:nvSpPr>
        <p:spPr>
          <a:xfrm>
            <a:off x="551140" y="1600319"/>
            <a:ext cx="6685359" cy="2839283"/>
          </a:xfrm>
          <a:prstGeom prst="roundRect">
            <a:avLst>
              <a:gd name="adj" fmla="val 3865"/>
            </a:avLst>
          </a:prstGeom>
          <a:solidFill>
            <a:srgbClr val="FFF8F0"/>
          </a:solidFill>
        </p:spPr>
      </p:sp>
      <p:sp>
        <p:nvSpPr>
          <p:cNvPr id="4" name="Shape 2"/>
          <p:cNvSpPr/>
          <p:nvPr/>
        </p:nvSpPr>
        <p:spPr>
          <a:xfrm>
            <a:off x="551140" y="1577459"/>
            <a:ext cx="6685359" cy="91440"/>
          </a:xfrm>
          <a:prstGeom prst="roundRect">
            <a:avLst>
              <a:gd name="adj" fmla="val 72334"/>
            </a:avLst>
          </a:prstGeom>
          <a:solidFill>
            <a:srgbClr val="D2600F"/>
          </a:solidFill>
        </p:spPr>
      </p:sp>
      <p:sp>
        <p:nvSpPr>
          <p:cNvPr id="5" name="Shape 3"/>
          <p:cNvSpPr/>
          <p:nvPr/>
        </p:nvSpPr>
        <p:spPr>
          <a:xfrm>
            <a:off x="3657600" y="1364099"/>
            <a:ext cx="472440" cy="472440"/>
          </a:xfrm>
          <a:prstGeom prst="roundRect">
            <a:avLst>
              <a:gd name="adj" fmla="val 193548"/>
            </a:avLst>
          </a:prstGeom>
          <a:solidFill>
            <a:srgbClr val="D2600F"/>
          </a:solidFill>
        </p:spPr>
      </p:sp>
      <p:pic>
        <p:nvPicPr>
          <p:cNvPr id="6"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799284" y="1505783"/>
            <a:ext cx="188952" cy="188952"/>
          </a:xfrm>
          <a:prstGeom prst="rect">
            <a:avLst/>
          </a:prstGeom>
        </p:spPr>
      </p:pic>
      <p:sp>
        <p:nvSpPr>
          <p:cNvPr id="7" name="Text 4"/>
          <p:cNvSpPr/>
          <p:nvPr/>
        </p:nvSpPr>
        <p:spPr>
          <a:xfrm>
            <a:off x="731401" y="1993940"/>
            <a:ext cx="1968460" cy="245983"/>
          </a:xfrm>
          <a:prstGeom prst="rect">
            <a:avLst/>
          </a:prstGeom>
          <a:noFill/>
        </p:spPr>
        <p:txBody>
          <a:bodyPr wrap="none" lIns="0" tIns="0" rIns="0" bIns="0" rtlCol="0" anchor="t"/>
          <a:lstStyle/>
          <a:p>
            <a:pPr marL="0" indent="0" algn="l">
              <a:lnSpc>
                <a:spcPts val="1900"/>
              </a:lnSpc>
              <a:buNone/>
            </a:pPr>
            <a:r>
              <a:rPr lang="en-US" sz="1550" dirty="0">
                <a:solidFill>
                  <a:srgbClr val="2B2E3C"/>
                </a:solidFill>
                <a:latin typeface="Bitter Medium" pitchFamily="34" charset="0"/>
                <a:ea typeface="Bitter Medium" pitchFamily="34" charset="-122"/>
                <a:cs typeface="Bitter Medium" pitchFamily="34" charset="-120"/>
              </a:rPr>
              <a:t>Explore Neighbors</a:t>
            </a:r>
            <a:endParaRPr lang="en-US" sz="1550" dirty="0"/>
          </a:p>
        </p:txBody>
      </p:sp>
      <p:sp>
        <p:nvSpPr>
          <p:cNvPr id="8" name="Text 5"/>
          <p:cNvSpPr/>
          <p:nvPr/>
        </p:nvSpPr>
        <p:spPr>
          <a:xfrm>
            <a:off x="731401" y="2334339"/>
            <a:ext cx="6324838" cy="755809"/>
          </a:xfrm>
          <a:prstGeom prst="rect">
            <a:avLst/>
          </a:prstGeom>
          <a:noFill/>
        </p:spPr>
        <p:txBody>
          <a:bodyPr wrap="square" lIns="0" tIns="0" rIns="0" bIns="0" rtlCol="0" anchor="t"/>
          <a:lstStyle/>
          <a:p>
            <a:pPr marL="0" indent="0" algn="l">
              <a:lnSpc>
                <a:spcPts val="1950"/>
              </a:lnSpc>
              <a:buNone/>
            </a:pPr>
            <a:r>
              <a:rPr lang="en-US" sz="1200" dirty="0">
                <a:solidFill>
                  <a:srgbClr val="2B2E3C"/>
                </a:solidFill>
                <a:latin typeface="Open Sans" pitchFamily="34" charset="0"/>
                <a:ea typeface="Open Sans" pitchFamily="34" charset="-122"/>
                <a:cs typeface="Open Sans" pitchFamily="34" charset="-120"/>
              </a:rPr>
              <a:t>Inside the main loop, we iterate through all adjacent nodes (neighbors) of the current node extracted from the priority queue. Each neighbor represents a potential next step in a path.</a:t>
            </a:r>
            <a:endParaRPr lang="en-US" sz="1200" dirty="0"/>
          </a:p>
        </p:txBody>
      </p:sp>
      <p:sp>
        <p:nvSpPr>
          <p:cNvPr id="9" name="Shape 6"/>
          <p:cNvSpPr/>
          <p:nvPr/>
        </p:nvSpPr>
        <p:spPr>
          <a:xfrm>
            <a:off x="731401" y="3267313"/>
            <a:ext cx="6324838" cy="992029"/>
          </a:xfrm>
          <a:prstGeom prst="roundRect">
            <a:avLst>
              <a:gd name="adj" fmla="val 6667"/>
            </a:avLst>
          </a:prstGeom>
          <a:solidFill>
            <a:srgbClr val="F2EBE3"/>
          </a:solidFill>
        </p:spPr>
      </p:sp>
      <p:sp>
        <p:nvSpPr>
          <p:cNvPr id="10" name="Shape 7"/>
          <p:cNvSpPr/>
          <p:nvPr/>
        </p:nvSpPr>
        <p:spPr>
          <a:xfrm>
            <a:off x="723543" y="3267313"/>
            <a:ext cx="6340554" cy="992029"/>
          </a:xfrm>
          <a:prstGeom prst="roundRect">
            <a:avLst>
              <a:gd name="adj" fmla="val 2381"/>
            </a:avLst>
          </a:prstGeom>
          <a:solidFill>
            <a:srgbClr val="F2EBE3"/>
          </a:solidFill>
        </p:spPr>
      </p:sp>
      <p:sp>
        <p:nvSpPr>
          <p:cNvPr id="11" name="Text 8"/>
          <p:cNvSpPr/>
          <p:nvPr/>
        </p:nvSpPr>
        <p:spPr>
          <a:xfrm>
            <a:off x="880943" y="3385423"/>
            <a:ext cx="6025753" cy="755809"/>
          </a:xfrm>
          <a:prstGeom prst="rect">
            <a:avLst/>
          </a:prstGeom>
          <a:noFill/>
        </p:spPr>
        <p:txBody>
          <a:bodyPr wrap="square" lIns="0" tIns="0" rIns="0" bIns="0" rtlCol="0" anchor="t"/>
          <a:lstStyle/>
          <a:p>
            <a:pPr marL="0" indent="0" algn="l">
              <a:lnSpc>
                <a:spcPts val="1950"/>
              </a:lnSpc>
              <a:buNone/>
            </a:pPr>
            <a:r>
              <a:rPr lang="en-US" sz="1200" dirty="0">
                <a:solidFill>
                  <a:srgbClr val="2B2E3C"/>
                </a:solidFill>
                <a:highlight>
                  <a:srgbClr val="F2EBE3"/>
                </a:highlight>
                <a:latin typeface="Consolas" pitchFamily="34" charset="0"/>
                <a:ea typeface="Consolas" pitchFamily="34" charset="-122"/>
                <a:cs typeface="Consolas" pitchFamily="34" charset="-120"/>
              </a:rPr>
              <a:t>for(auto e : graph[node]) {</a:t>
            </a:r>
            <a:endParaRPr lang="en-US" sz="1200" dirty="0"/>
          </a:p>
          <a:p>
            <a:pPr marL="0" indent="0" algn="l">
              <a:lnSpc>
                <a:spcPts val="1950"/>
              </a:lnSpc>
              <a:buNone/>
            </a:pPr>
            <a:r>
              <a:rPr lang="en-US" sz="1200" dirty="0">
                <a:solidFill>
                  <a:srgbClr val="2B2E3C"/>
                </a:solidFill>
                <a:highlight>
                  <a:srgbClr val="F2EBE3"/>
                </a:highlight>
                <a:latin typeface="Consolas" pitchFamily="34" charset="0"/>
                <a:ea typeface="Consolas" pitchFamily="34" charset="-122"/>
                <a:cs typeface="Consolas" pitchFamily="34" charset="-120"/>
              </a:rPr>
              <a:t>    // e.first is neighbor node, e.second is edge weight</a:t>
            </a:r>
            <a:endParaRPr lang="en-US" sz="1200" dirty="0"/>
          </a:p>
          <a:p>
            <a:pPr marL="0" indent="0" algn="l">
              <a:lnSpc>
                <a:spcPts val="1950"/>
              </a:lnSpc>
              <a:buNone/>
            </a:pPr>
            <a:r>
              <a:rPr lang="en-US" sz="1200" dirty="0">
                <a:solidFill>
                  <a:srgbClr val="2B2E3C"/>
                </a:solidFill>
                <a:highlight>
                  <a:srgbClr val="F2EBE3"/>
                </a:highlight>
                <a:latin typeface="Consolas" pitchFamily="34" charset="0"/>
                <a:ea typeface="Consolas" pitchFamily="34" charset="-122"/>
                <a:cs typeface="Consolas" pitchFamily="34" charset="-120"/>
              </a:rPr>
              <a:t>}</a:t>
            </a:r>
            <a:endParaRPr lang="en-US" sz="1200" dirty="0"/>
          </a:p>
        </p:txBody>
      </p:sp>
      <p:sp>
        <p:nvSpPr>
          <p:cNvPr id="12" name="Shape 9"/>
          <p:cNvSpPr/>
          <p:nvPr/>
        </p:nvSpPr>
        <p:spPr>
          <a:xfrm>
            <a:off x="7393900" y="1600319"/>
            <a:ext cx="6685359" cy="2839283"/>
          </a:xfrm>
          <a:prstGeom prst="roundRect">
            <a:avLst>
              <a:gd name="adj" fmla="val 3865"/>
            </a:avLst>
          </a:prstGeom>
          <a:solidFill>
            <a:srgbClr val="FFF8F0"/>
          </a:solidFill>
        </p:spPr>
      </p:sp>
      <p:sp>
        <p:nvSpPr>
          <p:cNvPr id="13" name="Shape 10"/>
          <p:cNvSpPr/>
          <p:nvPr/>
        </p:nvSpPr>
        <p:spPr>
          <a:xfrm>
            <a:off x="7393900" y="1577459"/>
            <a:ext cx="6685359" cy="91440"/>
          </a:xfrm>
          <a:prstGeom prst="roundRect">
            <a:avLst>
              <a:gd name="adj" fmla="val 72334"/>
            </a:avLst>
          </a:prstGeom>
          <a:solidFill>
            <a:srgbClr val="D2600F"/>
          </a:solidFill>
        </p:spPr>
      </p:sp>
      <p:sp>
        <p:nvSpPr>
          <p:cNvPr id="14" name="Shape 11"/>
          <p:cNvSpPr/>
          <p:nvPr/>
        </p:nvSpPr>
        <p:spPr>
          <a:xfrm>
            <a:off x="10500360" y="1364099"/>
            <a:ext cx="472440" cy="472440"/>
          </a:xfrm>
          <a:prstGeom prst="roundRect">
            <a:avLst>
              <a:gd name="adj" fmla="val 193548"/>
            </a:avLst>
          </a:prstGeom>
          <a:solidFill>
            <a:srgbClr val="D2600F"/>
          </a:solidFill>
        </p:spPr>
      </p:sp>
      <p:pic>
        <p:nvPicPr>
          <p:cNvPr id="15" name="Image 1" descr="preencoded.png"/>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a:off x="10642044" y="1505783"/>
            <a:ext cx="188952" cy="188952"/>
          </a:xfrm>
          <a:prstGeom prst="rect">
            <a:avLst/>
          </a:prstGeom>
        </p:spPr>
      </p:pic>
      <p:sp>
        <p:nvSpPr>
          <p:cNvPr id="16" name="Text 12"/>
          <p:cNvSpPr/>
          <p:nvPr/>
        </p:nvSpPr>
        <p:spPr>
          <a:xfrm>
            <a:off x="7574161" y="1993940"/>
            <a:ext cx="1968937" cy="245983"/>
          </a:xfrm>
          <a:prstGeom prst="rect">
            <a:avLst/>
          </a:prstGeom>
          <a:noFill/>
        </p:spPr>
        <p:txBody>
          <a:bodyPr wrap="none" lIns="0" tIns="0" rIns="0" bIns="0" rtlCol="0" anchor="t"/>
          <a:lstStyle/>
          <a:p>
            <a:pPr marL="0" indent="0" algn="l">
              <a:lnSpc>
                <a:spcPts val="1900"/>
              </a:lnSpc>
              <a:buNone/>
            </a:pPr>
            <a:r>
              <a:rPr lang="en-US" sz="1550" dirty="0">
                <a:solidFill>
                  <a:srgbClr val="2B2E3C"/>
                </a:solidFill>
                <a:latin typeface="Bitter Medium" pitchFamily="34" charset="0"/>
                <a:ea typeface="Bitter Medium" pitchFamily="34" charset="-122"/>
                <a:cs typeface="Bitter Medium" pitchFamily="34" charset="-120"/>
              </a:rPr>
              <a:t>Ignore Blocked Roads</a:t>
            </a:r>
            <a:endParaRPr lang="en-US" sz="1550" dirty="0"/>
          </a:p>
        </p:txBody>
      </p:sp>
      <p:sp>
        <p:nvSpPr>
          <p:cNvPr id="17" name="Text 13"/>
          <p:cNvSpPr/>
          <p:nvPr/>
        </p:nvSpPr>
        <p:spPr>
          <a:xfrm>
            <a:off x="7574161" y="2334339"/>
            <a:ext cx="6324838" cy="755809"/>
          </a:xfrm>
          <a:prstGeom prst="rect">
            <a:avLst/>
          </a:prstGeom>
          <a:noFill/>
        </p:spPr>
        <p:txBody>
          <a:bodyPr wrap="square" lIns="0" tIns="0" rIns="0" bIns="0" rtlCol="0" anchor="t"/>
          <a:lstStyle/>
          <a:p>
            <a:pPr marL="0" indent="0" algn="l">
              <a:lnSpc>
                <a:spcPts val="1950"/>
              </a:lnSpc>
              <a:buNone/>
            </a:pPr>
            <a:r>
              <a:rPr lang="en-US" sz="1200" dirty="0">
                <a:solidFill>
                  <a:srgbClr val="2B2E3C"/>
                </a:solidFill>
                <a:latin typeface="Open Sans" pitchFamily="34" charset="0"/>
                <a:ea typeface="Open Sans" pitchFamily="34" charset="-122"/>
                <a:cs typeface="Open Sans" pitchFamily="34" charset="-120"/>
              </a:rPr>
              <a:t>If an edge (road) connecting to a neighbor has an infinite weight (</a:t>
            </a:r>
            <a:r>
              <a:rPr lang="en-US" sz="1200" dirty="0">
                <a:solidFill>
                  <a:srgbClr val="2B2E3C"/>
                </a:solidFill>
                <a:highlight>
                  <a:srgbClr val="F2EBE3"/>
                </a:highlight>
                <a:latin typeface="Consolas" pitchFamily="34" charset="0"/>
                <a:ea typeface="Consolas" pitchFamily="34" charset="-122"/>
                <a:cs typeface="Consolas" pitchFamily="34" charset="-120"/>
              </a:rPr>
              <a:t>INF</a:t>
            </a:r>
            <a:r>
              <a:rPr lang="en-US" sz="1200" dirty="0">
                <a:solidFill>
                  <a:srgbClr val="2B2E3C"/>
                </a:solidFill>
                <a:latin typeface="Open Sans" pitchFamily="34" charset="0"/>
                <a:ea typeface="Open Sans" pitchFamily="34" charset="-122"/>
                <a:cs typeface="Open Sans" pitchFamily="34" charset="-120"/>
              </a:rPr>
              <a:t>), it signifies a blocked or unreachable path. We skip such edges as they cannot be part of any valid route, just like an ambulance cannot use blocked roads.</a:t>
            </a:r>
            <a:endParaRPr lang="en-US" sz="1200" dirty="0"/>
          </a:p>
        </p:txBody>
      </p:sp>
      <p:sp>
        <p:nvSpPr>
          <p:cNvPr id="18" name="Shape 14"/>
          <p:cNvSpPr/>
          <p:nvPr/>
        </p:nvSpPr>
        <p:spPr>
          <a:xfrm>
            <a:off x="7574161" y="3267313"/>
            <a:ext cx="6324838" cy="488156"/>
          </a:xfrm>
          <a:prstGeom prst="roundRect">
            <a:avLst>
              <a:gd name="adj" fmla="val 13549"/>
            </a:avLst>
          </a:prstGeom>
          <a:solidFill>
            <a:srgbClr val="F2EBE3"/>
          </a:solidFill>
        </p:spPr>
      </p:sp>
      <p:sp>
        <p:nvSpPr>
          <p:cNvPr id="19" name="Shape 15"/>
          <p:cNvSpPr/>
          <p:nvPr/>
        </p:nvSpPr>
        <p:spPr>
          <a:xfrm>
            <a:off x="7566303" y="3267313"/>
            <a:ext cx="6340554" cy="488156"/>
          </a:xfrm>
          <a:prstGeom prst="roundRect">
            <a:avLst>
              <a:gd name="adj" fmla="val 4839"/>
            </a:avLst>
          </a:prstGeom>
          <a:solidFill>
            <a:srgbClr val="F2EBE3"/>
          </a:solidFill>
        </p:spPr>
      </p:sp>
      <p:sp>
        <p:nvSpPr>
          <p:cNvPr id="20" name="Text 16"/>
          <p:cNvSpPr/>
          <p:nvPr/>
        </p:nvSpPr>
        <p:spPr>
          <a:xfrm>
            <a:off x="7723703" y="3385423"/>
            <a:ext cx="6025753" cy="251936"/>
          </a:xfrm>
          <a:prstGeom prst="rect">
            <a:avLst/>
          </a:prstGeom>
          <a:noFill/>
        </p:spPr>
        <p:txBody>
          <a:bodyPr wrap="none" lIns="0" tIns="0" rIns="0" bIns="0" rtlCol="0" anchor="t"/>
          <a:lstStyle/>
          <a:p>
            <a:pPr marL="0" indent="0" algn="l">
              <a:lnSpc>
                <a:spcPts val="1950"/>
              </a:lnSpc>
              <a:buNone/>
            </a:pPr>
            <a:r>
              <a:rPr lang="en-US" sz="1200" dirty="0">
                <a:solidFill>
                  <a:srgbClr val="2B2E3C"/>
                </a:solidFill>
                <a:highlight>
                  <a:srgbClr val="F2EBE3"/>
                </a:highlight>
                <a:latin typeface="Consolas" pitchFamily="34" charset="0"/>
                <a:ea typeface="Consolas" pitchFamily="34" charset="-122"/>
                <a:cs typeface="Consolas" pitchFamily="34" charset="-120"/>
              </a:rPr>
              <a:t>    if(e.second == INF) continue;</a:t>
            </a:r>
            <a:endParaRPr lang="en-US" sz="1200" dirty="0"/>
          </a:p>
        </p:txBody>
      </p:sp>
      <p:sp>
        <p:nvSpPr>
          <p:cNvPr id="21" name="Shape 17"/>
          <p:cNvSpPr/>
          <p:nvPr/>
        </p:nvSpPr>
        <p:spPr>
          <a:xfrm>
            <a:off x="551140" y="4833223"/>
            <a:ext cx="6685359" cy="2839283"/>
          </a:xfrm>
          <a:prstGeom prst="roundRect">
            <a:avLst>
              <a:gd name="adj" fmla="val 3865"/>
            </a:avLst>
          </a:prstGeom>
          <a:solidFill>
            <a:srgbClr val="FFF8F0"/>
          </a:solidFill>
        </p:spPr>
      </p:sp>
      <p:sp>
        <p:nvSpPr>
          <p:cNvPr id="22" name="Shape 18"/>
          <p:cNvSpPr/>
          <p:nvPr/>
        </p:nvSpPr>
        <p:spPr>
          <a:xfrm>
            <a:off x="551140" y="4810363"/>
            <a:ext cx="6685359" cy="91440"/>
          </a:xfrm>
          <a:prstGeom prst="roundRect">
            <a:avLst>
              <a:gd name="adj" fmla="val 72334"/>
            </a:avLst>
          </a:prstGeom>
          <a:solidFill>
            <a:srgbClr val="D2600F"/>
          </a:solidFill>
        </p:spPr>
      </p:sp>
      <p:sp>
        <p:nvSpPr>
          <p:cNvPr id="23" name="Shape 19"/>
          <p:cNvSpPr/>
          <p:nvPr/>
        </p:nvSpPr>
        <p:spPr>
          <a:xfrm>
            <a:off x="3657600" y="4597003"/>
            <a:ext cx="472440" cy="472440"/>
          </a:xfrm>
          <a:prstGeom prst="roundRect">
            <a:avLst>
              <a:gd name="adj" fmla="val 193548"/>
            </a:avLst>
          </a:prstGeom>
          <a:solidFill>
            <a:srgbClr val="D2600F"/>
          </a:solidFill>
        </p:spPr>
      </p:sp>
      <p:pic>
        <p:nvPicPr>
          <p:cNvPr id="24" name="Image 2" descr="preencoded.png"/>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3799284" y="4738688"/>
            <a:ext cx="188952" cy="188952"/>
          </a:xfrm>
          <a:prstGeom prst="rect">
            <a:avLst/>
          </a:prstGeom>
        </p:spPr>
      </p:pic>
      <p:sp>
        <p:nvSpPr>
          <p:cNvPr id="25" name="Text 20"/>
          <p:cNvSpPr/>
          <p:nvPr/>
        </p:nvSpPr>
        <p:spPr>
          <a:xfrm>
            <a:off x="731401" y="5226844"/>
            <a:ext cx="1968460" cy="245983"/>
          </a:xfrm>
          <a:prstGeom prst="rect">
            <a:avLst/>
          </a:prstGeom>
          <a:noFill/>
        </p:spPr>
        <p:txBody>
          <a:bodyPr wrap="none" lIns="0" tIns="0" rIns="0" bIns="0" rtlCol="0" anchor="t"/>
          <a:lstStyle/>
          <a:p>
            <a:pPr marL="0" indent="0" algn="l">
              <a:lnSpc>
                <a:spcPts val="1900"/>
              </a:lnSpc>
              <a:buNone/>
            </a:pPr>
            <a:r>
              <a:rPr lang="en-US" sz="1550" dirty="0">
                <a:solidFill>
                  <a:srgbClr val="2B2E3C"/>
                </a:solidFill>
                <a:latin typeface="Bitter Medium" pitchFamily="34" charset="0"/>
                <a:ea typeface="Bitter Medium" pitchFamily="34" charset="-122"/>
                <a:cs typeface="Bitter Medium" pitchFamily="34" charset="-120"/>
              </a:rPr>
              <a:t>Relaxation Step</a:t>
            </a:r>
            <a:endParaRPr lang="en-US" sz="1550" dirty="0"/>
          </a:p>
        </p:txBody>
      </p:sp>
      <p:sp>
        <p:nvSpPr>
          <p:cNvPr id="26" name="Text 21"/>
          <p:cNvSpPr/>
          <p:nvPr/>
        </p:nvSpPr>
        <p:spPr>
          <a:xfrm>
            <a:off x="731401" y="5567243"/>
            <a:ext cx="6324838" cy="755809"/>
          </a:xfrm>
          <a:prstGeom prst="rect">
            <a:avLst/>
          </a:prstGeom>
          <a:noFill/>
        </p:spPr>
        <p:txBody>
          <a:bodyPr wrap="square" lIns="0" tIns="0" rIns="0" bIns="0" rtlCol="0" anchor="t"/>
          <a:lstStyle/>
          <a:p>
            <a:pPr marL="0" indent="0" algn="l">
              <a:lnSpc>
                <a:spcPts val="1950"/>
              </a:lnSpc>
              <a:buNone/>
            </a:pPr>
            <a:r>
              <a:rPr lang="en-US" sz="1200" dirty="0">
                <a:solidFill>
                  <a:srgbClr val="2B2E3C"/>
                </a:solidFill>
                <a:latin typeface="Open Sans" pitchFamily="34" charset="0"/>
                <a:ea typeface="Open Sans" pitchFamily="34" charset="-122"/>
                <a:cs typeface="Open Sans" pitchFamily="34" charset="-120"/>
              </a:rPr>
              <a:t>This critical step checks if a new path to the neighbor (</a:t>
            </a:r>
            <a:r>
              <a:rPr lang="en-US" sz="1200" dirty="0">
                <a:solidFill>
                  <a:srgbClr val="2B2E3C"/>
                </a:solidFill>
                <a:highlight>
                  <a:srgbClr val="F2EBE3"/>
                </a:highlight>
                <a:latin typeface="Consolas" pitchFamily="34" charset="0"/>
                <a:ea typeface="Consolas" pitchFamily="34" charset="-122"/>
                <a:cs typeface="Consolas" pitchFamily="34" charset="-120"/>
              </a:rPr>
              <a:t>e.first</a:t>
            </a:r>
            <a:r>
              <a:rPr lang="en-US" sz="1200" dirty="0">
                <a:solidFill>
                  <a:srgbClr val="2B2E3C"/>
                </a:solidFill>
                <a:latin typeface="Open Sans" pitchFamily="34" charset="0"/>
                <a:ea typeface="Open Sans" pitchFamily="34" charset="-122"/>
                <a:cs typeface="Open Sans" pitchFamily="34" charset="-120"/>
              </a:rPr>
              <a:t>), going through the current node (</a:t>
            </a:r>
            <a:r>
              <a:rPr lang="en-US" sz="1200" dirty="0">
                <a:solidFill>
                  <a:srgbClr val="2B2E3C"/>
                </a:solidFill>
                <a:highlight>
                  <a:srgbClr val="F2EBE3"/>
                </a:highlight>
                <a:latin typeface="Consolas" pitchFamily="34" charset="0"/>
                <a:ea typeface="Consolas" pitchFamily="34" charset="-122"/>
                <a:cs typeface="Consolas" pitchFamily="34" charset="-120"/>
              </a:rPr>
              <a:t>node</a:t>
            </a:r>
            <a:r>
              <a:rPr lang="en-US" sz="1200" dirty="0">
                <a:solidFill>
                  <a:srgbClr val="2B2E3C"/>
                </a:solidFill>
                <a:latin typeface="Open Sans" pitchFamily="34" charset="0"/>
                <a:ea typeface="Open Sans" pitchFamily="34" charset="-122"/>
                <a:cs typeface="Open Sans" pitchFamily="34" charset="-120"/>
              </a:rPr>
              <a:t>), is shorter than the previously recorded shortest path to that neighbor.</a:t>
            </a:r>
            <a:endParaRPr lang="en-US" sz="1200" dirty="0"/>
          </a:p>
        </p:txBody>
      </p:sp>
      <p:sp>
        <p:nvSpPr>
          <p:cNvPr id="27" name="Shape 22"/>
          <p:cNvSpPr/>
          <p:nvPr/>
        </p:nvSpPr>
        <p:spPr>
          <a:xfrm>
            <a:off x="731401" y="6500217"/>
            <a:ext cx="6324838" cy="992029"/>
          </a:xfrm>
          <a:prstGeom prst="roundRect">
            <a:avLst>
              <a:gd name="adj" fmla="val 6667"/>
            </a:avLst>
          </a:prstGeom>
          <a:solidFill>
            <a:srgbClr val="F2EBE3"/>
          </a:solidFill>
        </p:spPr>
      </p:sp>
      <p:sp>
        <p:nvSpPr>
          <p:cNvPr id="28" name="Shape 23"/>
          <p:cNvSpPr/>
          <p:nvPr/>
        </p:nvSpPr>
        <p:spPr>
          <a:xfrm>
            <a:off x="723543" y="6500217"/>
            <a:ext cx="6340554" cy="992029"/>
          </a:xfrm>
          <a:prstGeom prst="roundRect">
            <a:avLst>
              <a:gd name="adj" fmla="val 2381"/>
            </a:avLst>
          </a:prstGeom>
          <a:solidFill>
            <a:srgbClr val="F2EBE3"/>
          </a:solidFill>
        </p:spPr>
      </p:sp>
      <p:sp>
        <p:nvSpPr>
          <p:cNvPr id="29" name="Text 24"/>
          <p:cNvSpPr/>
          <p:nvPr/>
        </p:nvSpPr>
        <p:spPr>
          <a:xfrm>
            <a:off x="880943" y="6618327"/>
            <a:ext cx="6025753" cy="755809"/>
          </a:xfrm>
          <a:prstGeom prst="rect">
            <a:avLst/>
          </a:prstGeom>
          <a:noFill/>
        </p:spPr>
        <p:txBody>
          <a:bodyPr wrap="square" lIns="0" tIns="0" rIns="0" bIns="0" rtlCol="0" anchor="t"/>
          <a:lstStyle/>
          <a:p>
            <a:pPr marL="0" indent="0" algn="l">
              <a:lnSpc>
                <a:spcPts val="1950"/>
              </a:lnSpc>
              <a:buNone/>
            </a:pPr>
            <a:r>
              <a:rPr lang="en-US" sz="1200" dirty="0">
                <a:solidFill>
                  <a:srgbClr val="2B2E3C"/>
                </a:solidFill>
                <a:highlight>
                  <a:srgbClr val="F2EBE3"/>
                </a:highlight>
                <a:latin typeface="Consolas" pitchFamily="34" charset="0"/>
                <a:ea typeface="Consolas" pitchFamily="34" charset="-122"/>
                <a:cs typeface="Consolas" pitchFamily="34" charset="-120"/>
              </a:rPr>
              <a:t>    if(dist[node] + e.second &lt; dist[e.first]) {</a:t>
            </a:r>
            <a:endParaRPr lang="en-US" sz="1200" dirty="0"/>
          </a:p>
          <a:p>
            <a:pPr marL="0" indent="0" algn="l">
              <a:lnSpc>
                <a:spcPts val="1950"/>
              </a:lnSpc>
              <a:buNone/>
            </a:pPr>
            <a:r>
              <a:rPr lang="en-US" sz="1200" dirty="0">
                <a:solidFill>
                  <a:srgbClr val="2B2E3C"/>
                </a:solidFill>
                <a:highlight>
                  <a:srgbClr val="F2EBE3"/>
                </a:highlight>
                <a:latin typeface="Consolas" pitchFamily="34" charset="0"/>
                <a:ea typeface="Consolas" pitchFamily="34" charset="-122"/>
                <a:cs typeface="Consolas" pitchFamily="34" charset="-120"/>
              </a:rPr>
              <a:t>        // A shorter path has been found</a:t>
            </a:r>
            <a:endParaRPr lang="en-US" sz="1200" dirty="0"/>
          </a:p>
          <a:p>
            <a:pPr marL="0" indent="0" algn="l">
              <a:lnSpc>
                <a:spcPts val="1950"/>
              </a:lnSpc>
              <a:buNone/>
            </a:pPr>
            <a:r>
              <a:rPr lang="en-US" sz="1200" dirty="0">
                <a:solidFill>
                  <a:srgbClr val="2B2E3C"/>
                </a:solidFill>
                <a:highlight>
                  <a:srgbClr val="F2EBE3"/>
                </a:highlight>
                <a:latin typeface="Consolas" pitchFamily="34" charset="0"/>
                <a:ea typeface="Consolas" pitchFamily="34" charset="-122"/>
                <a:cs typeface="Consolas" pitchFamily="34" charset="-120"/>
              </a:rPr>
              <a:t>    }</a:t>
            </a:r>
            <a:endParaRPr lang="en-US" sz="1200" dirty="0"/>
          </a:p>
        </p:txBody>
      </p:sp>
      <p:sp>
        <p:nvSpPr>
          <p:cNvPr id="30" name="Shape 25"/>
          <p:cNvSpPr/>
          <p:nvPr/>
        </p:nvSpPr>
        <p:spPr>
          <a:xfrm>
            <a:off x="7393900" y="4833223"/>
            <a:ext cx="6685359" cy="2839283"/>
          </a:xfrm>
          <a:prstGeom prst="roundRect">
            <a:avLst>
              <a:gd name="adj" fmla="val 3865"/>
            </a:avLst>
          </a:prstGeom>
          <a:solidFill>
            <a:srgbClr val="FFF8F0"/>
          </a:solidFill>
        </p:spPr>
      </p:sp>
      <p:sp>
        <p:nvSpPr>
          <p:cNvPr id="31" name="Shape 26"/>
          <p:cNvSpPr/>
          <p:nvPr/>
        </p:nvSpPr>
        <p:spPr>
          <a:xfrm>
            <a:off x="7393900" y="4810363"/>
            <a:ext cx="6685359" cy="91440"/>
          </a:xfrm>
          <a:prstGeom prst="roundRect">
            <a:avLst>
              <a:gd name="adj" fmla="val 72334"/>
            </a:avLst>
          </a:prstGeom>
          <a:solidFill>
            <a:srgbClr val="D2600F"/>
          </a:solidFill>
        </p:spPr>
      </p:sp>
      <p:sp>
        <p:nvSpPr>
          <p:cNvPr id="32" name="Shape 27"/>
          <p:cNvSpPr/>
          <p:nvPr/>
        </p:nvSpPr>
        <p:spPr>
          <a:xfrm>
            <a:off x="10500360" y="4597003"/>
            <a:ext cx="472440" cy="472440"/>
          </a:xfrm>
          <a:prstGeom prst="roundRect">
            <a:avLst>
              <a:gd name="adj" fmla="val 193548"/>
            </a:avLst>
          </a:prstGeom>
          <a:solidFill>
            <a:srgbClr val="D2600F"/>
          </a:solidFill>
        </p:spPr>
      </p:sp>
      <p:pic>
        <p:nvPicPr>
          <p:cNvPr id="33" name="Image 3" descr="preencoded.png"/>
          <p:cNvPicPr>
            <a:picLocks noChangeAspect="1"/>
          </p:cNvPicPr>
          <p:nvPr/>
        </p:nvPicPr>
        <p:blipFill>
          <a:blip r:embed="rId1">
            <a:extLst>
              <a:ext uri="{96DAC541-7B7A-43D3-8B79-37D633B846F1}">
                <asvg:svgBlip xmlns:asvg="http://schemas.microsoft.com/office/drawing/2016/SVG/main" r:embed="rId5"/>
              </a:ext>
            </a:extLst>
          </a:blip>
          <a:stretch>
            <a:fillRect/>
          </a:stretch>
        </p:blipFill>
        <p:spPr>
          <a:xfrm>
            <a:off x="10642044" y="4738688"/>
            <a:ext cx="188952" cy="188952"/>
          </a:xfrm>
          <a:prstGeom prst="rect">
            <a:avLst/>
          </a:prstGeom>
        </p:spPr>
      </p:pic>
      <p:sp>
        <p:nvSpPr>
          <p:cNvPr id="34" name="Text 28"/>
          <p:cNvSpPr/>
          <p:nvPr/>
        </p:nvSpPr>
        <p:spPr>
          <a:xfrm>
            <a:off x="7574161" y="5226844"/>
            <a:ext cx="2331720" cy="245983"/>
          </a:xfrm>
          <a:prstGeom prst="rect">
            <a:avLst/>
          </a:prstGeom>
          <a:noFill/>
        </p:spPr>
        <p:txBody>
          <a:bodyPr wrap="none" lIns="0" tIns="0" rIns="0" bIns="0" rtlCol="0" anchor="t"/>
          <a:lstStyle/>
          <a:p>
            <a:pPr marL="0" indent="0" algn="l">
              <a:lnSpc>
                <a:spcPts val="1900"/>
              </a:lnSpc>
              <a:buNone/>
            </a:pPr>
            <a:r>
              <a:rPr lang="en-US" sz="1550" dirty="0">
                <a:solidFill>
                  <a:srgbClr val="2B2E3C"/>
                </a:solidFill>
                <a:latin typeface="Bitter Medium" pitchFamily="34" charset="0"/>
                <a:ea typeface="Bitter Medium" pitchFamily="34" charset="-122"/>
                <a:cs typeface="Bitter Medium" pitchFamily="34" charset="-120"/>
              </a:rPr>
              <a:t>Update Distance &amp; Parent</a:t>
            </a:r>
            <a:endParaRPr lang="en-US" sz="1550" dirty="0"/>
          </a:p>
        </p:txBody>
      </p:sp>
      <p:sp>
        <p:nvSpPr>
          <p:cNvPr id="35" name="Text 29"/>
          <p:cNvSpPr/>
          <p:nvPr/>
        </p:nvSpPr>
        <p:spPr>
          <a:xfrm>
            <a:off x="7574161" y="5567243"/>
            <a:ext cx="6324838" cy="755809"/>
          </a:xfrm>
          <a:prstGeom prst="rect">
            <a:avLst/>
          </a:prstGeom>
          <a:noFill/>
        </p:spPr>
        <p:txBody>
          <a:bodyPr wrap="square" lIns="0" tIns="0" rIns="0" bIns="0" rtlCol="0" anchor="t"/>
          <a:lstStyle/>
          <a:p>
            <a:pPr marL="0" indent="0" algn="l">
              <a:lnSpc>
                <a:spcPts val="1950"/>
              </a:lnSpc>
              <a:buNone/>
            </a:pPr>
            <a:r>
              <a:rPr lang="en-US" sz="1200" dirty="0">
                <a:solidFill>
                  <a:srgbClr val="2B2E3C"/>
                </a:solidFill>
                <a:latin typeface="Open Sans" pitchFamily="34" charset="0"/>
                <a:ea typeface="Open Sans" pitchFamily="34" charset="-122"/>
                <a:cs typeface="Open Sans" pitchFamily="34" charset="-120"/>
              </a:rPr>
              <a:t>If a shorter path is discovered during the relaxation step, we update the shortest distance to the neighbor, record the current node as its predecessor in the `parent` array, and push the updated neighbor (with its new distance) into the priority queue.</a:t>
            </a:r>
            <a:endParaRPr lang="en-US" sz="1200" dirty="0"/>
          </a:p>
        </p:txBody>
      </p:sp>
      <p:sp>
        <p:nvSpPr>
          <p:cNvPr id="36" name="Shape 30"/>
          <p:cNvSpPr/>
          <p:nvPr/>
        </p:nvSpPr>
        <p:spPr>
          <a:xfrm>
            <a:off x="7574161" y="6500217"/>
            <a:ext cx="6324838" cy="992029"/>
          </a:xfrm>
          <a:prstGeom prst="roundRect">
            <a:avLst>
              <a:gd name="adj" fmla="val 6667"/>
            </a:avLst>
          </a:prstGeom>
          <a:solidFill>
            <a:srgbClr val="F2EBE3"/>
          </a:solidFill>
        </p:spPr>
      </p:sp>
      <p:sp>
        <p:nvSpPr>
          <p:cNvPr id="37" name="Shape 31"/>
          <p:cNvSpPr/>
          <p:nvPr/>
        </p:nvSpPr>
        <p:spPr>
          <a:xfrm>
            <a:off x="7566303" y="6500217"/>
            <a:ext cx="6340554" cy="992029"/>
          </a:xfrm>
          <a:prstGeom prst="roundRect">
            <a:avLst>
              <a:gd name="adj" fmla="val 2381"/>
            </a:avLst>
          </a:prstGeom>
          <a:solidFill>
            <a:srgbClr val="F2EBE3"/>
          </a:solidFill>
        </p:spPr>
      </p:sp>
      <p:sp>
        <p:nvSpPr>
          <p:cNvPr id="38" name="Text 32"/>
          <p:cNvSpPr/>
          <p:nvPr/>
        </p:nvSpPr>
        <p:spPr>
          <a:xfrm>
            <a:off x="7723703" y="6618327"/>
            <a:ext cx="6025753" cy="755809"/>
          </a:xfrm>
          <a:prstGeom prst="rect">
            <a:avLst/>
          </a:prstGeom>
          <a:noFill/>
        </p:spPr>
        <p:txBody>
          <a:bodyPr wrap="square" lIns="0" tIns="0" rIns="0" bIns="0" rtlCol="0" anchor="t"/>
          <a:lstStyle/>
          <a:p>
            <a:pPr marL="0" indent="0" algn="l">
              <a:lnSpc>
                <a:spcPts val="1950"/>
              </a:lnSpc>
              <a:buNone/>
            </a:pPr>
            <a:r>
              <a:rPr lang="en-US" sz="1200" dirty="0">
                <a:solidFill>
                  <a:srgbClr val="2B2E3C"/>
                </a:solidFill>
                <a:highlight>
                  <a:srgbClr val="F2EBE3"/>
                </a:highlight>
                <a:latin typeface="Consolas" pitchFamily="34" charset="0"/>
                <a:ea typeface="Consolas" pitchFamily="34" charset="-122"/>
                <a:cs typeface="Consolas" pitchFamily="34" charset="-120"/>
              </a:rPr>
              <a:t>        dist[e.first] = dist[node] + e.second;</a:t>
            </a:r>
            <a:endParaRPr lang="en-US" sz="1200" dirty="0"/>
          </a:p>
          <a:p>
            <a:pPr marL="0" indent="0" algn="l">
              <a:lnSpc>
                <a:spcPts val="1950"/>
              </a:lnSpc>
              <a:buNone/>
            </a:pPr>
            <a:r>
              <a:rPr lang="en-US" sz="1200" dirty="0">
                <a:solidFill>
                  <a:srgbClr val="2B2E3C"/>
                </a:solidFill>
                <a:highlight>
                  <a:srgbClr val="F2EBE3"/>
                </a:highlight>
                <a:latin typeface="Consolas" pitchFamily="34" charset="0"/>
                <a:ea typeface="Consolas" pitchFamily="34" charset="-122"/>
                <a:cs typeface="Consolas" pitchFamily="34" charset="-120"/>
              </a:rPr>
              <a:t>        parent[e.first] = node;</a:t>
            </a:r>
            <a:endParaRPr lang="en-US" sz="1200" dirty="0"/>
          </a:p>
          <a:p>
            <a:pPr marL="0" indent="0" algn="l">
              <a:lnSpc>
                <a:spcPts val="1950"/>
              </a:lnSpc>
              <a:buNone/>
            </a:pPr>
            <a:r>
              <a:rPr lang="en-US" sz="1200" dirty="0">
                <a:solidFill>
                  <a:srgbClr val="2B2E3C"/>
                </a:solidFill>
                <a:highlight>
                  <a:srgbClr val="F2EBE3"/>
                </a:highlight>
                <a:latin typeface="Consolas" pitchFamily="34" charset="0"/>
                <a:ea typeface="Consolas" pitchFamily="34" charset="-122"/>
                <a:cs typeface="Consolas" pitchFamily="34" charset="-120"/>
              </a:rPr>
              <a:t>        pq.push({dist[e.first], e.first}); // {distance, node}</a:t>
            </a:r>
            <a:endParaRPr lang="en-US" sz="1200" dirty="0"/>
          </a:p>
        </p:txBody>
      </p:sp>
      <p:pic>
        <p:nvPicPr>
          <p:cNvPr id="39" name="Picture 38"/>
          <p:cNvPicPr>
            <a:picLocks noChangeAspect="1"/>
          </p:cNvPicPr>
          <p:nvPr/>
        </p:nvPicPr>
        <p:blipFill>
          <a:blip r:embed="rId6"/>
          <a:stretch>
            <a:fillRect/>
          </a:stretch>
        </p:blipFill>
        <p:spPr>
          <a:xfrm>
            <a:off x="12034520" y="7669530"/>
            <a:ext cx="2505075" cy="4667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73881" y="450890"/>
            <a:ext cx="7155775" cy="512326"/>
          </a:xfrm>
          <a:prstGeom prst="rect">
            <a:avLst/>
          </a:prstGeom>
          <a:noFill/>
        </p:spPr>
        <p:txBody>
          <a:bodyPr wrap="none" lIns="0" tIns="0" rIns="0" bIns="0" rtlCol="0" anchor="t"/>
          <a:lstStyle/>
          <a:p>
            <a:pPr marL="0" indent="0" algn="l">
              <a:lnSpc>
                <a:spcPts val="4000"/>
              </a:lnSpc>
              <a:buNone/>
            </a:pPr>
            <a:r>
              <a:rPr lang="en-US" sz="3200" dirty="0">
                <a:solidFill>
                  <a:srgbClr val="2C3F42"/>
                </a:solidFill>
                <a:latin typeface="Bitter Medium" pitchFamily="34" charset="0"/>
                <a:ea typeface="Bitter Medium" pitchFamily="34" charset="-122"/>
                <a:cs typeface="Bitter Medium" pitchFamily="34" charset="-120"/>
              </a:rPr>
              <a:t>Dijkstra Function Explanation - Part 3</a:t>
            </a:r>
            <a:endParaRPr lang="en-US" sz="3200" dirty="0"/>
          </a:p>
        </p:txBody>
      </p:sp>
      <p:sp>
        <p:nvSpPr>
          <p:cNvPr id="3" name="Shape 1"/>
          <p:cNvSpPr/>
          <p:nvPr/>
        </p:nvSpPr>
        <p:spPr>
          <a:xfrm>
            <a:off x="819745" y="1700927"/>
            <a:ext cx="6413302" cy="163949"/>
          </a:xfrm>
          <a:prstGeom prst="roundRect">
            <a:avLst>
              <a:gd name="adj" fmla="val 42010"/>
            </a:avLst>
          </a:prstGeom>
          <a:solidFill>
            <a:srgbClr val="FCE2CF"/>
          </a:solidFill>
          <a:ln w="7620">
            <a:solidFill>
              <a:srgbClr val="E2C8B5"/>
            </a:solidFill>
            <a:prstDash val="solid"/>
          </a:ln>
        </p:spPr>
      </p:sp>
      <p:sp>
        <p:nvSpPr>
          <p:cNvPr id="4" name="Shape 2"/>
          <p:cNvSpPr/>
          <p:nvPr/>
        </p:nvSpPr>
        <p:spPr>
          <a:xfrm>
            <a:off x="573881" y="1536918"/>
            <a:ext cx="491847" cy="491847"/>
          </a:xfrm>
          <a:prstGeom prst="roundRect">
            <a:avLst>
              <a:gd name="adj" fmla="val 92956"/>
            </a:avLst>
          </a:prstGeom>
          <a:solidFill>
            <a:srgbClr val="FCE2CF"/>
          </a:solidFill>
          <a:ln w="7620">
            <a:solidFill>
              <a:srgbClr val="E2C8B5"/>
            </a:solidFill>
            <a:prstDash val="solid"/>
          </a:ln>
        </p:spPr>
      </p:sp>
      <p:pic>
        <p:nvPicPr>
          <p:cNvPr id="5"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96873" y="1659910"/>
            <a:ext cx="245864" cy="245864"/>
          </a:xfrm>
          <a:prstGeom prst="rect">
            <a:avLst/>
          </a:prstGeom>
        </p:spPr>
      </p:pic>
      <p:sp>
        <p:nvSpPr>
          <p:cNvPr id="6" name="Text 3"/>
          <p:cNvSpPr/>
          <p:nvPr/>
        </p:nvSpPr>
        <p:spPr>
          <a:xfrm>
            <a:off x="737830" y="2192774"/>
            <a:ext cx="2049780" cy="256223"/>
          </a:xfrm>
          <a:prstGeom prst="rect">
            <a:avLst/>
          </a:prstGeom>
          <a:noFill/>
        </p:spPr>
        <p:txBody>
          <a:bodyPr wrap="none" lIns="0" tIns="0" rIns="0" bIns="0" rtlCol="0" anchor="t"/>
          <a:lstStyle/>
          <a:p>
            <a:pPr marL="0" indent="0" algn="l">
              <a:lnSpc>
                <a:spcPts val="2000"/>
              </a:lnSpc>
              <a:buNone/>
            </a:pPr>
            <a:r>
              <a:rPr lang="en-US" sz="1600" dirty="0">
                <a:solidFill>
                  <a:srgbClr val="2B2E3C"/>
                </a:solidFill>
                <a:latin typeface="Bitter Medium" pitchFamily="34" charset="0"/>
                <a:ea typeface="Bitter Medium" pitchFamily="34" charset="-122"/>
                <a:cs typeface="Bitter Medium" pitchFamily="34" charset="-120"/>
              </a:rPr>
              <a:t>No Route Available</a:t>
            </a:r>
            <a:endParaRPr lang="en-US" sz="1600" dirty="0"/>
          </a:p>
        </p:txBody>
      </p:sp>
      <p:sp>
        <p:nvSpPr>
          <p:cNvPr id="7" name="Text 4"/>
          <p:cNvSpPr/>
          <p:nvPr/>
        </p:nvSpPr>
        <p:spPr>
          <a:xfrm>
            <a:off x="737830" y="2547342"/>
            <a:ext cx="6331387" cy="786884"/>
          </a:xfrm>
          <a:prstGeom prst="rect">
            <a:avLst/>
          </a:prstGeom>
          <a:noFill/>
        </p:spPr>
        <p:txBody>
          <a:bodyPr wrap="square" lIns="0" tIns="0" rIns="0" bIns="0" rtlCol="0" anchor="t"/>
          <a:lstStyle/>
          <a:p>
            <a:pPr marL="0" indent="0" algn="l">
              <a:lnSpc>
                <a:spcPts val="2050"/>
              </a:lnSpc>
              <a:buNone/>
            </a:pPr>
            <a:r>
              <a:rPr lang="en-US" sz="1250" dirty="0">
                <a:solidFill>
                  <a:srgbClr val="2B2E3C"/>
                </a:solidFill>
                <a:latin typeface="Open Sans" pitchFamily="34" charset="0"/>
                <a:ea typeface="Open Sans" pitchFamily="34" charset="-122"/>
                <a:cs typeface="Open Sans" pitchFamily="34" charset="-120"/>
              </a:rPr>
              <a:t>After the algorithm completes, if the distance to the destination node (dest) remains INF, it means no path exists from the starting node to the destination in the given graph.</a:t>
            </a:r>
            <a:endParaRPr lang="en-US" sz="1250" dirty="0"/>
          </a:p>
        </p:txBody>
      </p:sp>
      <p:sp>
        <p:nvSpPr>
          <p:cNvPr id="8" name="Shape 5"/>
          <p:cNvSpPr/>
          <p:nvPr/>
        </p:nvSpPr>
        <p:spPr>
          <a:xfrm>
            <a:off x="737830" y="3518654"/>
            <a:ext cx="6331387" cy="770334"/>
          </a:xfrm>
          <a:prstGeom prst="roundRect">
            <a:avLst>
              <a:gd name="adj" fmla="val 8941"/>
            </a:avLst>
          </a:prstGeom>
          <a:solidFill>
            <a:srgbClr val="F2EBE3"/>
          </a:solidFill>
        </p:spPr>
      </p:sp>
      <p:sp>
        <p:nvSpPr>
          <p:cNvPr id="9" name="Shape 6"/>
          <p:cNvSpPr/>
          <p:nvPr/>
        </p:nvSpPr>
        <p:spPr>
          <a:xfrm>
            <a:off x="729734" y="3518654"/>
            <a:ext cx="6347579" cy="770334"/>
          </a:xfrm>
          <a:prstGeom prst="roundRect">
            <a:avLst>
              <a:gd name="adj" fmla="val 3193"/>
            </a:avLst>
          </a:prstGeom>
          <a:solidFill>
            <a:srgbClr val="F2EBE3"/>
          </a:solidFill>
        </p:spPr>
      </p:sp>
      <p:sp>
        <p:nvSpPr>
          <p:cNvPr id="10" name="Text 7"/>
          <p:cNvSpPr/>
          <p:nvPr/>
        </p:nvSpPr>
        <p:spPr>
          <a:xfrm>
            <a:off x="893683" y="3641527"/>
            <a:ext cx="6019681" cy="524589"/>
          </a:xfrm>
          <a:prstGeom prst="rect">
            <a:avLst/>
          </a:prstGeom>
          <a:noFill/>
        </p:spPr>
        <p:txBody>
          <a:bodyPr wrap="square" lIns="0" tIns="0" rIns="0" bIns="0" rtlCol="0" anchor="t"/>
          <a:lstStyle/>
          <a:p>
            <a:pPr marL="0" indent="0" algn="l">
              <a:lnSpc>
                <a:spcPts val="2050"/>
              </a:lnSpc>
              <a:buNone/>
            </a:pPr>
            <a:r>
              <a:rPr lang="en-US" sz="1250" dirty="0">
                <a:solidFill>
                  <a:srgbClr val="2B2E3C"/>
                </a:solidFill>
                <a:highlight>
                  <a:srgbClr val="F2EBE3"/>
                </a:highlight>
                <a:latin typeface="Consolas" pitchFamily="34" charset="0"/>
                <a:ea typeface="Consolas" pitchFamily="34" charset="-122"/>
                <a:cs typeface="Consolas" pitchFamily="34" charset="-120"/>
              </a:rPr>
              <a:t>if(dist[dest] == INF) { cout &lt;&lt; "No route available to destination " &lt;&lt; dest &lt;&lt; endl; }</a:t>
            </a:r>
            <a:endParaRPr lang="en-US" sz="1250" dirty="0"/>
          </a:p>
        </p:txBody>
      </p:sp>
      <p:sp>
        <p:nvSpPr>
          <p:cNvPr id="11" name="Shape 8"/>
          <p:cNvSpPr/>
          <p:nvPr/>
        </p:nvSpPr>
        <p:spPr>
          <a:xfrm>
            <a:off x="7642979" y="1455063"/>
            <a:ext cx="6413421" cy="163949"/>
          </a:xfrm>
          <a:prstGeom prst="roundRect">
            <a:avLst>
              <a:gd name="adj" fmla="val 42010"/>
            </a:avLst>
          </a:prstGeom>
          <a:solidFill>
            <a:srgbClr val="FCE2CF"/>
          </a:solidFill>
          <a:ln w="7620">
            <a:solidFill>
              <a:srgbClr val="E2C8B5"/>
            </a:solidFill>
            <a:prstDash val="solid"/>
          </a:ln>
        </p:spPr>
      </p:sp>
      <p:sp>
        <p:nvSpPr>
          <p:cNvPr id="12" name="Shape 9"/>
          <p:cNvSpPr/>
          <p:nvPr/>
        </p:nvSpPr>
        <p:spPr>
          <a:xfrm>
            <a:off x="7397115" y="1291054"/>
            <a:ext cx="491847" cy="491847"/>
          </a:xfrm>
          <a:prstGeom prst="roundRect">
            <a:avLst>
              <a:gd name="adj" fmla="val 92956"/>
            </a:avLst>
          </a:prstGeom>
          <a:solidFill>
            <a:srgbClr val="FCE2CF"/>
          </a:solidFill>
          <a:ln w="7620">
            <a:solidFill>
              <a:srgbClr val="E2C8B5"/>
            </a:solidFill>
            <a:prstDash val="solid"/>
          </a:ln>
        </p:spPr>
      </p:sp>
      <p:pic>
        <p:nvPicPr>
          <p:cNvPr id="13" name="Image 1" descr="preencoded.png"/>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a:off x="7520107" y="1414046"/>
            <a:ext cx="245864" cy="245864"/>
          </a:xfrm>
          <a:prstGeom prst="rect">
            <a:avLst/>
          </a:prstGeom>
        </p:spPr>
      </p:pic>
      <p:sp>
        <p:nvSpPr>
          <p:cNvPr id="14" name="Text 10"/>
          <p:cNvSpPr/>
          <p:nvPr/>
        </p:nvSpPr>
        <p:spPr>
          <a:xfrm>
            <a:off x="7561064" y="1946910"/>
            <a:ext cx="2217777" cy="256223"/>
          </a:xfrm>
          <a:prstGeom prst="rect">
            <a:avLst/>
          </a:prstGeom>
          <a:noFill/>
        </p:spPr>
        <p:txBody>
          <a:bodyPr wrap="none" lIns="0" tIns="0" rIns="0" bIns="0" rtlCol="0" anchor="t"/>
          <a:lstStyle/>
          <a:p>
            <a:pPr marL="0" indent="0" algn="l">
              <a:lnSpc>
                <a:spcPts val="2000"/>
              </a:lnSpc>
              <a:buNone/>
            </a:pPr>
            <a:r>
              <a:rPr lang="en-US" sz="1600" dirty="0">
                <a:solidFill>
                  <a:srgbClr val="2B2E3C"/>
                </a:solidFill>
                <a:latin typeface="Bitter Medium" pitchFamily="34" charset="0"/>
                <a:ea typeface="Bitter Medium" pitchFamily="34" charset="-122"/>
                <a:cs typeface="Bitter Medium" pitchFamily="34" charset="-120"/>
              </a:rPr>
              <a:t>Print Shortest Distance</a:t>
            </a:r>
            <a:endParaRPr lang="en-US" sz="1600" dirty="0"/>
          </a:p>
        </p:txBody>
      </p:sp>
      <p:sp>
        <p:nvSpPr>
          <p:cNvPr id="15" name="Text 11"/>
          <p:cNvSpPr/>
          <p:nvPr/>
        </p:nvSpPr>
        <p:spPr>
          <a:xfrm>
            <a:off x="7561064" y="2301478"/>
            <a:ext cx="6331506" cy="524589"/>
          </a:xfrm>
          <a:prstGeom prst="rect">
            <a:avLst/>
          </a:prstGeom>
          <a:noFill/>
        </p:spPr>
        <p:txBody>
          <a:bodyPr wrap="square" lIns="0" tIns="0" rIns="0" bIns="0" rtlCol="0" anchor="t"/>
          <a:lstStyle/>
          <a:p>
            <a:pPr marL="0" indent="0" algn="l">
              <a:lnSpc>
                <a:spcPts val="2050"/>
              </a:lnSpc>
              <a:buNone/>
            </a:pPr>
            <a:r>
              <a:rPr lang="en-US" sz="1250" dirty="0">
                <a:solidFill>
                  <a:srgbClr val="2B2E3C"/>
                </a:solidFill>
                <a:latin typeface="Open Sans" pitchFamily="34" charset="0"/>
                <a:ea typeface="Open Sans" pitchFamily="34" charset="-122"/>
                <a:cs typeface="Open Sans" pitchFamily="34" charset="-120"/>
              </a:rPr>
              <a:t>If a path was found, this line displays the calculated shortest distance, representing the fastest travel time or minimum cost from the start to the destination.</a:t>
            </a:r>
            <a:endParaRPr lang="en-US" sz="1250" dirty="0"/>
          </a:p>
        </p:txBody>
      </p:sp>
      <p:sp>
        <p:nvSpPr>
          <p:cNvPr id="16" name="Shape 12"/>
          <p:cNvSpPr/>
          <p:nvPr/>
        </p:nvSpPr>
        <p:spPr>
          <a:xfrm>
            <a:off x="7561064" y="3010495"/>
            <a:ext cx="6331506" cy="508040"/>
          </a:xfrm>
          <a:prstGeom prst="roundRect">
            <a:avLst>
              <a:gd name="adj" fmla="val 13557"/>
            </a:avLst>
          </a:prstGeom>
          <a:solidFill>
            <a:srgbClr val="F2EBE3"/>
          </a:solidFill>
        </p:spPr>
      </p:sp>
      <p:sp>
        <p:nvSpPr>
          <p:cNvPr id="17" name="Shape 13"/>
          <p:cNvSpPr/>
          <p:nvPr/>
        </p:nvSpPr>
        <p:spPr>
          <a:xfrm>
            <a:off x="7552968" y="3010495"/>
            <a:ext cx="6347698" cy="508040"/>
          </a:xfrm>
          <a:prstGeom prst="roundRect">
            <a:avLst>
              <a:gd name="adj" fmla="val 4842"/>
            </a:avLst>
          </a:prstGeom>
          <a:solidFill>
            <a:srgbClr val="F2EBE3"/>
          </a:solidFill>
        </p:spPr>
      </p:sp>
      <p:sp>
        <p:nvSpPr>
          <p:cNvPr id="18" name="Text 14"/>
          <p:cNvSpPr/>
          <p:nvPr/>
        </p:nvSpPr>
        <p:spPr>
          <a:xfrm>
            <a:off x="7716917" y="3133368"/>
            <a:ext cx="6019800" cy="262295"/>
          </a:xfrm>
          <a:prstGeom prst="rect">
            <a:avLst/>
          </a:prstGeom>
          <a:noFill/>
        </p:spPr>
        <p:txBody>
          <a:bodyPr wrap="none" lIns="0" tIns="0" rIns="0" bIns="0" rtlCol="0" anchor="t"/>
          <a:lstStyle/>
          <a:p>
            <a:pPr marL="0" indent="0" algn="l">
              <a:lnSpc>
                <a:spcPts val="2050"/>
              </a:lnSpc>
              <a:buNone/>
            </a:pPr>
            <a:r>
              <a:rPr lang="en-US" sz="1250" dirty="0">
                <a:solidFill>
                  <a:srgbClr val="2B2E3C"/>
                </a:solidFill>
                <a:highlight>
                  <a:srgbClr val="F2EBE3"/>
                </a:highlight>
                <a:latin typeface="Consolas" pitchFamily="34" charset="0"/>
                <a:ea typeface="Consolas" pitchFamily="34" charset="-122"/>
                <a:cs typeface="Consolas" pitchFamily="34" charset="-120"/>
              </a:rPr>
              <a:t>else { cout &lt;&lt; "\nShortest Time: " &lt;&lt; dist[dest] &lt;&lt; endl; }</a:t>
            </a:r>
            <a:endParaRPr lang="en-US" sz="1250" dirty="0"/>
          </a:p>
        </p:txBody>
      </p:sp>
      <p:sp>
        <p:nvSpPr>
          <p:cNvPr id="19" name="Shape 15"/>
          <p:cNvSpPr/>
          <p:nvPr/>
        </p:nvSpPr>
        <p:spPr>
          <a:xfrm>
            <a:off x="819745" y="5026700"/>
            <a:ext cx="6413302" cy="163949"/>
          </a:xfrm>
          <a:prstGeom prst="roundRect">
            <a:avLst>
              <a:gd name="adj" fmla="val 42010"/>
            </a:avLst>
          </a:prstGeom>
          <a:solidFill>
            <a:srgbClr val="FCE2CF"/>
          </a:solidFill>
          <a:ln w="7620">
            <a:solidFill>
              <a:srgbClr val="E2C8B5"/>
            </a:solidFill>
            <a:prstDash val="solid"/>
          </a:ln>
        </p:spPr>
      </p:sp>
      <p:sp>
        <p:nvSpPr>
          <p:cNvPr id="20" name="Shape 16"/>
          <p:cNvSpPr/>
          <p:nvPr/>
        </p:nvSpPr>
        <p:spPr>
          <a:xfrm>
            <a:off x="573881" y="4862691"/>
            <a:ext cx="491847" cy="491847"/>
          </a:xfrm>
          <a:prstGeom prst="roundRect">
            <a:avLst>
              <a:gd name="adj" fmla="val 92956"/>
            </a:avLst>
          </a:prstGeom>
          <a:solidFill>
            <a:srgbClr val="FCE2CF"/>
          </a:solidFill>
          <a:ln w="7620">
            <a:solidFill>
              <a:srgbClr val="E2C8B5"/>
            </a:solidFill>
            <a:prstDash val="solid"/>
          </a:ln>
        </p:spPr>
      </p:sp>
      <p:pic>
        <p:nvPicPr>
          <p:cNvPr id="21" name="Image 2" descr="preencoded.png"/>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696873" y="4985683"/>
            <a:ext cx="245864" cy="245864"/>
          </a:xfrm>
          <a:prstGeom prst="rect">
            <a:avLst/>
          </a:prstGeom>
        </p:spPr>
      </p:pic>
      <p:sp>
        <p:nvSpPr>
          <p:cNvPr id="22" name="Text 17"/>
          <p:cNvSpPr/>
          <p:nvPr/>
        </p:nvSpPr>
        <p:spPr>
          <a:xfrm>
            <a:off x="737830" y="5518547"/>
            <a:ext cx="2049780" cy="256223"/>
          </a:xfrm>
          <a:prstGeom prst="rect">
            <a:avLst/>
          </a:prstGeom>
          <a:noFill/>
        </p:spPr>
        <p:txBody>
          <a:bodyPr wrap="none" lIns="0" tIns="0" rIns="0" bIns="0" rtlCol="0" anchor="t"/>
          <a:lstStyle/>
          <a:p>
            <a:pPr marL="0" indent="0" algn="l">
              <a:lnSpc>
                <a:spcPts val="2000"/>
              </a:lnSpc>
              <a:buNone/>
            </a:pPr>
            <a:r>
              <a:rPr lang="en-US" sz="1600" dirty="0">
                <a:solidFill>
                  <a:srgbClr val="2B2E3C"/>
                </a:solidFill>
                <a:latin typeface="Bitter Medium" pitchFamily="34" charset="0"/>
                <a:ea typeface="Bitter Medium" pitchFamily="34" charset="-122"/>
                <a:cs typeface="Bitter Medium" pitchFamily="34" charset="-120"/>
              </a:rPr>
              <a:t>Reconstruct Path</a:t>
            </a:r>
            <a:endParaRPr lang="en-US" sz="1600" dirty="0"/>
          </a:p>
        </p:txBody>
      </p:sp>
      <p:sp>
        <p:nvSpPr>
          <p:cNvPr id="23" name="Text 18"/>
          <p:cNvSpPr/>
          <p:nvPr/>
        </p:nvSpPr>
        <p:spPr>
          <a:xfrm>
            <a:off x="737830" y="5873115"/>
            <a:ext cx="6331387" cy="786884"/>
          </a:xfrm>
          <a:prstGeom prst="rect">
            <a:avLst/>
          </a:prstGeom>
          <a:noFill/>
        </p:spPr>
        <p:txBody>
          <a:bodyPr wrap="square" lIns="0" tIns="0" rIns="0" bIns="0" rtlCol="0" anchor="t"/>
          <a:lstStyle/>
          <a:p>
            <a:pPr marL="0" indent="0" algn="l">
              <a:lnSpc>
                <a:spcPts val="2050"/>
              </a:lnSpc>
              <a:buNone/>
            </a:pPr>
            <a:r>
              <a:rPr lang="en-US" sz="1250" dirty="0">
                <a:solidFill>
                  <a:srgbClr val="2B2E3C"/>
                </a:solidFill>
                <a:latin typeface="Open Sans" pitchFamily="34" charset="0"/>
                <a:ea typeface="Open Sans" pitchFamily="34" charset="-122"/>
                <a:cs typeface="Open Sans" pitchFamily="34" charset="-120"/>
              </a:rPr>
              <a:t>To obtain the actual path, we trace backward from the destination node to the starting node using the parent array, storing each node in a temporary path vector. Finally, the path is reversed to get the correct order.</a:t>
            </a:r>
            <a:endParaRPr lang="en-US" sz="1250" dirty="0"/>
          </a:p>
        </p:txBody>
      </p:sp>
      <p:sp>
        <p:nvSpPr>
          <p:cNvPr id="24" name="Shape 19"/>
          <p:cNvSpPr/>
          <p:nvPr/>
        </p:nvSpPr>
        <p:spPr>
          <a:xfrm>
            <a:off x="737830" y="6844427"/>
            <a:ext cx="6331387" cy="770334"/>
          </a:xfrm>
          <a:prstGeom prst="roundRect">
            <a:avLst>
              <a:gd name="adj" fmla="val 8941"/>
            </a:avLst>
          </a:prstGeom>
          <a:solidFill>
            <a:srgbClr val="F2EBE3"/>
          </a:solidFill>
        </p:spPr>
      </p:sp>
      <p:sp>
        <p:nvSpPr>
          <p:cNvPr id="25" name="Shape 20"/>
          <p:cNvSpPr/>
          <p:nvPr/>
        </p:nvSpPr>
        <p:spPr>
          <a:xfrm>
            <a:off x="729734" y="6844427"/>
            <a:ext cx="6347579" cy="770334"/>
          </a:xfrm>
          <a:prstGeom prst="roundRect">
            <a:avLst>
              <a:gd name="adj" fmla="val 3193"/>
            </a:avLst>
          </a:prstGeom>
          <a:solidFill>
            <a:srgbClr val="F2EBE3"/>
          </a:solidFill>
        </p:spPr>
      </p:sp>
      <p:sp>
        <p:nvSpPr>
          <p:cNvPr id="26" name="Text 21"/>
          <p:cNvSpPr/>
          <p:nvPr/>
        </p:nvSpPr>
        <p:spPr>
          <a:xfrm>
            <a:off x="893683" y="6967299"/>
            <a:ext cx="6019681" cy="524589"/>
          </a:xfrm>
          <a:prstGeom prst="rect">
            <a:avLst/>
          </a:prstGeom>
          <a:noFill/>
        </p:spPr>
        <p:txBody>
          <a:bodyPr wrap="square" lIns="0" tIns="0" rIns="0" bIns="0" rtlCol="0" anchor="t"/>
          <a:lstStyle/>
          <a:p>
            <a:pPr marL="0" indent="0" algn="l">
              <a:lnSpc>
                <a:spcPts val="2050"/>
              </a:lnSpc>
              <a:buNone/>
            </a:pPr>
            <a:r>
              <a:rPr lang="en-US" sz="1250" dirty="0">
                <a:solidFill>
                  <a:srgbClr val="2B2E3C"/>
                </a:solidFill>
                <a:highlight>
                  <a:srgbClr val="F2EBE3"/>
                </a:highlight>
                <a:latin typeface="Consolas" pitchFamily="34" charset="0"/>
                <a:ea typeface="Consolas" pitchFamily="34" charset="-122"/>
                <a:cs typeface="Consolas" pitchFamily="34" charset="-120"/>
              </a:rPr>
              <a:t>vector&lt;int&gt; path; int curr = dest; while(curr != -1) { path.push_back(curr); curr = parent[curr]; } reverse(path.begin(), path.end());</a:t>
            </a:r>
            <a:endParaRPr lang="en-US" sz="1250" dirty="0"/>
          </a:p>
        </p:txBody>
      </p:sp>
      <p:sp>
        <p:nvSpPr>
          <p:cNvPr id="27" name="Shape 22"/>
          <p:cNvSpPr/>
          <p:nvPr/>
        </p:nvSpPr>
        <p:spPr>
          <a:xfrm>
            <a:off x="7642979" y="4780836"/>
            <a:ext cx="6413421" cy="163949"/>
          </a:xfrm>
          <a:prstGeom prst="roundRect">
            <a:avLst>
              <a:gd name="adj" fmla="val 42010"/>
            </a:avLst>
          </a:prstGeom>
          <a:solidFill>
            <a:srgbClr val="FCE2CF"/>
          </a:solidFill>
          <a:ln w="7620">
            <a:solidFill>
              <a:srgbClr val="E2C8B5"/>
            </a:solidFill>
            <a:prstDash val="solid"/>
          </a:ln>
        </p:spPr>
      </p:sp>
      <p:sp>
        <p:nvSpPr>
          <p:cNvPr id="28" name="Shape 23"/>
          <p:cNvSpPr/>
          <p:nvPr/>
        </p:nvSpPr>
        <p:spPr>
          <a:xfrm>
            <a:off x="7397115" y="4616827"/>
            <a:ext cx="491847" cy="491847"/>
          </a:xfrm>
          <a:prstGeom prst="roundRect">
            <a:avLst>
              <a:gd name="adj" fmla="val 92956"/>
            </a:avLst>
          </a:prstGeom>
          <a:solidFill>
            <a:srgbClr val="FCE2CF"/>
          </a:solidFill>
          <a:ln w="7620">
            <a:solidFill>
              <a:srgbClr val="E2C8B5"/>
            </a:solidFill>
            <a:prstDash val="solid"/>
          </a:ln>
        </p:spPr>
      </p:sp>
      <p:pic>
        <p:nvPicPr>
          <p:cNvPr id="29" name="Image 3" descr="preencoded.png"/>
          <p:cNvPicPr>
            <a:picLocks noChangeAspect="1"/>
          </p:cNvPicPr>
          <p:nvPr/>
        </p:nvPicPr>
        <p:blipFill>
          <a:blip r:embed="rId1">
            <a:extLst>
              <a:ext uri="{96DAC541-7B7A-43D3-8B79-37D633B846F1}">
                <asvg:svgBlip xmlns:asvg="http://schemas.microsoft.com/office/drawing/2016/SVG/main" r:embed="rId5"/>
              </a:ext>
            </a:extLst>
          </a:blip>
          <a:stretch>
            <a:fillRect/>
          </a:stretch>
        </p:blipFill>
        <p:spPr>
          <a:xfrm>
            <a:off x="7520107" y="4739819"/>
            <a:ext cx="245864" cy="245864"/>
          </a:xfrm>
          <a:prstGeom prst="rect">
            <a:avLst/>
          </a:prstGeom>
        </p:spPr>
      </p:pic>
      <p:sp>
        <p:nvSpPr>
          <p:cNvPr id="30" name="Text 24"/>
          <p:cNvSpPr/>
          <p:nvPr/>
        </p:nvSpPr>
        <p:spPr>
          <a:xfrm>
            <a:off x="7561064" y="5272683"/>
            <a:ext cx="2049780" cy="256223"/>
          </a:xfrm>
          <a:prstGeom prst="rect">
            <a:avLst/>
          </a:prstGeom>
          <a:noFill/>
        </p:spPr>
        <p:txBody>
          <a:bodyPr wrap="none" lIns="0" tIns="0" rIns="0" bIns="0" rtlCol="0" anchor="t"/>
          <a:lstStyle/>
          <a:p>
            <a:pPr marL="0" indent="0" algn="l">
              <a:lnSpc>
                <a:spcPts val="2000"/>
              </a:lnSpc>
              <a:buNone/>
            </a:pPr>
            <a:r>
              <a:rPr lang="en-US" sz="1600" dirty="0">
                <a:solidFill>
                  <a:srgbClr val="2B2E3C"/>
                </a:solidFill>
                <a:latin typeface="Bitter Medium" pitchFamily="34" charset="0"/>
                <a:ea typeface="Bitter Medium" pitchFamily="34" charset="-122"/>
                <a:cs typeface="Bitter Medium" pitchFamily="34" charset="-120"/>
              </a:rPr>
              <a:t>Print Path in Order</a:t>
            </a:r>
            <a:endParaRPr lang="en-US" sz="1600" dirty="0"/>
          </a:p>
        </p:txBody>
      </p:sp>
      <p:sp>
        <p:nvSpPr>
          <p:cNvPr id="31" name="Text 25"/>
          <p:cNvSpPr/>
          <p:nvPr/>
        </p:nvSpPr>
        <p:spPr>
          <a:xfrm>
            <a:off x="7561064" y="5627251"/>
            <a:ext cx="6331506" cy="524589"/>
          </a:xfrm>
          <a:prstGeom prst="rect">
            <a:avLst/>
          </a:prstGeom>
          <a:noFill/>
        </p:spPr>
        <p:txBody>
          <a:bodyPr wrap="square" lIns="0" tIns="0" rIns="0" bIns="0" rtlCol="0" anchor="t"/>
          <a:lstStyle/>
          <a:p>
            <a:pPr marL="0" indent="0" algn="l">
              <a:lnSpc>
                <a:spcPts val="2050"/>
              </a:lnSpc>
              <a:buNone/>
            </a:pPr>
            <a:r>
              <a:rPr lang="en-US" sz="1250" dirty="0">
                <a:solidFill>
                  <a:srgbClr val="2B2E3C"/>
                </a:solidFill>
                <a:latin typeface="Open Sans" pitchFamily="34" charset="0"/>
                <a:ea typeface="Open Sans" pitchFamily="34" charset="-122"/>
                <a:cs typeface="Open Sans" pitchFamily="34" charset="-120"/>
              </a:rPr>
              <a:t>This step iterates through the reconstructed path vector and prints the sequence of nodes from the start to the destination, clearly showing the shortest route.</a:t>
            </a:r>
            <a:endParaRPr lang="en-US" sz="1250" dirty="0"/>
          </a:p>
        </p:txBody>
      </p:sp>
      <p:sp>
        <p:nvSpPr>
          <p:cNvPr id="32" name="Shape 26"/>
          <p:cNvSpPr/>
          <p:nvPr/>
        </p:nvSpPr>
        <p:spPr>
          <a:xfrm>
            <a:off x="7561064" y="6336268"/>
            <a:ext cx="6331506" cy="770334"/>
          </a:xfrm>
          <a:prstGeom prst="roundRect">
            <a:avLst>
              <a:gd name="adj" fmla="val 8941"/>
            </a:avLst>
          </a:prstGeom>
          <a:solidFill>
            <a:srgbClr val="F2EBE3"/>
          </a:solidFill>
        </p:spPr>
      </p:sp>
      <p:sp>
        <p:nvSpPr>
          <p:cNvPr id="33" name="Shape 27"/>
          <p:cNvSpPr/>
          <p:nvPr/>
        </p:nvSpPr>
        <p:spPr>
          <a:xfrm>
            <a:off x="7552968" y="6336268"/>
            <a:ext cx="6347698" cy="770334"/>
          </a:xfrm>
          <a:prstGeom prst="roundRect">
            <a:avLst>
              <a:gd name="adj" fmla="val 3193"/>
            </a:avLst>
          </a:prstGeom>
          <a:solidFill>
            <a:srgbClr val="F2EBE3"/>
          </a:solidFill>
        </p:spPr>
      </p:sp>
      <p:sp>
        <p:nvSpPr>
          <p:cNvPr id="34" name="Text 28"/>
          <p:cNvSpPr/>
          <p:nvPr/>
        </p:nvSpPr>
        <p:spPr>
          <a:xfrm>
            <a:off x="7716917" y="6459141"/>
            <a:ext cx="6019800" cy="524589"/>
          </a:xfrm>
          <a:prstGeom prst="rect">
            <a:avLst/>
          </a:prstGeom>
          <a:noFill/>
        </p:spPr>
        <p:txBody>
          <a:bodyPr wrap="square" lIns="0" tIns="0" rIns="0" bIns="0" rtlCol="0" anchor="t"/>
          <a:lstStyle/>
          <a:p>
            <a:pPr marL="0" indent="0" algn="l">
              <a:lnSpc>
                <a:spcPts val="2050"/>
              </a:lnSpc>
              <a:buNone/>
            </a:pPr>
            <a:r>
              <a:rPr lang="en-US" sz="1250" dirty="0">
                <a:solidFill>
                  <a:srgbClr val="2B2E3C"/>
                </a:solidFill>
                <a:highlight>
                  <a:srgbClr val="F2EBE3"/>
                </a:highlight>
                <a:latin typeface="Consolas" pitchFamily="34" charset="0"/>
                <a:ea typeface="Consolas" pitchFamily="34" charset="-122"/>
                <a:cs typeface="Consolas" pitchFamily="34" charset="-120"/>
              </a:rPr>
              <a:t>cout &lt;&lt; "Shortest Path: "; for(int i = 0; i &lt; path.size(); ++i) { cout &lt;&lt; path[i] &lt;&lt; (i == path.size() - 1 ? "" : " -&gt; "); } cout &lt;&lt; endl;</a:t>
            </a:r>
            <a:endParaRPr lang="en-US" sz="1250" dirty="0"/>
          </a:p>
        </p:txBody>
      </p:sp>
      <p:pic>
        <p:nvPicPr>
          <p:cNvPr id="35" name="Picture 34"/>
          <p:cNvPicPr>
            <a:picLocks noChangeAspect="1"/>
          </p:cNvPicPr>
          <p:nvPr/>
        </p:nvPicPr>
        <p:blipFill>
          <a:blip r:embed="rId6"/>
          <a:stretch>
            <a:fillRect/>
          </a:stretch>
        </p:blipFill>
        <p:spPr>
          <a:xfrm>
            <a:off x="12125325" y="7762875"/>
            <a:ext cx="2505075" cy="4667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34472" y="541853"/>
            <a:ext cx="4998244" cy="477202"/>
          </a:xfrm>
          <a:prstGeom prst="rect">
            <a:avLst/>
          </a:prstGeom>
          <a:noFill/>
        </p:spPr>
        <p:txBody>
          <a:bodyPr wrap="none" lIns="0" tIns="0" rIns="0" bIns="0" rtlCol="0" anchor="t"/>
          <a:lstStyle/>
          <a:p>
            <a:pPr marL="0" indent="0" algn="l">
              <a:lnSpc>
                <a:spcPts val="3750"/>
              </a:lnSpc>
              <a:buNone/>
            </a:pPr>
            <a:r>
              <a:rPr lang="en-US" sz="3000" dirty="0">
                <a:solidFill>
                  <a:srgbClr val="2C3F42"/>
                </a:solidFill>
                <a:latin typeface="Bitter Medium" pitchFamily="34" charset="0"/>
                <a:ea typeface="Bitter Medium" pitchFamily="34" charset="-122"/>
                <a:cs typeface="Bitter Medium" pitchFamily="34" charset="-120"/>
              </a:rPr>
              <a:t>Travel to Destination - Part 1</a:t>
            </a:r>
            <a:endParaRPr lang="en-US" sz="3000" dirty="0"/>
          </a:p>
        </p:txBody>
      </p:sp>
      <p:sp>
        <p:nvSpPr>
          <p:cNvPr id="3" name="Shape 1"/>
          <p:cNvSpPr/>
          <p:nvPr/>
        </p:nvSpPr>
        <p:spPr>
          <a:xfrm>
            <a:off x="534472" y="1553528"/>
            <a:ext cx="6704409" cy="2998351"/>
          </a:xfrm>
          <a:prstGeom prst="roundRect">
            <a:avLst>
              <a:gd name="adj" fmla="val 3660"/>
            </a:avLst>
          </a:prstGeom>
          <a:solidFill>
            <a:srgbClr val="FFF8F0"/>
          </a:solidFill>
        </p:spPr>
      </p:sp>
      <p:sp>
        <p:nvSpPr>
          <p:cNvPr id="4" name="Shape 2"/>
          <p:cNvSpPr/>
          <p:nvPr/>
        </p:nvSpPr>
        <p:spPr>
          <a:xfrm>
            <a:off x="534472" y="1530668"/>
            <a:ext cx="6704409" cy="91440"/>
          </a:xfrm>
          <a:prstGeom prst="roundRect">
            <a:avLst>
              <a:gd name="adj" fmla="val 70149"/>
            </a:avLst>
          </a:prstGeom>
          <a:solidFill>
            <a:srgbClr val="D2600F"/>
          </a:solidFill>
        </p:spPr>
      </p:sp>
      <p:sp>
        <p:nvSpPr>
          <p:cNvPr id="5" name="Shape 3"/>
          <p:cNvSpPr/>
          <p:nvPr/>
        </p:nvSpPr>
        <p:spPr>
          <a:xfrm>
            <a:off x="3657600" y="1324451"/>
            <a:ext cx="458152" cy="458153"/>
          </a:xfrm>
          <a:prstGeom prst="roundRect">
            <a:avLst>
              <a:gd name="adj" fmla="val 199584"/>
            </a:avLst>
          </a:prstGeom>
          <a:solidFill>
            <a:srgbClr val="D2600F"/>
          </a:solidFill>
        </p:spPr>
      </p:sp>
      <p:pic>
        <p:nvPicPr>
          <p:cNvPr id="6"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794998" y="1461849"/>
            <a:ext cx="183237" cy="183237"/>
          </a:xfrm>
          <a:prstGeom prst="rect">
            <a:avLst/>
          </a:prstGeom>
        </p:spPr>
      </p:pic>
      <p:sp>
        <p:nvSpPr>
          <p:cNvPr id="7" name="Text 4"/>
          <p:cNvSpPr/>
          <p:nvPr/>
        </p:nvSpPr>
        <p:spPr>
          <a:xfrm>
            <a:off x="709970" y="1935242"/>
            <a:ext cx="2446020" cy="238482"/>
          </a:xfrm>
          <a:prstGeom prst="rect">
            <a:avLst/>
          </a:prstGeom>
          <a:noFill/>
        </p:spPr>
        <p:txBody>
          <a:bodyPr wrap="none" lIns="0" tIns="0" rIns="0" bIns="0" rtlCol="0" anchor="t"/>
          <a:lstStyle/>
          <a:p>
            <a:pPr marL="0" indent="0" algn="l">
              <a:lnSpc>
                <a:spcPts val="1850"/>
              </a:lnSpc>
              <a:buNone/>
            </a:pPr>
            <a:r>
              <a:rPr lang="en-US" sz="1500" dirty="0">
                <a:solidFill>
                  <a:srgbClr val="2B2E3C"/>
                </a:solidFill>
                <a:latin typeface="Bitter Medium" pitchFamily="34" charset="0"/>
                <a:ea typeface="Bitter Medium" pitchFamily="34" charset="-122"/>
                <a:cs typeface="Bitter Medium" pitchFamily="34" charset="-120"/>
              </a:rPr>
              <a:t>Display All Available Routes</a:t>
            </a:r>
            <a:endParaRPr lang="en-US" sz="1500" dirty="0"/>
          </a:p>
        </p:txBody>
      </p:sp>
      <p:sp>
        <p:nvSpPr>
          <p:cNvPr id="8" name="Text 5"/>
          <p:cNvSpPr/>
          <p:nvPr/>
        </p:nvSpPr>
        <p:spPr>
          <a:xfrm>
            <a:off x="709970" y="2265283"/>
            <a:ext cx="6353413" cy="732949"/>
          </a:xfrm>
          <a:prstGeom prst="rect">
            <a:avLst/>
          </a:prstGeom>
          <a:noFill/>
        </p:spPr>
        <p:txBody>
          <a:bodyPr wrap="square" lIns="0" tIns="0" rIns="0" bIns="0" rtlCol="0" anchor="t"/>
          <a:lstStyle/>
          <a:p>
            <a:pPr marL="0" indent="0" algn="l">
              <a:lnSpc>
                <a:spcPts val="1900"/>
              </a:lnSpc>
              <a:buNone/>
            </a:pPr>
            <a:r>
              <a:rPr lang="en-US" sz="1200" dirty="0">
                <a:solidFill>
                  <a:srgbClr val="2B2E3C"/>
                </a:solidFill>
                <a:latin typeface="Open Sans" pitchFamily="34" charset="0"/>
                <a:ea typeface="Open Sans" pitchFamily="34" charset="-122"/>
                <a:cs typeface="Open Sans" pitchFamily="34" charset="-120"/>
              </a:rPr>
              <a:t>Before the user selects a destination, the program first displays all available routes within the network. For each road, it shows the travel time or indicates if the road is blocked, providing a comprehensive overview.</a:t>
            </a:r>
            <a:endParaRPr lang="en-US" sz="1200" dirty="0"/>
          </a:p>
        </p:txBody>
      </p:sp>
      <p:sp>
        <p:nvSpPr>
          <p:cNvPr id="9" name="Shape 6"/>
          <p:cNvSpPr/>
          <p:nvPr/>
        </p:nvSpPr>
        <p:spPr>
          <a:xfrm>
            <a:off x="709970" y="3170039"/>
            <a:ext cx="6353413" cy="473393"/>
          </a:xfrm>
          <a:prstGeom prst="roundRect">
            <a:avLst>
              <a:gd name="adj" fmla="val 13550"/>
            </a:avLst>
          </a:prstGeom>
          <a:solidFill>
            <a:srgbClr val="F2EBE3"/>
          </a:solidFill>
        </p:spPr>
      </p:sp>
      <p:sp>
        <p:nvSpPr>
          <p:cNvPr id="10" name="Shape 7"/>
          <p:cNvSpPr/>
          <p:nvPr/>
        </p:nvSpPr>
        <p:spPr>
          <a:xfrm>
            <a:off x="702350" y="3170039"/>
            <a:ext cx="6368653" cy="473393"/>
          </a:xfrm>
          <a:prstGeom prst="roundRect">
            <a:avLst>
              <a:gd name="adj" fmla="val 4839"/>
            </a:avLst>
          </a:prstGeom>
          <a:solidFill>
            <a:srgbClr val="F2EBE3"/>
          </a:solidFill>
        </p:spPr>
      </p:sp>
      <p:sp>
        <p:nvSpPr>
          <p:cNvPr id="11" name="Text 8"/>
          <p:cNvSpPr/>
          <p:nvPr/>
        </p:nvSpPr>
        <p:spPr>
          <a:xfrm>
            <a:off x="854988" y="3284577"/>
            <a:ext cx="6063377" cy="244316"/>
          </a:xfrm>
          <a:prstGeom prst="rect">
            <a:avLst/>
          </a:prstGeom>
          <a:noFill/>
        </p:spPr>
        <p:txBody>
          <a:bodyPr wrap="none" lIns="0" tIns="0" rIns="0" bIns="0" rtlCol="0" anchor="t"/>
          <a:lstStyle/>
          <a:p>
            <a:pPr marL="0" indent="0" algn="l">
              <a:lnSpc>
                <a:spcPts val="1900"/>
              </a:lnSpc>
              <a:buNone/>
            </a:pPr>
            <a:r>
              <a:rPr lang="en-US" sz="1200" dirty="0">
                <a:solidFill>
                  <a:srgbClr val="2B2E3C"/>
                </a:solidFill>
                <a:highlight>
                  <a:srgbClr val="F2EBE3"/>
                </a:highlight>
                <a:latin typeface="Consolas" pitchFamily="34" charset="0"/>
                <a:ea typeface="Consolas" pitchFamily="34" charset="-122"/>
                <a:cs typeface="Consolas" pitchFamily="34" charset="-120"/>
              </a:rPr>
              <a:t>showRoutes(graph, names); // Prints every road with travel time or (BLOCKED)</a:t>
            </a:r>
            <a:endParaRPr lang="en-US" sz="1200" dirty="0"/>
          </a:p>
        </p:txBody>
      </p:sp>
      <p:sp>
        <p:nvSpPr>
          <p:cNvPr id="12" name="Shape 9"/>
          <p:cNvSpPr/>
          <p:nvPr/>
        </p:nvSpPr>
        <p:spPr>
          <a:xfrm>
            <a:off x="7391519" y="1553528"/>
            <a:ext cx="6704409" cy="2998351"/>
          </a:xfrm>
          <a:prstGeom prst="roundRect">
            <a:avLst>
              <a:gd name="adj" fmla="val 3660"/>
            </a:avLst>
          </a:prstGeom>
          <a:solidFill>
            <a:srgbClr val="FFF8F0"/>
          </a:solidFill>
        </p:spPr>
      </p:sp>
      <p:sp>
        <p:nvSpPr>
          <p:cNvPr id="13" name="Shape 10"/>
          <p:cNvSpPr/>
          <p:nvPr/>
        </p:nvSpPr>
        <p:spPr>
          <a:xfrm>
            <a:off x="7391519" y="1530668"/>
            <a:ext cx="6704409" cy="91440"/>
          </a:xfrm>
          <a:prstGeom prst="roundRect">
            <a:avLst>
              <a:gd name="adj" fmla="val 70149"/>
            </a:avLst>
          </a:prstGeom>
          <a:solidFill>
            <a:srgbClr val="D2600F"/>
          </a:solidFill>
        </p:spPr>
      </p:sp>
      <p:sp>
        <p:nvSpPr>
          <p:cNvPr id="14" name="Shape 11"/>
          <p:cNvSpPr/>
          <p:nvPr/>
        </p:nvSpPr>
        <p:spPr>
          <a:xfrm>
            <a:off x="10514648" y="1324451"/>
            <a:ext cx="458152" cy="458153"/>
          </a:xfrm>
          <a:prstGeom prst="roundRect">
            <a:avLst>
              <a:gd name="adj" fmla="val 199584"/>
            </a:avLst>
          </a:prstGeom>
          <a:solidFill>
            <a:srgbClr val="D2600F"/>
          </a:solidFill>
        </p:spPr>
      </p:sp>
      <p:pic>
        <p:nvPicPr>
          <p:cNvPr id="15" name="Image 1" descr="preencoded.png"/>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a:off x="10652046" y="1461849"/>
            <a:ext cx="183237" cy="183237"/>
          </a:xfrm>
          <a:prstGeom prst="rect">
            <a:avLst/>
          </a:prstGeom>
        </p:spPr>
      </p:pic>
      <p:sp>
        <p:nvSpPr>
          <p:cNvPr id="16" name="Text 12"/>
          <p:cNvSpPr/>
          <p:nvPr/>
        </p:nvSpPr>
        <p:spPr>
          <a:xfrm>
            <a:off x="7567017" y="1935242"/>
            <a:ext cx="2127885" cy="238482"/>
          </a:xfrm>
          <a:prstGeom prst="rect">
            <a:avLst/>
          </a:prstGeom>
          <a:noFill/>
        </p:spPr>
        <p:txBody>
          <a:bodyPr wrap="none" lIns="0" tIns="0" rIns="0" bIns="0" rtlCol="0" anchor="t"/>
          <a:lstStyle/>
          <a:p>
            <a:pPr marL="0" indent="0" algn="l">
              <a:lnSpc>
                <a:spcPts val="1850"/>
              </a:lnSpc>
              <a:buNone/>
            </a:pPr>
            <a:r>
              <a:rPr lang="en-US" sz="1500" dirty="0">
                <a:solidFill>
                  <a:srgbClr val="2B2E3C"/>
                </a:solidFill>
                <a:latin typeface="Bitter Medium" pitchFamily="34" charset="0"/>
                <a:ea typeface="Bitter Medium" pitchFamily="34" charset="-122"/>
                <a:cs typeface="Bitter Medium" pitchFamily="34" charset="-120"/>
              </a:rPr>
              <a:t>User Enters Destination</a:t>
            </a:r>
            <a:endParaRPr lang="en-US" sz="1500" dirty="0"/>
          </a:p>
        </p:txBody>
      </p:sp>
      <p:sp>
        <p:nvSpPr>
          <p:cNvPr id="17" name="Text 13"/>
          <p:cNvSpPr/>
          <p:nvPr/>
        </p:nvSpPr>
        <p:spPr>
          <a:xfrm>
            <a:off x="7567017" y="2265283"/>
            <a:ext cx="6353413" cy="732949"/>
          </a:xfrm>
          <a:prstGeom prst="rect">
            <a:avLst/>
          </a:prstGeom>
          <a:noFill/>
        </p:spPr>
        <p:txBody>
          <a:bodyPr wrap="square" lIns="0" tIns="0" rIns="0" bIns="0" rtlCol="0" anchor="t"/>
          <a:lstStyle/>
          <a:p>
            <a:pPr marL="0" indent="0" algn="l">
              <a:lnSpc>
                <a:spcPts val="1900"/>
              </a:lnSpc>
              <a:buNone/>
            </a:pPr>
            <a:r>
              <a:rPr lang="en-US" sz="1200" dirty="0">
                <a:solidFill>
                  <a:srgbClr val="2B2E3C"/>
                </a:solidFill>
                <a:latin typeface="Open Sans" pitchFamily="34" charset="0"/>
                <a:ea typeface="Open Sans" pitchFamily="34" charset="-122"/>
                <a:cs typeface="Open Sans" pitchFamily="34" charset="-120"/>
              </a:rPr>
              <a:t>The user is prompted to input their desired destination. The input is then immediately converted to lowercase, making the system case-insensitive and allowing flexible entries such as "ISB", "isb", or "Isb" to be recognized correctly.</a:t>
            </a:r>
            <a:endParaRPr lang="en-US" sz="1200" dirty="0"/>
          </a:p>
        </p:txBody>
      </p:sp>
      <p:sp>
        <p:nvSpPr>
          <p:cNvPr id="18" name="Shape 14"/>
          <p:cNvSpPr/>
          <p:nvPr/>
        </p:nvSpPr>
        <p:spPr>
          <a:xfrm>
            <a:off x="7567017" y="3170039"/>
            <a:ext cx="6353413" cy="1206341"/>
          </a:xfrm>
          <a:prstGeom prst="roundRect">
            <a:avLst>
              <a:gd name="adj" fmla="val 5317"/>
            </a:avLst>
          </a:prstGeom>
          <a:solidFill>
            <a:srgbClr val="F2EBE3"/>
          </a:solidFill>
        </p:spPr>
      </p:sp>
      <p:sp>
        <p:nvSpPr>
          <p:cNvPr id="19" name="Shape 15"/>
          <p:cNvSpPr/>
          <p:nvPr/>
        </p:nvSpPr>
        <p:spPr>
          <a:xfrm>
            <a:off x="7559397" y="3170039"/>
            <a:ext cx="6368653" cy="1206341"/>
          </a:xfrm>
          <a:prstGeom prst="roundRect">
            <a:avLst>
              <a:gd name="adj" fmla="val 1899"/>
            </a:avLst>
          </a:prstGeom>
          <a:solidFill>
            <a:srgbClr val="F2EBE3"/>
          </a:solidFill>
        </p:spPr>
      </p:sp>
      <p:sp>
        <p:nvSpPr>
          <p:cNvPr id="20" name="Text 16"/>
          <p:cNvSpPr/>
          <p:nvPr/>
        </p:nvSpPr>
        <p:spPr>
          <a:xfrm>
            <a:off x="7712035" y="3284577"/>
            <a:ext cx="6063377" cy="977265"/>
          </a:xfrm>
          <a:prstGeom prst="rect">
            <a:avLst/>
          </a:prstGeom>
          <a:noFill/>
        </p:spPr>
        <p:txBody>
          <a:bodyPr wrap="square" lIns="0" tIns="0" rIns="0" bIns="0" rtlCol="0" anchor="t"/>
          <a:lstStyle/>
          <a:p>
            <a:pPr marL="0" indent="0" algn="l">
              <a:lnSpc>
                <a:spcPts val="1900"/>
              </a:lnSpc>
              <a:buNone/>
            </a:pPr>
            <a:r>
              <a:rPr lang="en-US" sz="1200" dirty="0">
                <a:solidFill>
                  <a:srgbClr val="2B2E3C"/>
                </a:solidFill>
                <a:highlight>
                  <a:srgbClr val="F2EBE3"/>
                </a:highlight>
                <a:latin typeface="Consolas" pitchFamily="34" charset="0"/>
                <a:ea typeface="Consolas" pitchFamily="34" charset="-122"/>
                <a:cs typeface="Consolas" pitchFamily="34" charset="-120"/>
              </a:rPr>
              <a:t>cout &lt;&lt; "Enter destination: ";</a:t>
            </a:r>
            <a:endParaRPr lang="en-US" sz="1200" dirty="0"/>
          </a:p>
          <a:p>
            <a:pPr marL="0" indent="0" algn="l">
              <a:lnSpc>
                <a:spcPts val="1900"/>
              </a:lnSpc>
              <a:buNone/>
            </a:pPr>
            <a:r>
              <a:rPr lang="en-US" sz="1200" dirty="0">
                <a:solidFill>
                  <a:srgbClr val="2B2E3C"/>
                </a:solidFill>
                <a:highlight>
                  <a:srgbClr val="F2EBE3"/>
                </a:highlight>
                <a:latin typeface="Consolas" pitchFamily="34" charset="0"/>
                <a:ea typeface="Consolas" pitchFamily="34" charset="-122"/>
                <a:cs typeface="Consolas" pitchFamily="34" charset="-120"/>
              </a:rPr>
              <a:t>string d;</a:t>
            </a:r>
            <a:endParaRPr lang="en-US" sz="1200" dirty="0"/>
          </a:p>
          <a:p>
            <a:pPr marL="0" indent="0" algn="l">
              <a:lnSpc>
                <a:spcPts val="1900"/>
              </a:lnSpc>
              <a:buNone/>
            </a:pPr>
            <a:r>
              <a:rPr lang="en-US" sz="1200" dirty="0">
                <a:solidFill>
                  <a:srgbClr val="2B2E3C"/>
                </a:solidFill>
                <a:highlight>
                  <a:srgbClr val="F2EBE3"/>
                </a:highlight>
                <a:latin typeface="Consolas" pitchFamily="34" charset="0"/>
                <a:ea typeface="Consolas" pitchFamily="34" charset="-122"/>
                <a:cs typeface="Consolas" pitchFamily="34" charset="-120"/>
              </a:rPr>
              <a:t>cin &gt;&gt; d;</a:t>
            </a:r>
            <a:endParaRPr lang="en-US" sz="1200" dirty="0"/>
          </a:p>
          <a:p>
            <a:pPr marL="0" indent="0" algn="l">
              <a:lnSpc>
                <a:spcPts val="1900"/>
              </a:lnSpc>
              <a:buNone/>
            </a:pPr>
            <a:r>
              <a:rPr lang="en-US" sz="1200" dirty="0">
                <a:solidFill>
                  <a:srgbClr val="2B2E3C"/>
                </a:solidFill>
                <a:highlight>
                  <a:srgbClr val="F2EBE3"/>
                </a:highlight>
                <a:latin typeface="Consolas" pitchFamily="34" charset="0"/>
                <a:ea typeface="Consolas" pitchFamily="34" charset="-122"/>
                <a:cs typeface="Consolas" pitchFamily="34" charset="-120"/>
              </a:rPr>
              <a:t>transform(d.begin(), d.end(), d.begin(), ::tolower); // Convert input to lowercase</a:t>
            </a:r>
            <a:endParaRPr lang="en-US" sz="1200" dirty="0"/>
          </a:p>
        </p:txBody>
      </p:sp>
      <p:sp>
        <p:nvSpPr>
          <p:cNvPr id="21" name="Shape 17"/>
          <p:cNvSpPr/>
          <p:nvPr/>
        </p:nvSpPr>
        <p:spPr>
          <a:xfrm>
            <a:off x="534472" y="4933593"/>
            <a:ext cx="6704409" cy="2754035"/>
          </a:xfrm>
          <a:prstGeom prst="roundRect">
            <a:avLst>
              <a:gd name="adj" fmla="val 3984"/>
            </a:avLst>
          </a:prstGeom>
          <a:solidFill>
            <a:srgbClr val="FFF8F0"/>
          </a:solidFill>
        </p:spPr>
      </p:sp>
      <p:sp>
        <p:nvSpPr>
          <p:cNvPr id="22" name="Shape 18"/>
          <p:cNvSpPr/>
          <p:nvPr/>
        </p:nvSpPr>
        <p:spPr>
          <a:xfrm>
            <a:off x="534472" y="4910733"/>
            <a:ext cx="6704409" cy="91440"/>
          </a:xfrm>
          <a:prstGeom prst="roundRect">
            <a:avLst>
              <a:gd name="adj" fmla="val 70149"/>
            </a:avLst>
          </a:prstGeom>
          <a:solidFill>
            <a:srgbClr val="D2600F"/>
          </a:solidFill>
        </p:spPr>
      </p:sp>
      <p:sp>
        <p:nvSpPr>
          <p:cNvPr id="23" name="Shape 19"/>
          <p:cNvSpPr/>
          <p:nvPr/>
        </p:nvSpPr>
        <p:spPr>
          <a:xfrm>
            <a:off x="3657600" y="4704517"/>
            <a:ext cx="458152" cy="458153"/>
          </a:xfrm>
          <a:prstGeom prst="roundRect">
            <a:avLst>
              <a:gd name="adj" fmla="val 199584"/>
            </a:avLst>
          </a:prstGeom>
          <a:solidFill>
            <a:srgbClr val="D2600F"/>
          </a:solidFill>
        </p:spPr>
      </p:sp>
      <p:pic>
        <p:nvPicPr>
          <p:cNvPr id="24" name="Image 2" descr="preencoded.png"/>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3794998" y="4841915"/>
            <a:ext cx="183237" cy="183237"/>
          </a:xfrm>
          <a:prstGeom prst="rect">
            <a:avLst/>
          </a:prstGeom>
        </p:spPr>
      </p:pic>
      <p:sp>
        <p:nvSpPr>
          <p:cNvPr id="25" name="Text 20"/>
          <p:cNvSpPr/>
          <p:nvPr/>
        </p:nvSpPr>
        <p:spPr>
          <a:xfrm>
            <a:off x="709970" y="5315307"/>
            <a:ext cx="2677597" cy="238482"/>
          </a:xfrm>
          <a:prstGeom prst="rect">
            <a:avLst/>
          </a:prstGeom>
          <a:noFill/>
        </p:spPr>
        <p:txBody>
          <a:bodyPr wrap="none" lIns="0" tIns="0" rIns="0" bIns="0" rtlCol="0" anchor="t"/>
          <a:lstStyle/>
          <a:p>
            <a:pPr marL="0" indent="0" algn="l">
              <a:lnSpc>
                <a:spcPts val="1850"/>
              </a:lnSpc>
              <a:buNone/>
            </a:pPr>
            <a:r>
              <a:rPr lang="en-US" sz="1500" dirty="0">
                <a:solidFill>
                  <a:srgbClr val="2B2E3C"/>
                </a:solidFill>
                <a:latin typeface="Bitter Medium" pitchFamily="34" charset="0"/>
                <a:ea typeface="Bitter Medium" pitchFamily="34" charset="-122"/>
                <a:cs typeface="Bitter Medium" pitchFamily="34" charset="-120"/>
              </a:rPr>
              <a:t>Error Handling and Validation</a:t>
            </a:r>
            <a:endParaRPr lang="en-US" sz="1500" dirty="0"/>
          </a:p>
        </p:txBody>
      </p:sp>
      <p:sp>
        <p:nvSpPr>
          <p:cNvPr id="26" name="Text 21"/>
          <p:cNvSpPr/>
          <p:nvPr/>
        </p:nvSpPr>
        <p:spPr>
          <a:xfrm>
            <a:off x="709970" y="5645348"/>
            <a:ext cx="6353413" cy="732949"/>
          </a:xfrm>
          <a:prstGeom prst="rect">
            <a:avLst/>
          </a:prstGeom>
          <a:noFill/>
        </p:spPr>
        <p:txBody>
          <a:bodyPr wrap="square" lIns="0" tIns="0" rIns="0" bIns="0" rtlCol="0" anchor="t"/>
          <a:lstStyle/>
          <a:p>
            <a:pPr marL="0" indent="0" algn="l">
              <a:lnSpc>
                <a:spcPts val="1900"/>
              </a:lnSpc>
              <a:buNone/>
            </a:pPr>
            <a:r>
              <a:rPr lang="en-US" sz="1200" dirty="0">
                <a:solidFill>
                  <a:srgbClr val="2B2E3C"/>
                </a:solidFill>
                <a:latin typeface="Open Sans" pitchFamily="34" charset="0"/>
                <a:ea typeface="Open Sans" pitchFamily="34" charset="-122"/>
                <a:cs typeface="Open Sans" pitchFamily="34" charset="-120"/>
              </a:rPr>
              <a:t>After the user enters a destination, the system performs a crucial validation check. If the entered destination does not correspond to an existing route or location in the graph, an informative error message is displayed, prompting the user to try again.</a:t>
            </a:r>
            <a:endParaRPr lang="en-US" sz="1200" dirty="0"/>
          </a:p>
        </p:txBody>
      </p:sp>
      <p:sp>
        <p:nvSpPr>
          <p:cNvPr id="27" name="Shape 22"/>
          <p:cNvSpPr/>
          <p:nvPr/>
        </p:nvSpPr>
        <p:spPr>
          <a:xfrm>
            <a:off x="709970" y="6550104"/>
            <a:ext cx="6353413" cy="962025"/>
          </a:xfrm>
          <a:prstGeom prst="roundRect">
            <a:avLst>
              <a:gd name="adj" fmla="val 6668"/>
            </a:avLst>
          </a:prstGeom>
          <a:solidFill>
            <a:srgbClr val="F2EBE3"/>
          </a:solidFill>
        </p:spPr>
      </p:sp>
      <p:sp>
        <p:nvSpPr>
          <p:cNvPr id="28" name="Shape 23"/>
          <p:cNvSpPr/>
          <p:nvPr/>
        </p:nvSpPr>
        <p:spPr>
          <a:xfrm>
            <a:off x="702350" y="6550104"/>
            <a:ext cx="6368653" cy="962025"/>
          </a:xfrm>
          <a:prstGeom prst="roundRect">
            <a:avLst>
              <a:gd name="adj" fmla="val 2381"/>
            </a:avLst>
          </a:prstGeom>
          <a:solidFill>
            <a:srgbClr val="F2EBE3"/>
          </a:solidFill>
        </p:spPr>
      </p:sp>
      <p:sp>
        <p:nvSpPr>
          <p:cNvPr id="29" name="Text 24"/>
          <p:cNvSpPr/>
          <p:nvPr/>
        </p:nvSpPr>
        <p:spPr>
          <a:xfrm>
            <a:off x="854988" y="6664643"/>
            <a:ext cx="6063377" cy="732949"/>
          </a:xfrm>
          <a:prstGeom prst="rect">
            <a:avLst/>
          </a:prstGeom>
          <a:noFill/>
        </p:spPr>
        <p:txBody>
          <a:bodyPr wrap="square" lIns="0" tIns="0" rIns="0" bIns="0" rtlCol="0" anchor="t"/>
          <a:lstStyle/>
          <a:p>
            <a:pPr marL="0" indent="0" algn="l">
              <a:lnSpc>
                <a:spcPts val="1900"/>
              </a:lnSpc>
              <a:buNone/>
            </a:pPr>
            <a:r>
              <a:rPr lang="en-US" sz="1200" dirty="0">
                <a:solidFill>
                  <a:srgbClr val="2B2E3C"/>
                </a:solidFill>
                <a:highlight>
                  <a:srgbClr val="F2EBE3"/>
                </a:highlight>
                <a:latin typeface="Consolas" pitchFamily="34" charset="0"/>
                <a:ea typeface="Consolas" pitchFamily="34" charset="-122"/>
                <a:cs typeface="Consolas" pitchFamily="34" charset="-120"/>
              </a:rPr>
              <a:t>if(id.find(d) == id.end()) {</a:t>
            </a:r>
            <a:endParaRPr lang="en-US" sz="1200" dirty="0"/>
          </a:p>
          <a:p>
            <a:pPr marL="0" indent="0" algn="l">
              <a:lnSpc>
                <a:spcPts val="1900"/>
              </a:lnSpc>
              <a:buNone/>
            </a:pPr>
            <a:r>
              <a:rPr lang="en-US" sz="1200" dirty="0">
                <a:solidFill>
                  <a:srgbClr val="2B2E3C"/>
                </a:solidFill>
                <a:highlight>
                  <a:srgbClr val="F2EBE3"/>
                </a:highlight>
                <a:latin typeface="Consolas" pitchFamily="34" charset="0"/>
                <a:ea typeface="Consolas" pitchFamily="34" charset="-122"/>
                <a:cs typeface="Consolas" pitchFamily="34" charset="-120"/>
              </a:rPr>
              <a:t>    cout &lt;&lt; "No such route exists. Try again.\n";</a:t>
            </a:r>
            <a:endParaRPr lang="en-US" sz="1200" dirty="0"/>
          </a:p>
          <a:p>
            <a:pPr marL="0" indent="0" algn="l">
              <a:lnSpc>
                <a:spcPts val="1900"/>
              </a:lnSpc>
              <a:buNone/>
            </a:pPr>
            <a:r>
              <a:rPr lang="en-US" sz="1200" dirty="0">
                <a:solidFill>
                  <a:srgbClr val="2B2E3C"/>
                </a:solidFill>
                <a:highlight>
                  <a:srgbClr val="F2EBE3"/>
                </a:highlight>
                <a:latin typeface="Consolas" pitchFamily="34" charset="0"/>
                <a:ea typeface="Consolas" pitchFamily="34" charset="-122"/>
                <a:cs typeface="Consolas" pitchFamily="34" charset="-120"/>
              </a:rPr>
              <a:t>}</a:t>
            </a:r>
            <a:endParaRPr lang="en-US" sz="1200" dirty="0"/>
          </a:p>
        </p:txBody>
      </p:sp>
      <p:sp>
        <p:nvSpPr>
          <p:cNvPr id="30" name="Shape 25"/>
          <p:cNvSpPr/>
          <p:nvPr/>
        </p:nvSpPr>
        <p:spPr>
          <a:xfrm>
            <a:off x="7391519" y="4933593"/>
            <a:ext cx="6704409" cy="2754035"/>
          </a:xfrm>
          <a:prstGeom prst="roundRect">
            <a:avLst>
              <a:gd name="adj" fmla="val 3984"/>
            </a:avLst>
          </a:prstGeom>
          <a:solidFill>
            <a:srgbClr val="FFF8F0"/>
          </a:solidFill>
        </p:spPr>
      </p:sp>
      <p:sp>
        <p:nvSpPr>
          <p:cNvPr id="31" name="Shape 26"/>
          <p:cNvSpPr/>
          <p:nvPr/>
        </p:nvSpPr>
        <p:spPr>
          <a:xfrm>
            <a:off x="7391519" y="4910733"/>
            <a:ext cx="6704409" cy="91440"/>
          </a:xfrm>
          <a:prstGeom prst="roundRect">
            <a:avLst>
              <a:gd name="adj" fmla="val 70149"/>
            </a:avLst>
          </a:prstGeom>
          <a:solidFill>
            <a:srgbClr val="D2600F"/>
          </a:solidFill>
        </p:spPr>
      </p:sp>
      <p:sp>
        <p:nvSpPr>
          <p:cNvPr id="32" name="Shape 27"/>
          <p:cNvSpPr/>
          <p:nvPr/>
        </p:nvSpPr>
        <p:spPr>
          <a:xfrm>
            <a:off x="10514648" y="4704517"/>
            <a:ext cx="458152" cy="458153"/>
          </a:xfrm>
          <a:prstGeom prst="roundRect">
            <a:avLst>
              <a:gd name="adj" fmla="val 199584"/>
            </a:avLst>
          </a:prstGeom>
          <a:solidFill>
            <a:srgbClr val="D2600F"/>
          </a:solidFill>
        </p:spPr>
      </p:sp>
      <p:pic>
        <p:nvPicPr>
          <p:cNvPr id="33" name="Image 3" descr="preencoded.png"/>
          <p:cNvPicPr>
            <a:picLocks noChangeAspect="1"/>
          </p:cNvPicPr>
          <p:nvPr/>
        </p:nvPicPr>
        <p:blipFill>
          <a:blip r:embed="rId1">
            <a:extLst>
              <a:ext uri="{96DAC541-7B7A-43D3-8B79-37D633B846F1}">
                <asvg:svgBlip xmlns:asvg="http://schemas.microsoft.com/office/drawing/2016/SVG/main" r:embed="rId5"/>
              </a:ext>
            </a:extLst>
          </a:blip>
          <a:stretch>
            <a:fillRect/>
          </a:stretch>
        </p:blipFill>
        <p:spPr>
          <a:xfrm>
            <a:off x="10652046" y="4841915"/>
            <a:ext cx="183237" cy="183237"/>
          </a:xfrm>
          <a:prstGeom prst="rect">
            <a:avLst/>
          </a:prstGeom>
        </p:spPr>
      </p:pic>
      <p:sp>
        <p:nvSpPr>
          <p:cNvPr id="34" name="Text 28"/>
          <p:cNvSpPr/>
          <p:nvPr/>
        </p:nvSpPr>
        <p:spPr>
          <a:xfrm>
            <a:off x="7567017" y="5315307"/>
            <a:ext cx="2258139" cy="238482"/>
          </a:xfrm>
          <a:prstGeom prst="rect">
            <a:avLst/>
          </a:prstGeom>
          <a:noFill/>
        </p:spPr>
        <p:txBody>
          <a:bodyPr wrap="none" lIns="0" tIns="0" rIns="0" bIns="0" rtlCol="0" anchor="t"/>
          <a:lstStyle/>
          <a:p>
            <a:pPr marL="0" indent="0" algn="l">
              <a:lnSpc>
                <a:spcPts val="1850"/>
              </a:lnSpc>
              <a:buNone/>
            </a:pPr>
            <a:r>
              <a:rPr lang="en-US" sz="1500" dirty="0">
                <a:solidFill>
                  <a:srgbClr val="2B2E3C"/>
                </a:solidFill>
                <a:latin typeface="Bitter Medium" pitchFamily="34" charset="0"/>
                <a:ea typeface="Bitter Medium" pitchFamily="34" charset="-122"/>
                <a:cs typeface="Bitter Medium" pitchFamily="34" charset="-120"/>
              </a:rPr>
              <a:t>Shortest Path Calculation</a:t>
            </a:r>
            <a:endParaRPr lang="en-US" sz="1500" dirty="0"/>
          </a:p>
        </p:txBody>
      </p:sp>
      <p:sp>
        <p:nvSpPr>
          <p:cNvPr id="35" name="Text 29"/>
          <p:cNvSpPr/>
          <p:nvPr/>
        </p:nvSpPr>
        <p:spPr>
          <a:xfrm>
            <a:off x="7567017" y="5645348"/>
            <a:ext cx="6353413" cy="977265"/>
          </a:xfrm>
          <a:prstGeom prst="rect">
            <a:avLst/>
          </a:prstGeom>
          <a:noFill/>
        </p:spPr>
        <p:txBody>
          <a:bodyPr wrap="square" lIns="0" tIns="0" rIns="0" bIns="0" rtlCol="0" anchor="t"/>
          <a:lstStyle/>
          <a:p>
            <a:pPr marL="0" indent="0" algn="l">
              <a:lnSpc>
                <a:spcPts val="1900"/>
              </a:lnSpc>
              <a:buNone/>
            </a:pPr>
            <a:r>
              <a:rPr lang="en-US" sz="1200" dirty="0">
                <a:solidFill>
                  <a:srgbClr val="2B2E3C"/>
                </a:solidFill>
                <a:latin typeface="Open Sans" pitchFamily="34" charset="0"/>
                <a:ea typeface="Open Sans" pitchFamily="34" charset="-122"/>
                <a:cs typeface="Open Sans" pitchFamily="34" charset="-120"/>
              </a:rPr>
              <a:t>If a valid destination is provided, Dijkstra's Algorithm is invoked. This powerful algorithm efficiently computes the shortest (or fastest) path from the starting point to the specified destination, automatically navigating around any blocked roads or inaccessible segments within the network.</a:t>
            </a:r>
            <a:endParaRPr lang="en-US" sz="1200" dirty="0"/>
          </a:p>
        </p:txBody>
      </p:sp>
      <p:sp>
        <p:nvSpPr>
          <p:cNvPr id="36" name="Shape 30"/>
          <p:cNvSpPr/>
          <p:nvPr/>
        </p:nvSpPr>
        <p:spPr>
          <a:xfrm>
            <a:off x="7567017" y="6794421"/>
            <a:ext cx="6353413" cy="717709"/>
          </a:xfrm>
          <a:prstGeom prst="roundRect">
            <a:avLst>
              <a:gd name="adj" fmla="val 8937"/>
            </a:avLst>
          </a:prstGeom>
          <a:solidFill>
            <a:srgbClr val="F2EBE3"/>
          </a:solidFill>
        </p:spPr>
      </p:sp>
      <p:sp>
        <p:nvSpPr>
          <p:cNvPr id="37" name="Shape 31"/>
          <p:cNvSpPr/>
          <p:nvPr/>
        </p:nvSpPr>
        <p:spPr>
          <a:xfrm>
            <a:off x="7559397" y="6794421"/>
            <a:ext cx="6368653" cy="717709"/>
          </a:xfrm>
          <a:prstGeom prst="roundRect">
            <a:avLst>
              <a:gd name="adj" fmla="val 3192"/>
            </a:avLst>
          </a:prstGeom>
          <a:solidFill>
            <a:srgbClr val="F2EBE3"/>
          </a:solidFill>
        </p:spPr>
      </p:sp>
      <p:sp>
        <p:nvSpPr>
          <p:cNvPr id="38" name="Text 32"/>
          <p:cNvSpPr/>
          <p:nvPr/>
        </p:nvSpPr>
        <p:spPr>
          <a:xfrm>
            <a:off x="7712035" y="6908959"/>
            <a:ext cx="6063377" cy="488633"/>
          </a:xfrm>
          <a:prstGeom prst="rect">
            <a:avLst/>
          </a:prstGeom>
          <a:noFill/>
        </p:spPr>
        <p:txBody>
          <a:bodyPr wrap="square" lIns="0" tIns="0" rIns="0" bIns="0" rtlCol="0" anchor="t"/>
          <a:lstStyle/>
          <a:p>
            <a:pPr marL="0" indent="0" algn="l">
              <a:lnSpc>
                <a:spcPts val="1900"/>
              </a:lnSpc>
              <a:buNone/>
            </a:pPr>
            <a:r>
              <a:rPr lang="en-US" sz="1200" dirty="0">
                <a:solidFill>
                  <a:srgbClr val="2B2E3C"/>
                </a:solidFill>
                <a:highlight>
                  <a:srgbClr val="F2EBE3"/>
                </a:highlight>
                <a:latin typeface="Consolas" pitchFamily="34" charset="0"/>
                <a:ea typeface="Consolas" pitchFamily="34" charset="-122"/>
                <a:cs typeface="Consolas" pitchFamily="34" charset="-120"/>
              </a:rPr>
              <a:t>dijkstra(0, id[d], graph, names); // Uses Dijkstra's Algorithm to find the shortest/fastest path, avoiding blocked roads automatically</a:t>
            </a:r>
            <a:endParaRPr lang="en-US" sz="1200" dirty="0"/>
          </a:p>
        </p:txBody>
      </p:sp>
      <p:pic>
        <p:nvPicPr>
          <p:cNvPr id="39" name="Picture 38"/>
          <p:cNvPicPr>
            <a:picLocks noChangeAspect="1"/>
          </p:cNvPicPr>
          <p:nvPr/>
        </p:nvPicPr>
        <p:blipFill>
          <a:blip r:embed="rId6"/>
          <a:stretch>
            <a:fillRect/>
          </a:stretch>
        </p:blipFill>
        <p:spPr>
          <a:xfrm>
            <a:off x="12125325" y="7684135"/>
            <a:ext cx="2505075" cy="4667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696641"/>
            <a:ext cx="7858363" cy="708779"/>
          </a:xfrm>
          <a:prstGeom prst="rect">
            <a:avLst/>
          </a:prstGeom>
          <a:noFill/>
        </p:spPr>
        <p:txBody>
          <a:bodyPr wrap="none" lIns="0" tIns="0" rIns="0" bIns="0" rtlCol="0" anchor="t"/>
          <a:lstStyle/>
          <a:p>
            <a:pPr marL="0" indent="0" algn="l">
              <a:lnSpc>
                <a:spcPts val="5550"/>
              </a:lnSpc>
              <a:buNone/>
            </a:pPr>
            <a:r>
              <a:rPr lang="en-US" sz="4450" dirty="0">
                <a:solidFill>
                  <a:srgbClr val="2C3F42"/>
                </a:solidFill>
                <a:latin typeface="Bitter Medium" pitchFamily="34" charset="0"/>
                <a:ea typeface="Bitter Medium" pitchFamily="34" charset="-122"/>
                <a:cs typeface="Bitter Medium" pitchFamily="34" charset="-120"/>
              </a:rPr>
              <a:t>Travel to Destination - Output</a:t>
            </a:r>
            <a:endParaRPr lang="en-US" sz="4450" dirty="0"/>
          </a:p>
        </p:txBody>
      </p:sp>
      <p:sp>
        <p:nvSpPr>
          <p:cNvPr id="3" name="Text 1"/>
          <p:cNvSpPr/>
          <p:nvPr/>
        </p:nvSpPr>
        <p:spPr>
          <a:xfrm>
            <a:off x="793790" y="2496145"/>
            <a:ext cx="2835235" cy="354330"/>
          </a:xfrm>
          <a:prstGeom prst="rect">
            <a:avLst/>
          </a:prstGeom>
          <a:noFill/>
        </p:spPr>
        <p:txBody>
          <a:bodyPr wrap="none" lIns="0" tIns="0" rIns="0" bIns="0" rtlCol="0" anchor="t"/>
          <a:lstStyle/>
          <a:p>
            <a:pPr marL="0" indent="0" algn="l">
              <a:lnSpc>
                <a:spcPts val="2750"/>
              </a:lnSpc>
              <a:buNone/>
            </a:pPr>
            <a:r>
              <a:rPr lang="en-US" sz="2200" dirty="0">
                <a:solidFill>
                  <a:srgbClr val="2C3F42"/>
                </a:solidFill>
                <a:latin typeface="Bitter Medium" pitchFamily="34" charset="0"/>
                <a:ea typeface="Bitter Medium" pitchFamily="34" charset="-122"/>
                <a:cs typeface="Bitter Medium" pitchFamily="34" charset="-120"/>
              </a:rPr>
              <a:t>Shortest Travel Time</a:t>
            </a:r>
            <a:endParaRPr lang="en-US" sz="2200" dirty="0"/>
          </a:p>
        </p:txBody>
      </p:sp>
      <p:sp>
        <p:nvSpPr>
          <p:cNvPr id="4" name="Text 2"/>
          <p:cNvSpPr/>
          <p:nvPr/>
        </p:nvSpPr>
        <p:spPr>
          <a:xfrm>
            <a:off x="793790" y="3190637"/>
            <a:ext cx="13042821" cy="362903"/>
          </a:xfrm>
          <a:prstGeom prst="rect">
            <a:avLst/>
          </a:prstGeom>
          <a:noFill/>
        </p:spPr>
        <p:txBody>
          <a:bodyPr wrap="non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The program displays the shortest travel time identified by Dijkstra's algorithm.</a:t>
            </a:r>
            <a:endParaRPr lang="en-US" sz="1750" dirty="0"/>
          </a:p>
        </p:txBody>
      </p:sp>
      <p:sp>
        <p:nvSpPr>
          <p:cNvPr id="5" name="Text 3"/>
          <p:cNvSpPr/>
          <p:nvPr/>
        </p:nvSpPr>
        <p:spPr>
          <a:xfrm>
            <a:off x="793790" y="3893701"/>
            <a:ext cx="2835235" cy="354330"/>
          </a:xfrm>
          <a:prstGeom prst="rect">
            <a:avLst/>
          </a:prstGeom>
          <a:noFill/>
        </p:spPr>
        <p:txBody>
          <a:bodyPr wrap="none" lIns="0" tIns="0" rIns="0" bIns="0" rtlCol="0" anchor="t"/>
          <a:lstStyle/>
          <a:p>
            <a:pPr marL="0" indent="0" algn="l">
              <a:lnSpc>
                <a:spcPts val="2750"/>
              </a:lnSpc>
              <a:buNone/>
            </a:pPr>
            <a:r>
              <a:rPr lang="en-US" sz="2200" dirty="0">
                <a:solidFill>
                  <a:srgbClr val="2C3F42"/>
                </a:solidFill>
                <a:latin typeface="Bitter Medium" pitchFamily="34" charset="0"/>
                <a:ea typeface="Bitter Medium" pitchFamily="34" charset="-122"/>
                <a:cs typeface="Bitter Medium" pitchFamily="34" charset="-120"/>
              </a:rPr>
              <a:t>Complete Path</a:t>
            </a:r>
            <a:endParaRPr lang="en-US" sz="2200" dirty="0"/>
          </a:p>
        </p:txBody>
      </p:sp>
      <p:sp>
        <p:nvSpPr>
          <p:cNvPr id="6" name="Text 4"/>
          <p:cNvSpPr/>
          <p:nvPr/>
        </p:nvSpPr>
        <p:spPr>
          <a:xfrm>
            <a:off x="793790" y="4588193"/>
            <a:ext cx="13042821" cy="725805"/>
          </a:xfrm>
          <a:prstGeom prst="rect">
            <a:avLst/>
          </a:prstGeom>
          <a:noFill/>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A detailed path from the starting point (Saddar) to the destination is provided, automatically navigating around any blocked roads.</a:t>
            </a:r>
            <a:endParaRPr lang="en-US" sz="1750" dirty="0"/>
          </a:p>
        </p:txBody>
      </p:sp>
      <p:sp>
        <p:nvSpPr>
          <p:cNvPr id="7" name="Shape 5"/>
          <p:cNvSpPr/>
          <p:nvPr/>
        </p:nvSpPr>
        <p:spPr>
          <a:xfrm>
            <a:off x="793790" y="5569148"/>
            <a:ext cx="13042821" cy="963811"/>
          </a:xfrm>
          <a:prstGeom prst="roundRect">
            <a:avLst>
              <a:gd name="adj" fmla="val 9884"/>
            </a:avLst>
          </a:prstGeom>
          <a:solidFill>
            <a:srgbClr val="FAD3B8"/>
          </a:solidFill>
        </p:spPr>
      </p:sp>
      <p:pic>
        <p:nvPicPr>
          <p:cNvPr id="8" name="Image 0" descr="preencoded.png"/>
          <p:cNvPicPr>
            <a:picLocks noChangeAspect="1"/>
          </p:cNvPicPr>
          <p:nvPr/>
        </p:nvPicPr>
        <p:blipFill>
          <a:blip r:embed="rId1"/>
          <a:stretch>
            <a:fillRect/>
          </a:stretch>
        </p:blipFill>
        <p:spPr>
          <a:xfrm>
            <a:off x="1020604" y="5920859"/>
            <a:ext cx="283488" cy="226814"/>
          </a:xfrm>
          <a:prstGeom prst="rect">
            <a:avLst/>
          </a:prstGeom>
        </p:spPr>
      </p:pic>
      <p:sp>
        <p:nvSpPr>
          <p:cNvPr id="9" name="Text 6"/>
          <p:cNvSpPr/>
          <p:nvPr/>
        </p:nvSpPr>
        <p:spPr>
          <a:xfrm>
            <a:off x="1530906" y="5852636"/>
            <a:ext cx="12078891" cy="362903"/>
          </a:xfrm>
          <a:prstGeom prst="rect">
            <a:avLst/>
          </a:prstGeom>
          <a:noFill/>
        </p:spPr>
        <p:txBody>
          <a:bodyPr wrap="none" lIns="0" tIns="0" rIns="0" bIns="0" rtlCol="0" anchor="t"/>
          <a:lstStyle/>
          <a:p>
            <a:pPr marL="0" indent="0" algn="l">
              <a:lnSpc>
                <a:spcPts val="2850"/>
              </a:lnSpc>
              <a:buNone/>
            </a:pPr>
            <a:r>
              <a:rPr lang="en-US" sz="1750" dirty="0">
                <a:solidFill>
                  <a:srgbClr val="000000"/>
                </a:solidFill>
                <a:latin typeface="Open Sans" pitchFamily="34" charset="0"/>
                <a:ea typeface="Open Sans" pitchFamily="34" charset="-122"/>
                <a:cs typeface="Open Sans" pitchFamily="34" charset="-120"/>
              </a:rPr>
              <a:t>Why Dijkstra? Because ambulance must take the fastest route, not just any route.</a:t>
            </a:r>
            <a:endParaRPr lang="en-US" sz="1750" dirty="0"/>
          </a:p>
        </p:txBody>
      </p:sp>
      <p:pic>
        <p:nvPicPr>
          <p:cNvPr id="10" name="Picture 9"/>
          <p:cNvPicPr>
            <a:picLocks noChangeAspect="1"/>
          </p:cNvPicPr>
          <p:nvPr/>
        </p:nvPicPr>
        <p:blipFill>
          <a:blip r:embed="rId2"/>
          <a:stretch>
            <a:fillRect/>
          </a:stretch>
        </p:blipFill>
        <p:spPr>
          <a:xfrm>
            <a:off x="12125325" y="7762875"/>
            <a:ext cx="2505075" cy="4667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8040" y="518993"/>
            <a:ext cx="3629025" cy="453628"/>
          </a:xfrm>
          <a:prstGeom prst="rect">
            <a:avLst/>
          </a:prstGeom>
          <a:noFill/>
        </p:spPr>
        <p:txBody>
          <a:bodyPr wrap="none" lIns="0" tIns="0" rIns="0" bIns="0" rtlCol="0" anchor="t"/>
          <a:lstStyle/>
          <a:p>
            <a:pPr marL="0" indent="0" algn="l">
              <a:lnSpc>
                <a:spcPts val="3550"/>
              </a:lnSpc>
              <a:buNone/>
            </a:pPr>
            <a:r>
              <a:rPr lang="en-US" sz="2850" dirty="0">
                <a:solidFill>
                  <a:srgbClr val="2C3F42"/>
                </a:solidFill>
                <a:latin typeface="Bitter Medium" pitchFamily="34" charset="0"/>
                <a:ea typeface="Bitter Medium" pitchFamily="34" charset="-122"/>
                <a:cs typeface="Bitter Medium" pitchFamily="34" charset="-120"/>
              </a:rPr>
              <a:t>Block a Road - Part 1</a:t>
            </a:r>
            <a:endParaRPr lang="en-US" sz="2850" dirty="0"/>
          </a:p>
        </p:txBody>
      </p:sp>
      <p:sp>
        <p:nvSpPr>
          <p:cNvPr id="3" name="Text 1"/>
          <p:cNvSpPr/>
          <p:nvPr/>
        </p:nvSpPr>
        <p:spPr>
          <a:xfrm>
            <a:off x="508040" y="1262896"/>
            <a:ext cx="13614321" cy="232172"/>
          </a:xfrm>
          <a:prstGeom prst="rect">
            <a:avLst/>
          </a:prstGeom>
          <a:noFill/>
        </p:spPr>
        <p:txBody>
          <a:bodyPr wrap="none" lIns="0" tIns="0" rIns="0" bIns="0" rtlCol="0" anchor="t"/>
          <a:lstStyle/>
          <a:p>
            <a:pPr marL="0" indent="0" algn="l">
              <a:lnSpc>
                <a:spcPts val="1800"/>
              </a:lnSpc>
              <a:buNone/>
            </a:pPr>
            <a:r>
              <a:rPr lang="en-US" sz="1100" dirty="0">
                <a:solidFill>
                  <a:srgbClr val="2B2E3C"/>
                </a:solidFill>
                <a:latin typeface="Open Sans" pitchFamily="34" charset="0"/>
                <a:ea typeface="Open Sans" pitchFamily="34" charset="-122"/>
                <a:cs typeface="Open Sans" pitchFamily="34" charset="-120"/>
              </a:rPr>
              <a:t>To block a road, the user is prompted to enter the start and end locations of the road they wish to block:</a:t>
            </a:r>
            <a:endParaRPr lang="en-US" sz="1100" dirty="0"/>
          </a:p>
        </p:txBody>
      </p:sp>
      <p:sp>
        <p:nvSpPr>
          <p:cNvPr id="4" name="Shape 2"/>
          <p:cNvSpPr/>
          <p:nvPr/>
        </p:nvSpPr>
        <p:spPr>
          <a:xfrm>
            <a:off x="508040" y="1658303"/>
            <a:ext cx="13614321" cy="449818"/>
          </a:xfrm>
          <a:prstGeom prst="roundRect">
            <a:avLst>
              <a:gd name="adj" fmla="val 13554"/>
            </a:avLst>
          </a:prstGeom>
          <a:solidFill>
            <a:srgbClr val="F2EBE3"/>
          </a:solidFill>
        </p:spPr>
      </p:sp>
      <p:sp>
        <p:nvSpPr>
          <p:cNvPr id="5" name="Shape 3"/>
          <p:cNvSpPr/>
          <p:nvPr/>
        </p:nvSpPr>
        <p:spPr>
          <a:xfrm>
            <a:off x="500896" y="1658303"/>
            <a:ext cx="13628608" cy="449818"/>
          </a:xfrm>
          <a:prstGeom prst="roundRect">
            <a:avLst>
              <a:gd name="adj" fmla="val 4841"/>
            </a:avLst>
          </a:prstGeom>
          <a:solidFill>
            <a:srgbClr val="F2EBE3"/>
          </a:solidFill>
        </p:spPr>
      </p:sp>
      <p:sp>
        <p:nvSpPr>
          <p:cNvPr id="6" name="Text 4"/>
          <p:cNvSpPr/>
          <p:nvPr/>
        </p:nvSpPr>
        <p:spPr>
          <a:xfrm>
            <a:off x="646033" y="1767126"/>
            <a:ext cx="13338334" cy="232172"/>
          </a:xfrm>
          <a:prstGeom prst="rect">
            <a:avLst/>
          </a:prstGeom>
          <a:noFill/>
        </p:spPr>
        <p:txBody>
          <a:bodyPr wrap="none" lIns="0" tIns="0" rIns="0" bIns="0" rtlCol="0" anchor="t"/>
          <a:lstStyle/>
          <a:p>
            <a:pPr marL="0" indent="0" algn="l">
              <a:lnSpc>
                <a:spcPts val="1800"/>
              </a:lnSpc>
              <a:buNone/>
            </a:pPr>
            <a:r>
              <a:rPr lang="en-US" sz="1100" dirty="0">
                <a:solidFill>
                  <a:srgbClr val="2B2E3C"/>
                </a:solidFill>
                <a:highlight>
                  <a:srgbClr val="F2EBE3"/>
                </a:highlight>
                <a:latin typeface="Consolas" pitchFamily="34" charset="0"/>
                <a:ea typeface="Consolas" pitchFamily="34" charset="-122"/>
                <a:cs typeface="Consolas" pitchFamily="34" charset="-120"/>
              </a:rPr>
              <a:t>Enter from to:</a:t>
            </a:r>
            <a:endParaRPr lang="en-US" sz="1100" dirty="0"/>
          </a:p>
        </p:txBody>
      </p:sp>
      <p:sp>
        <p:nvSpPr>
          <p:cNvPr id="7" name="Text 5"/>
          <p:cNvSpPr/>
          <p:nvPr/>
        </p:nvSpPr>
        <p:spPr>
          <a:xfrm>
            <a:off x="508040" y="2271355"/>
            <a:ext cx="145137" cy="181451"/>
          </a:xfrm>
          <a:prstGeom prst="rect">
            <a:avLst/>
          </a:prstGeom>
          <a:noFill/>
        </p:spPr>
        <p:txBody>
          <a:bodyPr wrap="none" lIns="0" tIns="0" rIns="0" bIns="0" rtlCol="0" anchor="t"/>
          <a:lstStyle/>
          <a:p>
            <a:pPr marL="0" indent="0" algn="l">
              <a:lnSpc>
                <a:spcPts val="1800"/>
              </a:lnSpc>
              <a:buNone/>
            </a:pPr>
            <a:r>
              <a:rPr lang="en-US" sz="1100" dirty="0">
                <a:solidFill>
                  <a:srgbClr val="2B2E3C"/>
                </a:solidFill>
                <a:latin typeface="Bitter Light" pitchFamily="34" charset="0"/>
                <a:ea typeface="Bitter Light" pitchFamily="34" charset="-122"/>
                <a:cs typeface="Bitter Light" pitchFamily="34" charset="-120"/>
              </a:rPr>
              <a:t>01</a:t>
            </a:r>
            <a:endParaRPr lang="en-US" sz="1100" dirty="0"/>
          </a:p>
        </p:txBody>
      </p:sp>
      <p:sp>
        <p:nvSpPr>
          <p:cNvPr id="8" name="Shape 6"/>
          <p:cNvSpPr/>
          <p:nvPr/>
        </p:nvSpPr>
        <p:spPr>
          <a:xfrm>
            <a:off x="508040" y="2502694"/>
            <a:ext cx="6734532" cy="15240"/>
          </a:xfrm>
          <a:prstGeom prst="rect">
            <a:avLst/>
          </a:prstGeom>
          <a:solidFill>
            <a:srgbClr val="D2600F"/>
          </a:solidFill>
        </p:spPr>
      </p:sp>
      <p:sp>
        <p:nvSpPr>
          <p:cNvPr id="9" name="Text 7"/>
          <p:cNvSpPr/>
          <p:nvPr/>
        </p:nvSpPr>
        <p:spPr>
          <a:xfrm>
            <a:off x="508040" y="2605683"/>
            <a:ext cx="1940838" cy="226814"/>
          </a:xfrm>
          <a:prstGeom prst="rect">
            <a:avLst/>
          </a:prstGeom>
          <a:noFill/>
        </p:spPr>
        <p:txBody>
          <a:bodyPr wrap="none" lIns="0" tIns="0" rIns="0" bIns="0" rtlCol="0" anchor="t"/>
          <a:lstStyle/>
          <a:p>
            <a:pPr marL="0" indent="0" algn="l">
              <a:lnSpc>
                <a:spcPts val="1750"/>
              </a:lnSpc>
              <a:buNone/>
            </a:pPr>
            <a:r>
              <a:rPr lang="en-US" sz="1400" dirty="0">
                <a:solidFill>
                  <a:srgbClr val="2B2E3C"/>
                </a:solidFill>
                <a:latin typeface="Bitter Medium" pitchFamily="34" charset="0"/>
                <a:ea typeface="Bitter Medium" pitchFamily="34" charset="-122"/>
                <a:cs typeface="Bitter Medium" pitchFamily="34" charset="-120"/>
              </a:rPr>
              <a:t>Display Current Routes</a:t>
            </a:r>
            <a:endParaRPr lang="en-US" sz="1400" dirty="0"/>
          </a:p>
        </p:txBody>
      </p:sp>
      <p:sp>
        <p:nvSpPr>
          <p:cNvPr id="10" name="Text 8"/>
          <p:cNvSpPr/>
          <p:nvPr/>
        </p:nvSpPr>
        <p:spPr>
          <a:xfrm>
            <a:off x="508040" y="2919532"/>
            <a:ext cx="6734532" cy="696516"/>
          </a:xfrm>
          <a:prstGeom prst="rect">
            <a:avLst/>
          </a:prstGeom>
          <a:noFill/>
        </p:spPr>
        <p:txBody>
          <a:bodyPr wrap="square" lIns="0" tIns="0" rIns="0" bIns="0" rtlCol="0" anchor="t"/>
          <a:lstStyle/>
          <a:p>
            <a:pPr marL="0" indent="0" algn="l">
              <a:lnSpc>
                <a:spcPts val="1800"/>
              </a:lnSpc>
              <a:buNone/>
            </a:pPr>
            <a:r>
              <a:rPr lang="en-US" sz="1100" dirty="0">
                <a:solidFill>
                  <a:srgbClr val="2B2E3C"/>
                </a:solidFill>
                <a:latin typeface="Open Sans" pitchFamily="34" charset="0"/>
                <a:ea typeface="Open Sans" pitchFamily="34" charset="-122"/>
                <a:cs typeface="Open Sans" pitchFamily="34" charset="-120"/>
              </a:rPr>
              <a:t>Before blocking, the program first displays all existing routes and their statuses to the user. This helps the user understand the current network and identify which road they want to make unavailable.</a:t>
            </a:r>
            <a:endParaRPr lang="en-US" sz="1100" dirty="0"/>
          </a:p>
        </p:txBody>
      </p:sp>
      <p:sp>
        <p:nvSpPr>
          <p:cNvPr id="11" name="Shape 9"/>
          <p:cNvSpPr/>
          <p:nvPr/>
        </p:nvSpPr>
        <p:spPr>
          <a:xfrm>
            <a:off x="508040" y="3779282"/>
            <a:ext cx="6734532" cy="449818"/>
          </a:xfrm>
          <a:prstGeom prst="roundRect">
            <a:avLst>
              <a:gd name="adj" fmla="val 13554"/>
            </a:avLst>
          </a:prstGeom>
          <a:solidFill>
            <a:srgbClr val="F2EBE3"/>
          </a:solidFill>
        </p:spPr>
      </p:sp>
      <p:sp>
        <p:nvSpPr>
          <p:cNvPr id="12" name="Shape 10"/>
          <p:cNvSpPr/>
          <p:nvPr/>
        </p:nvSpPr>
        <p:spPr>
          <a:xfrm>
            <a:off x="500896" y="3779282"/>
            <a:ext cx="6748820" cy="449818"/>
          </a:xfrm>
          <a:prstGeom prst="roundRect">
            <a:avLst>
              <a:gd name="adj" fmla="val 4841"/>
            </a:avLst>
          </a:prstGeom>
          <a:solidFill>
            <a:srgbClr val="F2EBE3"/>
          </a:solidFill>
        </p:spPr>
      </p:sp>
      <p:sp>
        <p:nvSpPr>
          <p:cNvPr id="13" name="Text 11"/>
          <p:cNvSpPr/>
          <p:nvPr/>
        </p:nvSpPr>
        <p:spPr>
          <a:xfrm>
            <a:off x="646033" y="3888105"/>
            <a:ext cx="6458545" cy="232172"/>
          </a:xfrm>
          <a:prstGeom prst="rect">
            <a:avLst/>
          </a:prstGeom>
          <a:noFill/>
        </p:spPr>
        <p:txBody>
          <a:bodyPr wrap="none" lIns="0" tIns="0" rIns="0" bIns="0" rtlCol="0" anchor="t"/>
          <a:lstStyle/>
          <a:p>
            <a:pPr marL="0" indent="0" algn="l">
              <a:lnSpc>
                <a:spcPts val="1800"/>
              </a:lnSpc>
              <a:buNone/>
            </a:pPr>
            <a:r>
              <a:rPr lang="en-US" sz="1100" dirty="0">
                <a:solidFill>
                  <a:srgbClr val="2B2E3C"/>
                </a:solidFill>
                <a:highlight>
                  <a:srgbClr val="F2EBE3"/>
                </a:highlight>
                <a:latin typeface="Consolas" pitchFamily="34" charset="0"/>
                <a:ea typeface="Consolas" pitchFamily="34" charset="-122"/>
                <a:cs typeface="Consolas" pitchFamily="34" charset="-120"/>
              </a:rPr>
              <a:t>showRoutes(graph, names);</a:t>
            </a:r>
            <a:endParaRPr lang="en-US" sz="1100" dirty="0"/>
          </a:p>
        </p:txBody>
      </p:sp>
      <p:sp>
        <p:nvSpPr>
          <p:cNvPr id="14" name="Text 12"/>
          <p:cNvSpPr/>
          <p:nvPr/>
        </p:nvSpPr>
        <p:spPr>
          <a:xfrm>
            <a:off x="7387709" y="2271355"/>
            <a:ext cx="145137" cy="181451"/>
          </a:xfrm>
          <a:prstGeom prst="rect">
            <a:avLst/>
          </a:prstGeom>
          <a:noFill/>
        </p:spPr>
        <p:txBody>
          <a:bodyPr wrap="none" lIns="0" tIns="0" rIns="0" bIns="0" rtlCol="0" anchor="t"/>
          <a:lstStyle/>
          <a:p>
            <a:pPr marL="0" indent="0" algn="l">
              <a:lnSpc>
                <a:spcPts val="1800"/>
              </a:lnSpc>
              <a:buNone/>
            </a:pPr>
            <a:r>
              <a:rPr lang="en-US" sz="1100" dirty="0">
                <a:solidFill>
                  <a:srgbClr val="2B2E3C"/>
                </a:solidFill>
                <a:latin typeface="Bitter Light" pitchFamily="34" charset="0"/>
                <a:ea typeface="Bitter Light" pitchFamily="34" charset="-122"/>
                <a:cs typeface="Bitter Light" pitchFamily="34" charset="-120"/>
              </a:rPr>
              <a:t>02</a:t>
            </a:r>
            <a:endParaRPr lang="en-US" sz="1100" dirty="0"/>
          </a:p>
        </p:txBody>
      </p:sp>
      <p:sp>
        <p:nvSpPr>
          <p:cNvPr id="15" name="Shape 13"/>
          <p:cNvSpPr/>
          <p:nvPr/>
        </p:nvSpPr>
        <p:spPr>
          <a:xfrm>
            <a:off x="7387709" y="2502694"/>
            <a:ext cx="6734651" cy="15240"/>
          </a:xfrm>
          <a:prstGeom prst="rect">
            <a:avLst/>
          </a:prstGeom>
          <a:solidFill>
            <a:srgbClr val="D2600F"/>
          </a:solidFill>
        </p:spPr>
      </p:sp>
      <p:sp>
        <p:nvSpPr>
          <p:cNvPr id="16" name="Text 14"/>
          <p:cNvSpPr/>
          <p:nvPr/>
        </p:nvSpPr>
        <p:spPr>
          <a:xfrm>
            <a:off x="7387709" y="2605683"/>
            <a:ext cx="2664857" cy="226814"/>
          </a:xfrm>
          <a:prstGeom prst="rect">
            <a:avLst/>
          </a:prstGeom>
          <a:noFill/>
        </p:spPr>
        <p:txBody>
          <a:bodyPr wrap="none" lIns="0" tIns="0" rIns="0" bIns="0" rtlCol="0" anchor="t"/>
          <a:lstStyle/>
          <a:p>
            <a:pPr marL="0" indent="0" algn="l">
              <a:lnSpc>
                <a:spcPts val="1750"/>
              </a:lnSpc>
              <a:buNone/>
            </a:pPr>
            <a:r>
              <a:rPr lang="en-US" sz="1400" dirty="0">
                <a:solidFill>
                  <a:srgbClr val="2B2E3C"/>
                </a:solidFill>
                <a:latin typeface="Bitter Medium" pitchFamily="34" charset="0"/>
                <a:ea typeface="Bitter Medium" pitchFamily="34" charset="-122"/>
                <a:cs typeface="Bitter Medium" pitchFamily="34" charset="-120"/>
              </a:rPr>
              <a:t>User Input and Standardization</a:t>
            </a:r>
            <a:endParaRPr lang="en-US" sz="1400" dirty="0"/>
          </a:p>
        </p:txBody>
      </p:sp>
      <p:sp>
        <p:nvSpPr>
          <p:cNvPr id="17" name="Text 15"/>
          <p:cNvSpPr/>
          <p:nvPr/>
        </p:nvSpPr>
        <p:spPr>
          <a:xfrm>
            <a:off x="7387709" y="2919532"/>
            <a:ext cx="6734651" cy="696516"/>
          </a:xfrm>
          <a:prstGeom prst="rect">
            <a:avLst/>
          </a:prstGeom>
          <a:noFill/>
        </p:spPr>
        <p:txBody>
          <a:bodyPr wrap="square" lIns="0" tIns="0" rIns="0" bIns="0" rtlCol="0" anchor="t"/>
          <a:lstStyle/>
          <a:p>
            <a:pPr marL="0" indent="0" algn="l">
              <a:lnSpc>
                <a:spcPts val="1800"/>
              </a:lnSpc>
              <a:buNone/>
            </a:pPr>
            <a:r>
              <a:rPr lang="en-US" sz="1100" dirty="0">
                <a:solidFill>
                  <a:srgbClr val="2B2E3C"/>
                </a:solidFill>
                <a:latin typeface="Open Sans" pitchFamily="34" charset="0"/>
                <a:ea typeface="Open Sans" pitchFamily="34" charset="-122"/>
                <a:cs typeface="Open Sans" pitchFamily="34" charset="-120"/>
              </a:rPr>
              <a:t>The user enters the 'from' (</a:t>
            </a:r>
            <a:r>
              <a:rPr lang="en-US" sz="1100" dirty="0">
                <a:solidFill>
                  <a:srgbClr val="2B2E3C"/>
                </a:solidFill>
                <a:highlight>
                  <a:srgbClr val="F2EBE3"/>
                </a:highlight>
                <a:latin typeface="Consolas" pitchFamily="34" charset="0"/>
                <a:ea typeface="Consolas" pitchFamily="34" charset="-122"/>
                <a:cs typeface="Consolas" pitchFamily="34" charset="-120"/>
              </a:rPr>
              <a:t>u</a:t>
            </a:r>
            <a:r>
              <a:rPr lang="en-US" sz="1100" dirty="0">
                <a:solidFill>
                  <a:srgbClr val="2B2E3C"/>
                </a:solidFill>
                <a:latin typeface="Open Sans" pitchFamily="34" charset="0"/>
                <a:ea typeface="Open Sans" pitchFamily="34" charset="-122"/>
                <a:cs typeface="Open Sans" pitchFamily="34" charset="-120"/>
              </a:rPr>
              <a:t>) and 'to' (</a:t>
            </a:r>
            <a:r>
              <a:rPr lang="en-US" sz="1100" dirty="0">
                <a:solidFill>
                  <a:srgbClr val="2B2E3C"/>
                </a:solidFill>
                <a:highlight>
                  <a:srgbClr val="F2EBE3"/>
                </a:highlight>
                <a:latin typeface="Consolas" pitchFamily="34" charset="0"/>
                <a:ea typeface="Consolas" pitchFamily="34" charset="-122"/>
                <a:cs typeface="Consolas" pitchFamily="34" charset="-120"/>
              </a:rPr>
              <a:t>v</a:t>
            </a:r>
            <a:r>
              <a:rPr lang="en-US" sz="1100" dirty="0">
                <a:solidFill>
                  <a:srgbClr val="2B2E3C"/>
                </a:solidFill>
                <a:latin typeface="Open Sans" pitchFamily="34" charset="0"/>
                <a:ea typeface="Open Sans" pitchFamily="34" charset="-122"/>
                <a:cs typeface="Open Sans" pitchFamily="34" charset="-120"/>
              </a:rPr>
              <a:t>) locations of the road. These inputs are immediately converted to lowercase to ensure consistency and facilitate matching with stored location names, preventing case-sensitivity issues.</a:t>
            </a:r>
            <a:endParaRPr lang="en-US" sz="1100" dirty="0"/>
          </a:p>
        </p:txBody>
      </p:sp>
      <p:sp>
        <p:nvSpPr>
          <p:cNvPr id="18" name="Shape 16"/>
          <p:cNvSpPr/>
          <p:nvPr/>
        </p:nvSpPr>
        <p:spPr>
          <a:xfrm>
            <a:off x="7387709" y="3779282"/>
            <a:ext cx="6734651" cy="914162"/>
          </a:xfrm>
          <a:prstGeom prst="roundRect">
            <a:avLst>
              <a:gd name="adj" fmla="val 6669"/>
            </a:avLst>
          </a:prstGeom>
          <a:solidFill>
            <a:srgbClr val="F2EBE3"/>
          </a:solidFill>
        </p:spPr>
      </p:sp>
      <p:sp>
        <p:nvSpPr>
          <p:cNvPr id="19" name="Shape 17"/>
          <p:cNvSpPr/>
          <p:nvPr/>
        </p:nvSpPr>
        <p:spPr>
          <a:xfrm>
            <a:off x="7380565" y="3779282"/>
            <a:ext cx="6748939" cy="914162"/>
          </a:xfrm>
          <a:prstGeom prst="roundRect">
            <a:avLst>
              <a:gd name="adj" fmla="val 2382"/>
            </a:avLst>
          </a:prstGeom>
          <a:solidFill>
            <a:srgbClr val="F2EBE3"/>
          </a:solidFill>
        </p:spPr>
      </p:sp>
      <p:sp>
        <p:nvSpPr>
          <p:cNvPr id="20" name="Text 18"/>
          <p:cNvSpPr/>
          <p:nvPr/>
        </p:nvSpPr>
        <p:spPr>
          <a:xfrm>
            <a:off x="7525703" y="3888105"/>
            <a:ext cx="6458664" cy="696516"/>
          </a:xfrm>
          <a:prstGeom prst="rect">
            <a:avLst/>
          </a:prstGeom>
          <a:noFill/>
        </p:spPr>
        <p:txBody>
          <a:bodyPr wrap="square" lIns="0" tIns="0" rIns="0" bIns="0" rtlCol="0" anchor="t"/>
          <a:lstStyle/>
          <a:p>
            <a:pPr marL="0" indent="0" algn="l">
              <a:lnSpc>
                <a:spcPts val="1800"/>
              </a:lnSpc>
              <a:buNone/>
            </a:pPr>
            <a:r>
              <a:rPr lang="en-US" sz="1100" dirty="0">
                <a:solidFill>
                  <a:srgbClr val="2B2E3C"/>
                </a:solidFill>
                <a:highlight>
                  <a:srgbClr val="F2EBE3"/>
                </a:highlight>
                <a:latin typeface="Consolas" pitchFamily="34" charset="0"/>
                <a:ea typeface="Consolas" pitchFamily="34" charset="-122"/>
                <a:cs typeface="Consolas" pitchFamily="34" charset="-120"/>
              </a:rPr>
              <a:t>cin &gt;&gt; u &gt;&gt; v;</a:t>
            </a:r>
            <a:endParaRPr lang="en-US" sz="1100" dirty="0"/>
          </a:p>
          <a:p>
            <a:pPr marL="0" indent="0" algn="l">
              <a:lnSpc>
                <a:spcPts val="1800"/>
              </a:lnSpc>
              <a:buNone/>
            </a:pPr>
            <a:r>
              <a:rPr lang="en-US" sz="1100" dirty="0">
                <a:solidFill>
                  <a:srgbClr val="2B2E3C"/>
                </a:solidFill>
                <a:highlight>
                  <a:srgbClr val="F2EBE3"/>
                </a:highlight>
                <a:latin typeface="Consolas" pitchFamily="34" charset="0"/>
                <a:ea typeface="Consolas" pitchFamily="34" charset="-122"/>
                <a:cs typeface="Consolas" pitchFamily="34" charset="-120"/>
              </a:rPr>
              <a:t>u = toLower(u);</a:t>
            </a:r>
            <a:endParaRPr lang="en-US" sz="1100" dirty="0"/>
          </a:p>
          <a:p>
            <a:pPr marL="0" indent="0" algn="l">
              <a:lnSpc>
                <a:spcPts val="1800"/>
              </a:lnSpc>
              <a:buNone/>
            </a:pPr>
            <a:r>
              <a:rPr lang="en-US" sz="1100" dirty="0">
                <a:solidFill>
                  <a:srgbClr val="2B2E3C"/>
                </a:solidFill>
                <a:highlight>
                  <a:srgbClr val="F2EBE3"/>
                </a:highlight>
                <a:latin typeface="Consolas" pitchFamily="34" charset="0"/>
                <a:ea typeface="Consolas" pitchFamily="34" charset="-122"/>
                <a:cs typeface="Consolas" pitchFamily="34" charset="-120"/>
              </a:rPr>
              <a:t>v = toLower(v);</a:t>
            </a:r>
            <a:endParaRPr lang="en-US" sz="1100" dirty="0"/>
          </a:p>
        </p:txBody>
      </p:sp>
      <p:sp>
        <p:nvSpPr>
          <p:cNvPr id="21" name="Text 19"/>
          <p:cNvSpPr/>
          <p:nvPr/>
        </p:nvSpPr>
        <p:spPr>
          <a:xfrm>
            <a:off x="508040" y="4947404"/>
            <a:ext cx="145137" cy="181451"/>
          </a:xfrm>
          <a:prstGeom prst="rect">
            <a:avLst/>
          </a:prstGeom>
          <a:noFill/>
        </p:spPr>
        <p:txBody>
          <a:bodyPr wrap="none" lIns="0" tIns="0" rIns="0" bIns="0" rtlCol="0" anchor="t"/>
          <a:lstStyle/>
          <a:p>
            <a:pPr marL="0" indent="0" algn="l">
              <a:lnSpc>
                <a:spcPts val="1800"/>
              </a:lnSpc>
              <a:buNone/>
            </a:pPr>
            <a:r>
              <a:rPr lang="en-US" sz="1100" dirty="0">
                <a:solidFill>
                  <a:srgbClr val="2B2E3C"/>
                </a:solidFill>
                <a:latin typeface="Bitter Light" pitchFamily="34" charset="0"/>
                <a:ea typeface="Bitter Light" pitchFamily="34" charset="-122"/>
                <a:cs typeface="Bitter Light" pitchFamily="34" charset="-120"/>
              </a:rPr>
              <a:t>03</a:t>
            </a:r>
            <a:endParaRPr lang="en-US" sz="1100" dirty="0"/>
          </a:p>
        </p:txBody>
      </p:sp>
      <p:sp>
        <p:nvSpPr>
          <p:cNvPr id="22" name="Shape 20"/>
          <p:cNvSpPr/>
          <p:nvPr/>
        </p:nvSpPr>
        <p:spPr>
          <a:xfrm>
            <a:off x="508040" y="5178743"/>
            <a:ext cx="6734532" cy="15240"/>
          </a:xfrm>
          <a:prstGeom prst="rect">
            <a:avLst/>
          </a:prstGeom>
          <a:solidFill>
            <a:srgbClr val="D2600F"/>
          </a:solidFill>
        </p:spPr>
      </p:sp>
      <p:sp>
        <p:nvSpPr>
          <p:cNvPr id="23" name="Text 21"/>
          <p:cNvSpPr/>
          <p:nvPr/>
        </p:nvSpPr>
        <p:spPr>
          <a:xfrm>
            <a:off x="508040" y="5281732"/>
            <a:ext cx="2903934" cy="226814"/>
          </a:xfrm>
          <a:prstGeom prst="rect">
            <a:avLst/>
          </a:prstGeom>
          <a:noFill/>
        </p:spPr>
        <p:txBody>
          <a:bodyPr wrap="none" lIns="0" tIns="0" rIns="0" bIns="0" rtlCol="0" anchor="t"/>
          <a:lstStyle/>
          <a:p>
            <a:pPr marL="0" indent="0" algn="l">
              <a:lnSpc>
                <a:spcPts val="1750"/>
              </a:lnSpc>
              <a:buNone/>
            </a:pPr>
            <a:r>
              <a:rPr lang="en-US" sz="1400" dirty="0">
                <a:solidFill>
                  <a:srgbClr val="2B2E3C"/>
                </a:solidFill>
                <a:latin typeface="Bitter Medium" pitchFamily="34" charset="0"/>
                <a:ea typeface="Bitter Medium" pitchFamily="34" charset="-122"/>
                <a:cs typeface="Bitter Medium" pitchFamily="34" charset="-120"/>
              </a:rPr>
              <a:t>Error Handling: Validate Locations</a:t>
            </a:r>
            <a:endParaRPr lang="en-US" sz="1400" dirty="0"/>
          </a:p>
        </p:txBody>
      </p:sp>
      <p:sp>
        <p:nvSpPr>
          <p:cNvPr id="24" name="Text 22"/>
          <p:cNvSpPr/>
          <p:nvPr/>
        </p:nvSpPr>
        <p:spPr>
          <a:xfrm>
            <a:off x="508040" y="5595580"/>
            <a:ext cx="6734532" cy="696516"/>
          </a:xfrm>
          <a:prstGeom prst="rect">
            <a:avLst/>
          </a:prstGeom>
          <a:noFill/>
        </p:spPr>
        <p:txBody>
          <a:bodyPr wrap="square" lIns="0" tIns="0" rIns="0" bIns="0" rtlCol="0" anchor="t"/>
          <a:lstStyle/>
          <a:p>
            <a:pPr marL="0" indent="0" algn="l">
              <a:lnSpc>
                <a:spcPts val="1800"/>
              </a:lnSpc>
              <a:buNone/>
            </a:pPr>
            <a:r>
              <a:rPr lang="en-US" sz="1100" dirty="0">
                <a:solidFill>
                  <a:srgbClr val="2B2E3C"/>
                </a:solidFill>
                <a:latin typeface="Open Sans" pitchFamily="34" charset="0"/>
                <a:ea typeface="Open Sans" pitchFamily="34" charset="-122"/>
                <a:cs typeface="Open Sans" pitchFamily="34" charset="-120"/>
              </a:rPr>
              <a:t>A crucial step is to validate the user's input. The program checks if both the 'from' and 'to' locations entered by the user actually exist within the predefined graph. If either location is not found, an error message is displayed, and the process is halted to prevent blocking a non-existent road.</a:t>
            </a:r>
            <a:endParaRPr lang="en-US" sz="1100" dirty="0"/>
          </a:p>
        </p:txBody>
      </p:sp>
      <p:sp>
        <p:nvSpPr>
          <p:cNvPr id="25" name="Shape 23"/>
          <p:cNvSpPr/>
          <p:nvPr/>
        </p:nvSpPr>
        <p:spPr>
          <a:xfrm>
            <a:off x="508040" y="6455331"/>
            <a:ext cx="6734532" cy="1146334"/>
          </a:xfrm>
          <a:prstGeom prst="roundRect">
            <a:avLst>
              <a:gd name="adj" fmla="val 5319"/>
            </a:avLst>
          </a:prstGeom>
          <a:solidFill>
            <a:srgbClr val="F2EBE3"/>
          </a:solidFill>
        </p:spPr>
      </p:sp>
      <p:sp>
        <p:nvSpPr>
          <p:cNvPr id="26" name="Shape 24"/>
          <p:cNvSpPr/>
          <p:nvPr/>
        </p:nvSpPr>
        <p:spPr>
          <a:xfrm>
            <a:off x="500896" y="6455331"/>
            <a:ext cx="6748820" cy="1146334"/>
          </a:xfrm>
          <a:prstGeom prst="roundRect">
            <a:avLst>
              <a:gd name="adj" fmla="val 1899"/>
            </a:avLst>
          </a:prstGeom>
          <a:solidFill>
            <a:srgbClr val="F2EBE3"/>
          </a:solidFill>
        </p:spPr>
      </p:sp>
      <p:sp>
        <p:nvSpPr>
          <p:cNvPr id="27" name="Text 25"/>
          <p:cNvSpPr/>
          <p:nvPr/>
        </p:nvSpPr>
        <p:spPr>
          <a:xfrm>
            <a:off x="646033" y="6564154"/>
            <a:ext cx="6458545" cy="928687"/>
          </a:xfrm>
          <a:prstGeom prst="rect">
            <a:avLst/>
          </a:prstGeom>
          <a:noFill/>
        </p:spPr>
        <p:txBody>
          <a:bodyPr wrap="square" lIns="0" tIns="0" rIns="0" bIns="0" rtlCol="0" anchor="t"/>
          <a:lstStyle/>
          <a:p>
            <a:pPr marL="0" indent="0" algn="l">
              <a:lnSpc>
                <a:spcPts val="1800"/>
              </a:lnSpc>
              <a:buNone/>
            </a:pPr>
            <a:r>
              <a:rPr lang="en-US" sz="1100" dirty="0">
                <a:solidFill>
                  <a:srgbClr val="2B2E3C"/>
                </a:solidFill>
                <a:highlight>
                  <a:srgbClr val="F2EBE3"/>
                </a:highlight>
                <a:latin typeface="Consolas" pitchFamily="34" charset="0"/>
                <a:ea typeface="Consolas" pitchFamily="34" charset="-122"/>
                <a:cs typeface="Consolas" pitchFamily="34" charset="-120"/>
              </a:rPr>
              <a:t>if(id.find(u) == id.end() || id.find(v) == id.end()) {</a:t>
            </a:r>
            <a:endParaRPr lang="en-US" sz="1100" dirty="0"/>
          </a:p>
          <a:p>
            <a:pPr marL="0" indent="0" algn="l">
              <a:lnSpc>
                <a:spcPts val="1800"/>
              </a:lnSpc>
              <a:buNone/>
            </a:pPr>
            <a:r>
              <a:rPr lang="en-US" sz="1100" dirty="0">
                <a:solidFill>
                  <a:srgbClr val="2B2E3C"/>
                </a:solidFill>
                <a:highlight>
                  <a:srgbClr val="F2EBE3"/>
                </a:highlight>
                <a:latin typeface="Consolas" pitchFamily="34" charset="0"/>
                <a:ea typeface="Consolas" pitchFamily="34" charset="-122"/>
                <a:cs typeface="Consolas" pitchFamily="34" charset="-120"/>
              </a:rPr>
              <a:t>    // Display error message</a:t>
            </a:r>
            <a:endParaRPr lang="en-US" sz="1100" dirty="0"/>
          </a:p>
          <a:p>
            <a:pPr marL="0" indent="0" algn="l">
              <a:lnSpc>
                <a:spcPts val="1800"/>
              </a:lnSpc>
              <a:buNone/>
            </a:pPr>
            <a:r>
              <a:rPr lang="en-US" sz="1100" dirty="0">
                <a:solidFill>
                  <a:srgbClr val="2B2E3C"/>
                </a:solidFill>
                <a:highlight>
                  <a:srgbClr val="F2EBE3"/>
                </a:highlight>
                <a:latin typeface="Consolas" pitchFamily="34" charset="0"/>
                <a:ea typeface="Consolas" pitchFamily="34" charset="-122"/>
                <a:cs typeface="Consolas" pitchFamily="34" charset="-120"/>
              </a:rPr>
              <a:t>    // return or prompt for re-entry</a:t>
            </a:r>
            <a:endParaRPr lang="en-US" sz="1100" dirty="0"/>
          </a:p>
          <a:p>
            <a:pPr marL="0" indent="0" algn="l">
              <a:lnSpc>
                <a:spcPts val="1800"/>
              </a:lnSpc>
              <a:buNone/>
            </a:pPr>
            <a:r>
              <a:rPr lang="en-US" sz="1100" dirty="0">
                <a:solidFill>
                  <a:srgbClr val="2B2E3C"/>
                </a:solidFill>
                <a:highlight>
                  <a:srgbClr val="F2EBE3"/>
                </a:highlight>
                <a:latin typeface="Consolas" pitchFamily="34" charset="0"/>
                <a:ea typeface="Consolas" pitchFamily="34" charset="-122"/>
                <a:cs typeface="Consolas" pitchFamily="34" charset="-120"/>
              </a:rPr>
              <a:t>}</a:t>
            </a:r>
            <a:endParaRPr lang="en-US" sz="1100" dirty="0"/>
          </a:p>
        </p:txBody>
      </p:sp>
      <p:sp>
        <p:nvSpPr>
          <p:cNvPr id="28" name="Text 26"/>
          <p:cNvSpPr/>
          <p:nvPr/>
        </p:nvSpPr>
        <p:spPr>
          <a:xfrm>
            <a:off x="7387709" y="4947404"/>
            <a:ext cx="145137" cy="181451"/>
          </a:xfrm>
          <a:prstGeom prst="rect">
            <a:avLst/>
          </a:prstGeom>
          <a:noFill/>
        </p:spPr>
        <p:txBody>
          <a:bodyPr wrap="none" lIns="0" tIns="0" rIns="0" bIns="0" rtlCol="0" anchor="t"/>
          <a:lstStyle/>
          <a:p>
            <a:pPr marL="0" indent="0" algn="l">
              <a:lnSpc>
                <a:spcPts val="1800"/>
              </a:lnSpc>
              <a:buNone/>
            </a:pPr>
            <a:r>
              <a:rPr lang="en-US" sz="1100" dirty="0">
                <a:solidFill>
                  <a:srgbClr val="2B2E3C"/>
                </a:solidFill>
                <a:latin typeface="Bitter Light" pitchFamily="34" charset="0"/>
                <a:ea typeface="Bitter Light" pitchFamily="34" charset="-122"/>
                <a:cs typeface="Bitter Light" pitchFamily="34" charset="-120"/>
              </a:rPr>
              <a:t>04</a:t>
            </a:r>
            <a:endParaRPr lang="en-US" sz="1100" dirty="0"/>
          </a:p>
        </p:txBody>
      </p:sp>
      <p:sp>
        <p:nvSpPr>
          <p:cNvPr id="29" name="Shape 27"/>
          <p:cNvSpPr/>
          <p:nvPr/>
        </p:nvSpPr>
        <p:spPr>
          <a:xfrm>
            <a:off x="7387709" y="5178743"/>
            <a:ext cx="6734651" cy="15240"/>
          </a:xfrm>
          <a:prstGeom prst="rect">
            <a:avLst/>
          </a:prstGeom>
          <a:solidFill>
            <a:srgbClr val="D2600F"/>
          </a:solidFill>
        </p:spPr>
      </p:sp>
      <p:sp>
        <p:nvSpPr>
          <p:cNvPr id="30" name="Text 28"/>
          <p:cNvSpPr/>
          <p:nvPr/>
        </p:nvSpPr>
        <p:spPr>
          <a:xfrm>
            <a:off x="7387709" y="5281732"/>
            <a:ext cx="1814513" cy="226814"/>
          </a:xfrm>
          <a:prstGeom prst="rect">
            <a:avLst/>
          </a:prstGeom>
          <a:noFill/>
        </p:spPr>
        <p:txBody>
          <a:bodyPr wrap="none" lIns="0" tIns="0" rIns="0" bIns="0" rtlCol="0" anchor="t"/>
          <a:lstStyle/>
          <a:p>
            <a:pPr marL="0" indent="0" algn="l">
              <a:lnSpc>
                <a:spcPts val="1750"/>
              </a:lnSpc>
              <a:buNone/>
            </a:pPr>
            <a:r>
              <a:rPr lang="en-US" sz="1400" dirty="0">
                <a:solidFill>
                  <a:srgbClr val="2B2E3C"/>
                </a:solidFill>
                <a:latin typeface="Bitter Medium" pitchFamily="34" charset="0"/>
                <a:ea typeface="Bitter Medium" pitchFamily="34" charset="-122"/>
                <a:cs typeface="Bitter Medium" pitchFamily="34" charset="-120"/>
              </a:rPr>
              <a:t>Block the Road</a:t>
            </a:r>
            <a:endParaRPr lang="en-US" sz="1400" dirty="0"/>
          </a:p>
        </p:txBody>
      </p:sp>
      <p:sp>
        <p:nvSpPr>
          <p:cNvPr id="31" name="Text 29"/>
          <p:cNvSpPr/>
          <p:nvPr/>
        </p:nvSpPr>
        <p:spPr>
          <a:xfrm>
            <a:off x="7387709" y="5595580"/>
            <a:ext cx="6734651" cy="696516"/>
          </a:xfrm>
          <a:prstGeom prst="rect">
            <a:avLst/>
          </a:prstGeom>
          <a:noFill/>
        </p:spPr>
        <p:txBody>
          <a:bodyPr wrap="square" lIns="0" tIns="0" rIns="0" bIns="0" rtlCol="0" anchor="t"/>
          <a:lstStyle/>
          <a:p>
            <a:pPr marL="0" indent="0" algn="l">
              <a:lnSpc>
                <a:spcPts val="1800"/>
              </a:lnSpc>
              <a:buNone/>
            </a:pPr>
            <a:r>
              <a:rPr lang="en-US" sz="1100" dirty="0">
                <a:solidFill>
                  <a:srgbClr val="2B2E3C"/>
                </a:solidFill>
                <a:latin typeface="Open Sans" pitchFamily="34" charset="0"/>
                <a:ea typeface="Open Sans" pitchFamily="34" charset="-122"/>
                <a:cs typeface="Open Sans" pitchFamily="34" charset="-120"/>
              </a:rPr>
              <a:t>Once the locations are validated, the road between </a:t>
            </a:r>
            <a:r>
              <a:rPr lang="en-US" sz="1100" dirty="0">
                <a:solidFill>
                  <a:srgbClr val="2B2E3C"/>
                </a:solidFill>
                <a:highlight>
                  <a:srgbClr val="F2EBE3"/>
                </a:highlight>
                <a:latin typeface="Consolas" pitchFamily="34" charset="0"/>
                <a:ea typeface="Consolas" pitchFamily="34" charset="-122"/>
                <a:cs typeface="Consolas" pitchFamily="34" charset="-120"/>
              </a:rPr>
              <a:t>u</a:t>
            </a:r>
            <a:r>
              <a:rPr lang="en-US" sz="1100" dirty="0">
                <a:solidFill>
                  <a:srgbClr val="2B2E3C"/>
                </a:solidFill>
                <a:latin typeface="Open Sans" pitchFamily="34" charset="0"/>
                <a:ea typeface="Open Sans" pitchFamily="34" charset="-122"/>
                <a:cs typeface="Open Sans" pitchFamily="34" charset="-120"/>
              </a:rPr>
              <a:t> and </a:t>
            </a:r>
            <a:r>
              <a:rPr lang="en-US" sz="1100" dirty="0">
                <a:solidFill>
                  <a:srgbClr val="2B2E3C"/>
                </a:solidFill>
                <a:highlight>
                  <a:srgbClr val="F2EBE3"/>
                </a:highlight>
                <a:latin typeface="Consolas" pitchFamily="34" charset="0"/>
                <a:ea typeface="Consolas" pitchFamily="34" charset="-122"/>
                <a:cs typeface="Consolas" pitchFamily="34" charset="-120"/>
              </a:rPr>
              <a:t>v</a:t>
            </a:r>
            <a:r>
              <a:rPr lang="en-US" sz="1100" dirty="0">
                <a:solidFill>
                  <a:srgbClr val="2B2E3C"/>
                </a:solidFill>
                <a:latin typeface="Open Sans" pitchFamily="34" charset="0"/>
                <a:ea typeface="Open Sans" pitchFamily="34" charset="-122"/>
                <a:cs typeface="Open Sans" pitchFamily="34" charset="-120"/>
              </a:rPr>
              <a:t> is effectively "blocked" by setting its weight (cost) to infinity (</a:t>
            </a:r>
            <a:r>
              <a:rPr lang="en-US" sz="1100" dirty="0">
                <a:solidFill>
                  <a:srgbClr val="2B2E3C"/>
                </a:solidFill>
                <a:highlight>
                  <a:srgbClr val="F2EBE3"/>
                </a:highlight>
                <a:latin typeface="Consolas" pitchFamily="34" charset="0"/>
                <a:ea typeface="Consolas" pitchFamily="34" charset="-122"/>
                <a:cs typeface="Consolas" pitchFamily="34" charset="-120"/>
              </a:rPr>
              <a:t>INF</a:t>
            </a:r>
            <a:r>
              <a:rPr lang="en-US" sz="1100" dirty="0">
                <a:solidFill>
                  <a:srgbClr val="2B2E3C"/>
                </a:solidFill>
                <a:latin typeface="Open Sans" pitchFamily="34" charset="0"/>
                <a:ea typeface="Open Sans" pitchFamily="34" charset="-122"/>
                <a:cs typeface="Open Sans" pitchFamily="34" charset="-120"/>
              </a:rPr>
              <a:t>). This ensures that Dijkstra's algorithm, when run subsequently, will consider this road impassable, guiding ambulances to alternative routes.</a:t>
            </a:r>
            <a:endParaRPr lang="en-US" sz="1100" dirty="0"/>
          </a:p>
        </p:txBody>
      </p:sp>
      <p:sp>
        <p:nvSpPr>
          <p:cNvPr id="32" name="Shape 30"/>
          <p:cNvSpPr/>
          <p:nvPr/>
        </p:nvSpPr>
        <p:spPr>
          <a:xfrm>
            <a:off x="7387709" y="6455331"/>
            <a:ext cx="6734651" cy="449818"/>
          </a:xfrm>
          <a:prstGeom prst="roundRect">
            <a:avLst>
              <a:gd name="adj" fmla="val 13554"/>
            </a:avLst>
          </a:prstGeom>
          <a:solidFill>
            <a:srgbClr val="F2EBE3"/>
          </a:solidFill>
        </p:spPr>
      </p:sp>
      <p:sp>
        <p:nvSpPr>
          <p:cNvPr id="33" name="Shape 31"/>
          <p:cNvSpPr/>
          <p:nvPr/>
        </p:nvSpPr>
        <p:spPr>
          <a:xfrm>
            <a:off x="7380565" y="6455331"/>
            <a:ext cx="6748939" cy="449818"/>
          </a:xfrm>
          <a:prstGeom prst="roundRect">
            <a:avLst>
              <a:gd name="adj" fmla="val 4841"/>
            </a:avLst>
          </a:prstGeom>
          <a:solidFill>
            <a:srgbClr val="F2EBE3"/>
          </a:solidFill>
        </p:spPr>
      </p:sp>
      <p:sp>
        <p:nvSpPr>
          <p:cNvPr id="34" name="Text 32"/>
          <p:cNvSpPr/>
          <p:nvPr/>
        </p:nvSpPr>
        <p:spPr>
          <a:xfrm>
            <a:off x="7525703" y="6564154"/>
            <a:ext cx="6458664" cy="232172"/>
          </a:xfrm>
          <a:prstGeom prst="rect">
            <a:avLst/>
          </a:prstGeom>
          <a:noFill/>
        </p:spPr>
        <p:txBody>
          <a:bodyPr wrap="none" lIns="0" tIns="0" rIns="0" bIns="0" rtlCol="0" anchor="t"/>
          <a:lstStyle/>
          <a:p>
            <a:pPr marL="0" indent="0" algn="l">
              <a:lnSpc>
                <a:spcPts val="1800"/>
              </a:lnSpc>
              <a:buNone/>
            </a:pPr>
            <a:r>
              <a:rPr lang="en-US" sz="1100" dirty="0">
                <a:solidFill>
                  <a:srgbClr val="2B2E3C"/>
                </a:solidFill>
                <a:highlight>
                  <a:srgbClr val="F2EBE3"/>
                </a:highlight>
                <a:latin typeface="Consolas" pitchFamily="34" charset="0"/>
                <a:ea typeface="Consolas" pitchFamily="34" charset="-122"/>
                <a:cs typeface="Consolas" pitchFamily="34" charset="-120"/>
              </a:rPr>
              <a:t>e.second = INF;</a:t>
            </a:r>
            <a:endParaRPr lang="en-US" sz="1100" dirty="0"/>
          </a:p>
        </p:txBody>
      </p:sp>
      <p:pic>
        <p:nvPicPr>
          <p:cNvPr id="35" name="Picture 34"/>
          <p:cNvPicPr>
            <a:picLocks noChangeAspect="1"/>
          </p:cNvPicPr>
          <p:nvPr/>
        </p:nvPicPr>
        <p:blipFill>
          <a:blip r:embed="rId1"/>
          <a:stretch>
            <a:fillRect/>
          </a:stretch>
        </p:blipFill>
        <p:spPr>
          <a:xfrm>
            <a:off x="12125325" y="7762875"/>
            <a:ext cx="2505075" cy="4667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415177"/>
            <a:ext cx="5670590" cy="708779"/>
          </a:xfrm>
          <a:prstGeom prst="rect">
            <a:avLst/>
          </a:prstGeom>
          <a:noFill/>
        </p:spPr>
        <p:txBody>
          <a:bodyPr wrap="none" lIns="0" tIns="0" rIns="0" bIns="0" rtlCol="0" anchor="t"/>
          <a:lstStyle/>
          <a:p>
            <a:pPr marL="0" indent="0" algn="l">
              <a:lnSpc>
                <a:spcPts val="5550"/>
              </a:lnSpc>
              <a:buNone/>
            </a:pPr>
            <a:r>
              <a:rPr lang="en-US" sz="4450" dirty="0">
                <a:solidFill>
                  <a:srgbClr val="2C3F42"/>
                </a:solidFill>
                <a:latin typeface="Bitter Medium" pitchFamily="34" charset="0"/>
                <a:ea typeface="Bitter Medium" pitchFamily="34" charset="-122"/>
                <a:cs typeface="Bitter Medium" pitchFamily="34" charset="-120"/>
              </a:rPr>
              <a:t>Block a Road - Part 2</a:t>
            </a:r>
            <a:endParaRPr lang="en-US" sz="4450" dirty="0"/>
          </a:p>
        </p:txBody>
      </p:sp>
      <p:sp>
        <p:nvSpPr>
          <p:cNvPr id="3" name="Text 1"/>
          <p:cNvSpPr/>
          <p:nvPr/>
        </p:nvSpPr>
        <p:spPr>
          <a:xfrm>
            <a:off x="793790" y="2577584"/>
            <a:ext cx="226814" cy="283488"/>
          </a:xfrm>
          <a:prstGeom prst="rect">
            <a:avLst/>
          </a:prstGeom>
          <a:noFill/>
        </p:spPr>
        <p:txBody>
          <a:bodyPr wrap="none" lIns="0" tIns="0" rIns="0" bIns="0" rtlCol="0" anchor="t"/>
          <a:lstStyle/>
          <a:p>
            <a:pPr marL="0" indent="0" algn="l">
              <a:lnSpc>
                <a:spcPts val="2850"/>
              </a:lnSpc>
              <a:buNone/>
            </a:pPr>
            <a:r>
              <a:rPr lang="en-US" sz="1750" dirty="0">
                <a:solidFill>
                  <a:srgbClr val="2B2E3C"/>
                </a:solidFill>
                <a:latin typeface="Bitter Light" pitchFamily="34" charset="0"/>
                <a:ea typeface="Bitter Light" pitchFamily="34" charset="-122"/>
                <a:cs typeface="Bitter Light" pitchFamily="34" charset="-120"/>
              </a:rPr>
              <a:t>01</a:t>
            </a:r>
            <a:endParaRPr lang="en-US" sz="1750" dirty="0"/>
          </a:p>
        </p:txBody>
      </p:sp>
      <p:sp>
        <p:nvSpPr>
          <p:cNvPr id="4" name="Shape 2"/>
          <p:cNvSpPr/>
          <p:nvPr/>
        </p:nvSpPr>
        <p:spPr>
          <a:xfrm>
            <a:off x="793790" y="2932628"/>
            <a:ext cx="6407944" cy="30480"/>
          </a:xfrm>
          <a:prstGeom prst="rect">
            <a:avLst/>
          </a:prstGeom>
          <a:solidFill>
            <a:srgbClr val="D2600F"/>
          </a:solidFill>
        </p:spPr>
      </p:sp>
      <p:sp>
        <p:nvSpPr>
          <p:cNvPr id="5" name="Text 3"/>
          <p:cNvSpPr/>
          <p:nvPr/>
        </p:nvSpPr>
        <p:spPr>
          <a:xfrm>
            <a:off x="793790" y="3106936"/>
            <a:ext cx="3840242" cy="354330"/>
          </a:xfrm>
          <a:prstGeom prst="rect">
            <a:avLst/>
          </a:prstGeom>
          <a:noFill/>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Step 5: Bidirectional Blocking</a:t>
            </a:r>
            <a:endParaRPr lang="en-US" sz="2200" dirty="0"/>
          </a:p>
        </p:txBody>
      </p:sp>
      <p:sp>
        <p:nvSpPr>
          <p:cNvPr id="6" name="Text 4"/>
          <p:cNvSpPr/>
          <p:nvPr/>
        </p:nvSpPr>
        <p:spPr>
          <a:xfrm>
            <a:off x="793790" y="3597354"/>
            <a:ext cx="6407944" cy="1451610"/>
          </a:xfrm>
          <a:prstGeom prst="rect">
            <a:avLst/>
          </a:prstGeom>
          <a:noFill/>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To ensure the road is fully blocked and impassable for ambulances regardless of direction, the weight of the reverse path (v → u) is also set to infinity (</a:t>
            </a:r>
            <a:r>
              <a:rPr lang="en-US" sz="1750" dirty="0">
                <a:solidFill>
                  <a:srgbClr val="2B2E3C"/>
                </a:solidFill>
                <a:highlight>
                  <a:srgbClr val="F2EBE3"/>
                </a:highlight>
                <a:latin typeface="Consolas" pitchFamily="34" charset="0"/>
                <a:ea typeface="Consolas" pitchFamily="34" charset="-122"/>
                <a:cs typeface="Consolas" pitchFamily="34" charset="-120"/>
              </a:rPr>
              <a:t>INF</a:t>
            </a:r>
            <a:r>
              <a:rPr lang="en-US" sz="1750" dirty="0">
                <a:solidFill>
                  <a:srgbClr val="2B2E3C"/>
                </a:solidFill>
                <a:latin typeface="Open Sans" pitchFamily="34" charset="0"/>
                <a:ea typeface="Open Sans" pitchFamily="34" charset="-122"/>
                <a:cs typeface="Open Sans" pitchFamily="34" charset="-120"/>
              </a:rPr>
              <a:t>). This ensures consistency in the network's state.</a:t>
            </a:r>
            <a:endParaRPr lang="en-US" sz="1750" dirty="0"/>
          </a:p>
        </p:txBody>
      </p:sp>
      <p:sp>
        <p:nvSpPr>
          <p:cNvPr id="7" name="Shape 5"/>
          <p:cNvSpPr/>
          <p:nvPr/>
        </p:nvSpPr>
        <p:spPr>
          <a:xfrm>
            <a:off x="793790" y="5304115"/>
            <a:ext cx="6407944" cy="1065848"/>
          </a:xfrm>
          <a:prstGeom prst="roundRect">
            <a:avLst>
              <a:gd name="adj" fmla="val 8938"/>
            </a:avLst>
          </a:prstGeom>
          <a:solidFill>
            <a:srgbClr val="F2EBE3"/>
          </a:solidFill>
        </p:spPr>
      </p:sp>
      <p:sp>
        <p:nvSpPr>
          <p:cNvPr id="8" name="Shape 6"/>
          <p:cNvSpPr/>
          <p:nvPr/>
        </p:nvSpPr>
        <p:spPr>
          <a:xfrm>
            <a:off x="782479" y="5304115"/>
            <a:ext cx="6430566" cy="1065848"/>
          </a:xfrm>
          <a:prstGeom prst="roundRect">
            <a:avLst>
              <a:gd name="adj" fmla="val 3192"/>
            </a:avLst>
          </a:prstGeom>
          <a:solidFill>
            <a:srgbClr val="F2EBE3"/>
          </a:solidFill>
        </p:spPr>
      </p:sp>
      <p:sp>
        <p:nvSpPr>
          <p:cNvPr id="9" name="Text 7"/>
          <p:cNvSpPr/>
          <p:nvPr/>
        </p:nvSpPr>
        <p:spPr>
          <a:xfrm>
            <a:off x="1009293" y="5474137"/>
            <a:ext cx="5976938" cy="725805"/>
          </a:xfrm>
          <a:prstGeom prst="rect">
            <a:avLst/>
          </a:prstGeom>
          <a:noFill/>
        </p:spPr>
        <p:txBody>
          <a:bodyPr wrap="square" lIns="0" tIns="0" rIns="0" bIns="0" rtlCol="0" anchor="t"/>
          <a:lstStyle/>
          <a:p>
            <a:pPr marL="0" indent="0" algn="l">
              <a:lnSpc>
                <a:spcPts val="2850"/>
              </a:lnSpc>
              <a:buNone/>
            </a:pPr>
            <a:r>
              <a:rPr lang="en-US" sz="1750" dirty="0">
                <a:solidFill>
                  <a:srgbClr val="2B2E3C"/>
                </a:solidFill>
                <a:highlight>
                  <a:srgbClr val="F2EBE3"/>
                </a:highlight>
                <a:latin typeface="Consolas" pitchFamily="34" charset="0"/>
                <a:ea typeface="Consolas" pitchFamily="34" charset="-122"/>
                <a:cs typeface="Consolas" pitchFamily="34" charset="-120"/>
              </a:rPr>
              <a:t>// Assuming 'e' was for u-&gt;v, now block v-&gt;u</a:t>
            </a:r>
            <a:endParaRPr lang="en-US" sz="1750" dirty="0"/>
          </a:p>
          <a:p>
            <a:pPr marL="0" indent="0" algn="l">
              <a:lnSpc>
                <a:spcPts val="2850"/>
              </a:lnSpc>
              <a:buNone/>
            </a:pPr>
            <a:r>
              <a:rPr lang="en-US" sz="1750" dirty="0">
                <a:solidFill>
                  <a:srgbClr val="2B2E3C"/>
                </a:solidFill>
                <a:highlight>
                  <a:srgbClr val="F2EBE3"/>
                </a:highlight>
                <a:latin typeface="Consolas" pitchFamily="34" charset="0"/>
                <a:ea typeface="Consolas" pitchFamily="34" charset="-122"/>
                <a:cs typeface="Consolas" pitchFamily="34" charset="-120"/>
              </a:rPr>
              <a:t>graph[v][u].weight = INF;</a:t>
            </a:r>
            <a:endParaRPr lang="en-US" sz="1750" dirty="0"/>
          </a:p>
        </p:txBody>
      </p:sp>
      <p:sp>
        <p:nvSpPr>
          <p:cNvPr id="10" name="Text 8"/>
          <p:cNvSpPr/>
          <p:nvPr/>
        </p:nvSpPr>
        <p:spPr>
          <a:xfrm>
            <a:off x="7428548" y="2577584"/>
            <a:ext cx="226814" cy="283488"/>
          </a:xfrm>
          <a:prstGeom prst="rect">
            <a:avLst/>
          </a:prstGeom>
          <a:noFill/>
        </p:spPr>
        <p:txBody>
          <a:bodyPr wrap="none" lIns="0" tIns="0" rIns="0" bIns="0" rtlCol="0" anchor="t"/>
          <a:lstStyle/>
          <a:p>
            <a:pPr marL="0" indent="0" algn="l">
              <a:lnSpc>
                <a:spcPts val="2850"/>
              </a:lnSpc>
              <a:buNone/>
            </a:pPr>
            <a:r>
              <a:rPr lang="en-US" sz="1750" dirty="0">
                <a:solidFill>
                  <a:srgbClr val="2B2E3C"/>
                </a:solidFill>
                <a:latin typeface="Bitter Light" pitchFamily="34" charset="0"/>
                <a:ea typeface="Bitter Light" pitchFamily="34" charset="-122"/>
                <a:cs typeface="Bitter Light" pitchFamily="34" charset="-120"/>
              </a:rPr>
              <a:t>02</a:t>
            </a:r>
            <a:endParaRPr lang="en-US" sz="1750" dirty="0"/>
          </a:p>
        </p:txBody>
      </p:sp>
      <p:sp>
        <p:nvSpPr>
          <p:cNvPr id="11" name="Shape 9"/>
          <p:cNvSpPr/>
          <p:nvPr/>
        </p:nvSpPr>
        <p:spPr>
          <a:xfrm>
            <a:off x="7428548" y="2932628"/>
            <a:ext cx="6408063" cy="30480"/>
          </a:xfrm>
          <a:prstGeom prst="rect">
            <a:avLst/>
          </a:prstGeom>
          <a:solidFill>
            <a:srgbClr val="D2600F"/>
          </a:solidFill>
        </p:spPr>
      </p:sp>
      <p:sp>
        <p:nvSpPr>
          <p:cNvPr id="12" name="Text 10"/>
          <p:cNvSpPr/>
          <p:nvPr/>
        </p:nvSpPr>
        <p:spPr>
          <a:xfrm>
            <a:off x="7428548" y="3106936"/>
            <a:ext cx="3922157" cy="354330"/>
          </a:xfrm>
          <a:prstGeom prst="rect">
            <a:avLst/>
          </a:prstGeom>
          <a:noFill/>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Step 6: Confirmation Message</a:t>
            </a:r>
            <a:endParaRPr lang="en-US" sz="2200" dirty="0"/>
          </a:p>
        </p:txBody>
      </p:sp>
      <p:sp>
        <p:nvSpPr>
          <p:cNvPr id="13" name="Text 11"/>
          <p:cNvSpPr/>
          <p:nvPr/>
        </p:nvSpPr>
        <p:spPr>
          <a:xfrm>
            <a:off x="7428548" y="3597354"/>
            <a:ext cx="6408063" cy="2177415"/>
          </a:xfrm>
          <a:prstGeom prst="rect">
            <a:avLst/>
          </a:prstGeom>
          <a:noFill/>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A confirmation message, </a:t>
            </a:r>
            <a:r>
              <a:rPr lang="en-US" sz="1750" dirty="0">
                <a:solidFill>
                  <a:srgbClr val="2B2E3C"/>
                </a:solidFill>
                <a:highlight>
                  <a:srgbClr val="F2EBE3"/>
                </a:highlight>
                <a:latin typeface="Consolas" pitchFamily="34" charset="0"/>
                <a:ea typeface="Consolas" pitchFamily="34" charset="-122"/>
                <a:cs typeface="Consolas" pitchFamily="34" charset="-120"/>
              </a:rPr>
              <a:t>"Road blocked."</a:t>
            </a:r>
            <a:r>
              <a:rPr lang="en-US" sz="1750" dirty="0">
                <a:solidFill>
                  <a:srgbClr val="2B2E3C"/>
                </a:solidFill>
                <a:latin typeface="Open Sans" pitchFamily="34" charset="0"/>
                <a:ea typeface="Open Sans" pitchFamily="34" charset="-122"/>
                <a:cs typeface="Open Sans" pitchFamily="34" charset="-120"/>
              </a:rPr>
              <a:t>, is displayed to the user. This action effectively simulates real-life scenarios where a road might be closed temporarily or permanently due to an accident, heavy traffic, a protest, or other unforeseen events, guiding ambulances to alternative routes.</a:t>
            </a:r>
            <a:endParaRPr lang="en-US" sz="1750" dirty="0"/>
          </a:p>
        </p:txBody>
      </p:sp>
      <p:sp>
        <p:nvSpPr>
          <p:cNvPr id="14" name="Text 12"/>
          <p:cNvSpPr/>
          <p:nvPr/>
        </p:nvSpPr>
        <p:spPr>
          <a:xfrm>
            <a:off x="7428548" y="5910858"/>
            <a:ext cx="6408063" cy="733425"/>
          </a:xfrm>
          <a:prstGeom prst="rect">
            <a:avLst/>
          </a:prstGeom>
          <a:noFill/>
        </p:spPr>
        <p:txBody>
          <a:bodyPr wrap="square" lIns="0" tIns="0" rIns="0" bIns="0" rtlCol="0" anchor="t"/>
          <a:lstStyle/>
          <a:p>
            <a:pPr marL="0" indent="0" algn="l">
              <a:lnSpc>
                <a:spcPts val="2850"/>
              </a:lnSpc>
              <a:buNone/>
            </a:pPr>
            <a:r>
              <a:rPr lang="en-US" sz="1750" dirty="0">
                <a:solidFill>
                  <a:srgbClr val="000000"/>
                </a:solidFill>
                <a:latin typeface="Open Sans" pitchFamily="34" charset="0"/>
                <a:ea typeface="Open Sans" pitchFamily="34" charset="-122"/>
                <a:cs typeface="Open Sans" pitchFamily="34" charset="-120"/>
              </a:rPr>
              <a:t>📌</a:t>
            </a:r>
            <a:r>
              <a:rPr lang="en-US" sz="1750" dirty="0">
                <a:solidFill>
                  <a:srgbClr val="2B2E3C"/>
                </a:solidFill>
                <a:latin typeface="Open Sans" pitchFamily="34" charset="0"/>
                <a:ea typeface="Open Sans" pitchFamily="34" charset="-122"/>
                <a:cs typeface="Open Sans" pitchFamily="34" charset="-120"/>
              </a:rPr>
              <a:t> Real-life meaning: Road closed due to accident, traffic, protest, etc.</a:t>
            </a:r>
            <a:endParaRPr lang="en-US" sz="1750" dirty="0"/>
          </a:p>
        </p:txBody>
      </p:sp>
      <p:pic>
        <p:nvPicPr>
          <p:cNvPr id="15" name="Picture 14"/>
          <p:cNvPicPr>
            <a:picLocks noChangeAspect="1"/>
          </p:cNvPicPr>
          <p:nvPr/>
        </p:nvPicPr>
        <p:blipFill>
          <a:blip r:embed="rId1"/>
          <a:stretch>
            <a:fillRect/>
          </a:stretch>
        </p:blipFill>
        <p:spPr>
          <a:xfrm>
            <a:off x="12125325" y="7762875"/>
            <a:ext cx="2505075" cy="46672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96835" y="458510"/>
            <a:ext cx="3007995" cy="354330"/>
          </a:xfrm>
          <a:prstGeom prst="rect">
            <a:avLst/>
          </a:prstGeom>
          <a:noFill/>
        </p:spPr>
        <p:txBody>
          <a:bodyPr wrap="none" lIns="0" tIns="0" rIns="0" bIns="0" rtlCol="0" anchor="t"/>
          <a:lstStyle/>
          <a:p>
            <a:pPr marL="0" indent="0" algn="l">
              <a:lnSpc>
                <a:spcPts val="2750"/>
              </a:lnSpc>
              <a:buNone/>
            </a:pPr>
            <a:r>
              <a:rPr lang="en-US" sz="2200" dirty="0">
                <a:solidFill>
                  <a:srgbClr val="2C3F42"/>
                </a:solidFill>
                <a:latin typeface="Bitter Medium" pitchFamily="34" charset="0"/>
                <a:ea typeface="Bitter Medium" pitchFamily="34" charset="-122"/>
                <a:cs typeface="Bitter Medium" pitchFamily="34" charset="-120"/>
              </a:rPr>
              <a:t>Unblock a Road - Part 1</a:t>
            </a:r>
            <a:endParaRPr lang="en-US" sz="2200" dirty="0"/>
          </a:p>
        </p:txBody>
      </p:sp>
      <p:sp>
        <p:nvSpPr>
          <p:cNvPr id="3" name="Text 1"/>
          <p:cNvSpPr/>
          <p:nvPr/>
        </p:nvSpPr>
        <p:spPr>
          <a:xfrm>
            <a:off x="396835" y="1039654"/>
            <a:ext cx="13836729" cy="181451"/>
          </a:xfrm>
          <a:prstGeom prst="rect">
            <a:avLst/>
          </a:prstGeom>
          <a:noFill/>
        </p:spPr>
        <p:txBody>
          <a:bodyPr wrap="none" lIns="0" tIns="0" rIns="0" bIns="0" rtlCol="0" anchor="t"/>
          <a:lstStyle/>
          <a:p>
            <a:pPr marL="0" indent="0" algn="l">
              <a:lnSpc>
                <a:spcPts val="1400"/>
              </a:lnSpc>
              <a:buNone/>
            </a:pPr>
            <a:r>
              <a:rPr lang="en-US" sz="850" dirty="0">
                <a:solidFill>
                  <a:srgbClr val="2B2E3C"/>
                </a:solidFill>
                <a:latin typeface="Open Sans" pitchFamily="34" charset="0"/>
                <a:ea typeface="Open Sans" pitchFamily="34" charset="-122"/>
                <a:cs typeface="Open Sans" pitchFamily="34" charset="-120"/>
              </a:rPr>
              <a:t>The "Unblock a Road" functionality allows administrators to restore a previously blocked road segment, making it available again for ambulance routing. This process involves several checks and operations to ensure the network's integrity and user clarity.</a:t>
            </a:r>
            <a:endParaRPr lang="en-US" sz="850" dirty="0"/>
          </a:p>
        </p:txBody>
      </p:sp>
      <p:sp>
        <p:nvSpPr>
          <p:cNvPr id="4" name="Text 2"/>
          <p:cNvSpPr/>
          <p:nvPr/>
        </p:nvSpPr>
        <p:spPr>
          <a:xfrm>
            <a:off x="396835" y="1348621"/>
            <a:ext cx="113348" cy="141684"/>
          </a:xfrm>
          <a:prstGeom prst="rect">
            <a:avLst/>
          </a:prstGeom>
          <a:noFill/>
        </p:spPr>
        <p:txBody>
          <a:bodyPr wrap="none" lIns="0" tIns="0" rIns="0" bIns="0" rtlCol="0" anchor="t"/>
          <a:lstStyle/>
          <a:p>
            <a:pPr marL="0" indent="0" algn="l">
              <a:lnSpc>
                <a:spcPts val="1400"/>
              </a:lnSpc>
              <a:buNone/>
            </a:pPr>
            <a:r>
              <a:rPr lang="en-US" sz="850" dirty="0">
                <a:solidFill>
                  <a:srgbClr val="2B2E3C"/>
                </a:solidFill>
                <a:latin typeface="Bitter Light" pitchFamily="34" charset="0"/>
                <a:ea typeface="Bitter Light" pitchFamily="34" charset="-122"/>
                <a:cs typeface="Bitter Light" pitchFamily="34" charset="-120"/>
              </a:rPr>
              <a:t>01</a:t>
            </a:r>
            <a:endParaRPr lang="en-US" sz="850" dirty="0"/>
          </a:p>
        </p:txBody>
      </p:sp>
      <p:sp>
        <p:nvSpPr>
          <p:cNvPr id="5" name="Shape 3"/>
          <p:cNvSpPr/>
          <p:nvPr/>
        </p:nvSpPr>
        <p:spPr>
          <a:xfrm>
            <a:off x="396835" y="1526024"/>
            <a:ext cx="6861691" cy="15240"/>
          </a:xfrm>
          <a:prstGeom prst="rect">
            <a:avLst/>
          </a:prstGeom>
          <a:solidFill>
            <a:srgbClr val="D2600F"/>
          </a:solidFill>
        </p:spPr>
      </p:sp>
      <p:sp>
        <p:nvSpPr>
          <p:cNvPr id="6" name="Text 4"/>
          <p:cNvSpPr/>
          <p:nvPr/>
        </p:nvSpPr>
        <p:spPr>
          <a:xfrm>
            <a:off x="396835" y="1613178"/>
            <a:ext cx="2524839" cy="177165"/>
          </a:xfrm>
          <a:prstGeom prst="rect">
            <a:avLst/>
          </a:prstGeom>
          <a:noFill/>
        </p:spPr>
        <p:txBody>
          <a:bodyPr wrap="none" lIns="0" tIns="0" rIns="0" bIns="0" rtlCol="0" anchor="t"/>
          <a:lstStyle/>
          <a:p>
            <a:pPr marL="0" indent="0" algn="l">
              <a:lnSpc>
                <a:spcPts val="1350"/>
              </a:lnSpc>
              <a:buNone/>
            </a:pPr>
            <a:r>
              <a:rPr lang="en-US" sz="1100" dirty="0">
                <a:solidFill>
                  <a:srgbClr val="2B2E3C"/>
                </a:solidFill>
                <a:latin typeface="Bitter Medium" pitchFamily="34" charset="0"/>
                <a:ea typeface="Bitter Medium" pitchFamily="34" charset="-122"/>
                <a:cs typeface="Bitter Medium" pitchFamily="34" charset="-120"/>
              </a:rPr>
              <a:t>User Interface: Display Blocked Routes</a:t>
            </a:r>
            <a:endParaRPr lang="en-US" sz="1100" dirty="0"/>
          </a:p>
        </p:txBody>
      </p:sp>
      <p:sp>
        <p:nvSpPr>
          <p:cNvPr id="7" name="Text 5"/>
          <p:cNvSpPr/>
          <p:nvPr/>
        </p:nvSpPr>
        <p:spPr>
          <a:xfrm>
            <a:off x="396835" y="1858328"/>
            <a:ext cx="6861691" cy="362903"/>
          </a:xfrm>
          <a:prstGeom prst="rect">
            <a:avLst/>
          </a:prstGeom>
          <a:noFill/>
        </p:spPr>
        <p:txBody>
          <a:bodyPr wrap="square" lIns="0" tIns="0" rIns="0" bIns="0" rtlCol="0" anchor="t"/>
          <a:lstStyle/>
          <a:p>
            <a:pPr marL="0" indent="0" algn="l">
              <a:lnSpc>
                <a:spcPts val="1400"/>
              </a:lnSpc>
              <a:buNone/>
            </a:pPr>
            <a:r>
              <a:rPr lang="en-US" sz="850" dirty="0">
                <a:solidFill>
                  <a:srgbClr val="2B2E3C"/>
                </a:solidFill>
                <a:latin typeface="Open Sans" pitchFamily="34" charset="0"/>
                <a:ea typeface="Open Sans" pitchFamily="34" charset="-122"/>
                <a:cs typeface="Open Sans" pitchFamily="34" charset="-120"/>
              </a:rPr>
              <a:t>To facilitate the user's selection, the system first presents a clear prompt indicating that blocked routes are being shown, and then asks for input.</a:t>
            </a:r>
            <a:endParaRPr lang="en-US" sz="850" dirty="0"/>
          </a:p>
        </p:txBody>
      </p:sp>
      <p:sp>
        <p:nvSpPr>
          <p:cNvPr id="8" name="Shape 6"/>
          <p:cNvSpPr/>
          <p:nvPr/>
        </p:nvSpPr>
        <p:spPr>
          <a:xfrm>
            <a:off x="396835" y="2348746"/>
            <a:ext cx="6861691" cy="532924"/>
          </a:xfrm>
          <a:prstGeom prst="roundRect">
            <a:avLst>
              <a:gd name="adj" fmla="val 8938"/>
            </a:avLst>
          </a:prstGeom>
          <a:solidFill>
            <a:srgbClr val="F2EBE3"/>
          </a:solidFill>
        </p:spPr>
      </p:sp>
      <p:sp>
        <p:nvSpPr>
          <p:cNvPr id="9" name="Shape 7"/>
          <p:cNvSpPr/>
          <p:nvPr/>
        </p:nvSpPr>
        <p:spPr>
          <a:xfrm>
            <a:off x="391239" y="2348746"/>
            <a:ext cx="6872883" cy="532924"/>
          </a:xfrm>
          <a:prstGeom prst="roundRect">
            <a:avLst>
              <a:gd name="adj" fmla="val 3192"/>
            </a:avLst>
          </a:prstGeom>
          <a:solidFill>
            <a:srgbClr val="F2EBE3"/>
          </a:solidFill>
        </p:spPr>
      </p:sp>
      <p:sp>
        <p:nvSpPr>
          <p:cNvPr id="10" name="Text 8"/>
          <p:cNvSpPr/>
          <p:nvPr/>
        </p:nvSpPr>
        <p:spPr>
          <a:xfrm>
            <a:off x="504587" y="2433757"/>
            <a:ext cx="6646188" cy="362903"/>
          </a:xfrm>
          <a:prstGeom prst="rect">
            <a:avLst/>
          </a:prstGeom>
          <a:noFill/>
        </p:spPr>
        <p:txBody>
          <a:bodyPr wrap="square" lIns="0" tIns="0" rIns="0" bIns="0" rtlCol="0" anchor="t"/>
          <a:lstStyle/>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 Blocked Routes ---</a:t>
            </a:r>
            <a:endParaRPr lang="en-US" sz="850" dirty="0"/>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Enter from to:</a:t>
            </a:r>
            <a:endParaRPr lang="en-US" sz="850" dirty="0"/>
          </a:p>
        </p:txBody>
      </p:sp>
      <p:sp>
        <p:nvSpPr>
          <p:cNvPr id="11" name="Text 9"/>
          <p:cNvSpPr/>
          <p:nvPr/>
        </p:nvSpPr>
        <p:spPr>
          <a:xfrm>
            <a:off x="396835" y="3009186"/>
            <a:ext cx="6861691" cy="362903"/>
          </a:xfrm>
          <a:prstGeom prst="rect">
            <a:avLst/>
          </a:prstGeom>
          <a:noFill/>
        </p:spPr>
        <p:txBody>
          <a:bodyPr wrap="square" lIns="0" tIns="0" rIns="0" bIns="0" rtlCol="0" anchor="t"/>
          <a:lstStyle/>
          <a:p>
            <a:pPr marL="0" indent="0" algn="l">
              <a:lnSpc>
                <a:spcPts val="1400"/>
              </a:lnSpc>
              <a:buNone/>
            </a:pPr>
            <a:r>
              <a:rPr lang="en-US" sz="850" dirty="0">
                <a:solidFill>
                  <a:srgbClr val="2B2E3C"/>
                </a:solidFill>
                <a:latin typeface="Open Sans" pitchFamily="34" charset="0"/>
                <a:ea typeface="Open Sans" pitchFamily="34" charset="-122"/>
                <a:cs typeface="Open Sans" pitchFamily="34" charset="-120"/>
              </a:rPr>
              <a:t>Before prompting for input, the system displays all currently blocked roads. This step is crucial for helping the user choose the correct road to unblock, preventing errors from attempting to unblock non-existent or unblocked roads.</a:t>
            </a:r>
            <a:endParaRPr lang="en-US" sz="850" dirty="0"/>
          </a:p>
        </p:txBody>
      </p:sp>
      <p:sp>
        <p:nvSpPr>
          <p:cNvPr id="12" name="Shape 10"/>
          <p:cNvSpPr/>
          <p:nvPr/>
        </p:nvSpPr>
        <p:spPr>
          <a:xfrm>
            <a:off x="396835" y="3499604"/>
            <a:ext cx="6861691" cy="351472"/>
          </a:xfrm>
          <a:prstGeom prst="roundRect">
            <a:avLst>
              <a:gd name="adj" fmla="val 13553"/>
            </a:avLst>
          </a:prstGeom>
          <a:solidFill>
            <a:srgbClr val="F2EBE3"/>
          </a:solidFill>
        </p:spPr>
      </p:sp>
      <p:sp>
        <p:nvSpPr>
          <p:cNvPr id="13" name="Shape 11"/>
          <p:cNvSpPr/>
          <p:nvPr/>
        </p:nvSpPr>
        <p:spPr>
          <a:xfrm>
            <a:off x="391239" y="3499604"/>
            <a:ext cx="6872883" cy="351472"/>
          </a:xfrm>
          <a:prstGeom prst="roundRect">
            <a:avLst>
              <a:gd name="adj" fmla="val 4840"/>
            </a:avLst>
          </a:prstGeom>
          <a:solidFill>
            <a:srgbClr val="F2EBE3"/>
          </a:solidFill>
        </p:spPr>
      </p:sp>
      <p:sp>
        <p:nvSpPr>
          <p:cNvPr id="14" name="Text 12"/>
          <p:cNvSpPr/>
          <p:nvPr/>
        </p:nvSpPr>
        <p:spPr>
          <a:xfrm>
            <a:off x="504587" y="3584615"/>
            <a:ext cx="6646188" cy="181451"/>
          </a:xfrm>
          <a:prstGeom prst="rect">
            <a:avLst/>
          </a:prstGeom>
          <a:noFill/>
        </p:spPr>
        <p:txBody>
          <a:bodyPr wrap="none" lIns="0" tIns="0" rIns="0" bIns="0" rtlCol="0" anchor="t"/>
          <a:lstStyle/>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showBlockedRoutes(graph, names); // Displays a list of blocked roads</a:t>
            </a:r>
            <a:endParaRPr lang="en-US" sz="850" dirty="0"/>
          </a:p>
        </p:txBody>
      </p:sp>
      <p:sp>
        <p:nvSpPr>
          <p:cNvPr id="15" name="Text 13"/>
          <p:cNvSpPr/>
          <p:nvPr/>
        </p:nvSpPr>
        <p:spPr>
          <a:xfrm>
            <a:off x="7371874" y="1348621"/>
            <a:ext cx="113348" cy="141684"/>
          </a:xfrm>
          <a:prstGeom prst="rect">
            <a:avLst/>
          </a:prstGeom>
          <a:noFill/>
        </p:spPr>
        <p:txBody>
          <a:bodyPr wrap="none" lIns="0" tIns="0" rIns="0" bIns="0" rtlCol="0" anchor="t"/>
          <a:lstStyle/>
          <a:p>
            <a:pPr marL="0" indent="0" algn="l">
              <a:lnSpc>
                <a:spcPts val="1400"/>
              </a:lnSpc>
              <a:buNone/>
            </a:pPr>
            <a:r>
              <a:rPr lang="en-US" sz="850" dirty="0">
                <a:solidFill>
                  <a:srgbClr val="2B2E3C"/>
                </a:solidFill>
                <a:latin typeface="Bitter Light" pitchFamily="34" charset="0"/>
                <a:ea typeface="Bitter Light" pitchFamily="34" charset="-122"/>
                <a:cs typeface="Bitter Light" pitchFamily="34" charset="-120"/>
              </a:rPr>
              <a:t>02</a:t>
            </a:r>
            <a:endParaRPr lang="en-US" sz="850" dirty="0"/>
          </a:p>
        </p:txBody>
      </p:sp>
      <p:sp>
        <p:nvSpPr>
          <p:cNvPr id="16" name="Shape 14"/>
          <p:cNvSpPr/>
          <p:nvPr/>
        </p:nvSpPr>
        <p:spPr>
          <a:xfrm>
            <a:off x="7371874" y="1526024"/>
            <a:ext cx="6861691" cy="15240"/>
          </a:xfrm>
          <a:prstGeom prst="rect">
            <a:avLst/>
          </a:prstGeom>
          <a:solidFill>
            <a:srgbClr val="D2600F"/>
          </a:solidFill>
        </p:spPr>
      </p:sp>
      <p:sp>
        <p:nvSpPr>
          <p:cNvPr id="17" name="Text 15"/>
          <p:cNvSpPr/>
          <p:nvPr/>
        </p:nvSpPr>
        <p:spPr>
          <a:xfrm>
            <a:off x="7371874" y="1613178"/>
            <a:ext cx="1746052" cy="177165"/>
          </a:xfrm>
          <a:prstGeom prst="rect">
            <a:avLst/>
          </a:prstGeom>
          <a:noFill/>
        </p:spPr>
        <p:txBody>
          <a:bodyPr wrap="none" lIns="0" tIns="0" rIns="0" bIns="0" rtlCol="0" anchor="t"/>
          <a:lstStyle/>
          <a:p>
            <a:pPr marL="0" indent="0" algn="l">
              <a:lnSpc>
                <a:spcPts val="1350"/>
              </a:lnSpc>
              <a:buNone/>
            </a:pPr>
            <a:r>
              <a:rPr lang="en-US" sz="1100" dirty="0">
                <a:solidFill>
                  <a:srgbClr val="2B2E3C"/>
                </a:solidFill>
                <a:latin typeface="Bitter Medium" pitchFamily="34" charset="0"/>
                <a:ea typeface="Bitter Medium" pitchFamily="34" charset="-122"/>
                <a:cs typeface="Bitter Medium" pitchFamily="34" charset="-120"/>
              </a:rPr>
              <a:t>User Input: Road Selection</a:t>
            </a:r>
            <a:endParaRPr lang="en-US" sz="1100" dirty="0"/>
          </a:p>
        </p:txBody>
      </p:sp>
      <p:sp>
        <p:nvSpPr>
          <p:cNvPr id="18" name="Text 16"/>
          <p:cNvSpPr/>
          <p:nvPr/>
        </p:nvSpPr>
        <p:spPr>
          <a:xfrm>
            <a:off x="7371874" y="1858328"/>
            <a:ext cx="6861691" cy="362903"/>
          </a:xfrm>
          <a:prstGeom prst="rect">
            <a:avLst/>
          </a:prstGeom>
          <a:noFill/>
        </p:spPr>
        <p:txBody>
          <a:bodyPr wrap="square" lIns="0" tIns="0" rIns="0" bIns="0" rtlCol="0" anchor="t"/>
          <a:lstStyle/>
          <a:p>
            <a:pPr marL="0" indent="0" algn="l">
              <a:lnSpc>
                <a:spcPts val="1400"/>
              </a:lnSpc>
              <a:buNone/>
            </a:pPr>
            <a:r>
              <a:rPr lang="en-US" sz="850" dirty="0">
                <a:solidFill>
                  <a:srgbClr val="2B2E3C"/>
                </a:solidFill>
                <a:latin typeface="Open Sans" pitchFamily="34" charset="0"/>
                <a:ea typeface="Open Sans" pitchFamily="34" charset="-122"/>
                <a:cs typeface="Open Sans" pitchFamily="34" charset="-120"/>
              </a:rPr>
              <a:t>The user is then prompted to enter the 'from' and 'to' locations of the road they wish to unblock. These inputs are typically strings representing the names of the locations.</a:t>
            </a:r>
            <a:endParaRPr lang="en-US" sz="850" dirty="0"/>
          </a:p>
        </p:txBody>
      </p:sp>
      <p:sp>
        <p:nvSpPr>
          <p:cNvPr id="19" name="Shape 17"/>
          <p:cNvSpPr/>
          <p:nvPr/>
        </p:nvSpPr>
        <p:spPr>
          <a:xfrm>
            <a:off x="7371874" y="2348746"/>
            <a:ext cx="6861691" cy="532924"/>
          </a:xfrm>
          <a:prstGeom prst="roundRect">
            <a:avLst>
              <a:gd name="adj" fmla="val 8938"/>
            </a:avLst>
          </a:prstGeom>
          <a:solidFill>
            <a:srgbClr val="F2EBE3"/>
          </a:solidFill>
        </p:spPr>
      </p:sp>
      <p:sp>
        <p:nvSpPr>
          <p:cNvPr id="20" name="Shape 18"/>
          <p:cNvSpPr/>
          <p:nvPr/>
        </p:nvSpPr>
        <p:spPr>
          <a:xfrm>
            <a:off x="7366278" y="2348746"/>
            <a:ext cx="6872883" cy="532924"/>
          </a:xfrm>
          <a:prstGeom prst="roundRect">
            <a:avLst>
              <a:gd name="adj" fmla="val 3192"/>
            </a:avLst>
          </a:prstGeom>
          <a:solidFill>
            <a:srgbClr val="F2EBE3"/>
          </a:solidFill>
        </p:spPr>
      </p:sp>
      <p:sp>
        <p:nvSpPr>
          <p:cNvPr id="21" name="Text 19"/>
          <p:cNvSpPr/>
          <p:nvPr/>
        </p:nvSpPr>
        <p:spPr>
          <a:xfrm>
            <a:off x="7479625" y="2433757"/>
            <a:ext cx="6646188" cy="362903"/>
          </a:xfrm>
          <a:prstGeom prst="rect">
            <a:avLst/>
          </a:prstGeom>
          <a:noFill/>
        </p:spPr>
        <p:txBody>
          <a:bodyPr wrap="square" lIns="0" tIns="0" rIns="0" bIns="0" rtlCol="0" anchor="t"/>
          <a:lstStyle/>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string u, v; // Variables to store user input for 'from' and 'to' locations</a:t>
            </a:r>
            <a:endParaRPr lang="en-US" sz="850" dirty="0"/>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cin &gt;&gt; u &gt;&gt; v;</a:t>
            </a:r>
            <a:endParaRPr lang="en-US" sz="850" dirty="0"/>
          </a:p>
        </p:txBody>
      </p:sp>
      <p:sp>
        <p:nvSpPr>
          <p:cNvPr id="22" name="Text 20"/>
          <p:cNvSpPr/>
          <p:nvPr/>
        </p:nvSpPr>
        <p:spPr>
          <a:xfrm>
            <a:off x="396835" y="4049435"/>
            <a:ext cx="113348" cy="141684"/>
          </a:xfrm>
          <a:prstGeom prst="rect">
            <a:avLst/>
          </a:prstGeom>
          <a:noFill/>
        </p:spPr>
        <p:txBody>
          <a:bodyPr wrap="none" lIns="0" tIns="0" rIns="0" bIns="0" rtlCol="0" anchor="t"/>
          <a:lstStyle/>
          <a:p>
            <a:pPr marL="0" indent="0" algn="l">
              <a:lnSpc>
                <a:spcPts val="1400"/>
              </a:lnSpc>
              <a:buNone/>
            </a:pPr>
            <a:r>
              <a:rPr lang="en-US" sz="850" dirty="0">
                <a:solidFill>
                  <a:srgbClr val="2B2E3C"/>
                </a:solidFill>
                <a:latin typeface="Bitter Light" pitchFamily="34" charset="0"/>
                <a:ea typeface="Bitter Light" pitchFamily="34" charset="-122"/>
                <a:cs typeface="Bitter Light" pitchFamily="34" charset="-120"/>
              </a:rPr>
              <a:t>03</a:t>
            </a:r>
            <a:endParaRPr lang="en-US" sz="850" dirty="0"/>
          </a:p>
        </p:txBody>
      </p:sp>
      <p:sp>
        <p:nvSpPr>
          <p:cNvPr id="23" name="Shape 21"/>
          <p:cNvSpPr/>
          <p:nvPr/>
        </p:nvSpPr>
        <p:spPr>
          <a:xfrm>
            <a:off x="396835" y="4226838"/>
            <a:ext cx="6861691" cy="15240"/>
          </a:xfrm>
          <a:prstGeom prst="rect">
            <a:avLst/>
          </a:prstGeom>
          <a:solidFill>
            <a:srgbClr val="D2600F"/>
          </a:solidFill>
        </p:spPr>
      </p:sp>
      <p:sp>
        <p:nvSpPr>
          <p:cNvPr id="24" name="Text 22"/>
          <p:cNvSpPr/>
          <p:nvPr/>
        </p:nvSpPr>
        <p:spPr>
          <a:xfrm>
            <a:off x="396835" y="4313992"/>
            <a:ext cx="2132528" cy="177165"/>
          </a:xfrm>
          <a:prstGeom prst="rect">
            <a:avLst/>
          </a:prstGeom>
          <a:noFill/>
        </p:spPr>
        <p:txBody>
          <a:bodyPr wrap="none" lIns="0" tIns="0" rIns="0" bIns="0" rtlCol="0" anchor="t"/>
          <a:lstStyle/>
          <a:p>
            <a:pPr marL="0" indent="0" algn="l">
              <a:lnSpc>
                <a:spcPts val="1350"/>
              </a:lnSpc>
              <a:buNone/>
            </a:pPr>
            <a:r>
              <a:rPr lang="en-US" sz="1100" dirty="0">
                <a:solidFill>
                  <a:srgbClr val="2B2E3C"/>
                </a:solidFill>
                <a:latin typeface="Bitter Medium" pitchFamily="34" charset="0"/>
                <a:ea typeface="Bitter Medium" pitchFamily="34" charset="-122"/>
                <a:cs typeface="Bitter Medium" pitchFamily="34" charset="-120"/>
              </a:rPr>
              <a:t>Error Handling: Input Validation</a:t>
            </a:r>
            <a:endParaRPr lang="en-US" sz="1100" dirty="0"/>
          </a:p>
        </p:txBody>
      </p:sp>
      <p:sp>
        <p:nvSpPr>
          <p:cNvPr id="25" name="Text 23"/>
          <p:cNvSpPr/>
          <p:nvPr/>
        </p:nvSpPr>
        <p:spPr>
          <a:xfrm>
            <a:off x="396835" y="4559141"/>
            <a:ext cx="6861691" cy="362903"/>
          </a:xfrm>
          <a:prstGeom prst="rect">
            <a:avLst/>
          </a:prstGeom>
          <a:noFill/>
        </p:spPr>
        <p:txBody>
          <a:bodyPr wrap="square" lIns="0" tIns="0" rIns="0" bIns="0" rtlCol="0" anchor="t"/>
          <a:lstStyle/>
          <a:p>
            <a:pPr marL="0" indent="0" algn="l">
              <a:lnSpc>
                <a:spcPts val="1400"/>
              </a:lnSpc>
              <a:buNone/>
            </a:pPr>
            <a:r>
              <a:rPr lang="en-US" sz="850" dirty="0">
                <a:solidFill>
                  <a:srgbClr val="2B2E3C"/>
                </a:solidFill>
                <a:latin typeface="Open Sans" pitchFamily="34" charset="0"/>
                <a:ea typeface="Open Sans" pitchFamily="34" charset="-122"/>
                <a:cs typeface="Open Sans" pitchFamily="34" charset="-120"/>
              </a:rPr>
              <a:t>Robust error handling is implemented to validate the user's input and prevent unintended operations. The system checks for two main conditions:</a:t>
            </a:r>
            <a:endParaRPr lang="en-US" sz="850" dirty="0"/>
          </a:p>
        </p:txBody>
      </p:sp>
      <p:sp>
        <p:nvSpPr>
          <p:cNvPr id="26" name="Text 24"/>
          <p:cNvSpPr/>
          <p:nvPr/>
        </p:nvSpPr>
        <p:spPr>
          <a:xfrm>
            <a:off x="396835" y="4990028"/>
            <a:ext cx="6861691" cy="362903"/>
          </a:xfrm>
          <a:prstGeom prst="rect">
            <a:avLst/>
          </a:prstGeom>
          <a:noFill/>
        </p:spPr>
        <p:txBody>
          <a:bodyPr wrap="square" lIns="0" tIns="0" rIns="0" bIns="0" rtlCol="0" anchor="t"/>
          <a:lstStyle/>
          <a:p>
            <a:pPr marL="0" indent="0" algn="l">
              <a:lnSpc>
                <a:spcPts val="1400"/>
              </a:lnSpc>
              <a:buSzPct val="100000"/>
              <a:buNone/>
            </a:pPr>
            <a:r>
              <a:rPr lang="en-US" sz="850" b="1" dirty="0">
                <a:solidFill>
                  <a:srgbClr val="2B2E3C"/>
                </a:solidFill>
                <a:latin typeface="Open Sans" pitchFamily="34" charset="0"/>
                <a:ea typeface="Open Sans" pitchFamily="34" charset="-122"/>
                <a:cs typeface="Open Sans" pitchFamily="34" charset="-120"/>
              </a:rPr>
              <a:t>Wrong Location:</a:t>
            </a:r>
            <a:r>
              <a:rPr lang="en-US" sz="850" dirty="0">
                <a:solidFill>
                  <a:srgbClr val="2B2E3C"/>
                </a:solidFill>
                <a:latin typeface="Open Sans" pitchFamily="34" charset="0"/>
                <a:ea typeface="Open Sans" pitchFamily="34" charset="-122"/>
                <a:cs typeface="Open Sans" pitchFamily="34" charset="-120"/>
              </a:rPr>
              <a:t> If either the 'from' (</a:t>
            </a:r>
            <a:r>
              <a:rPr lang="en-US" sz="850" dirty="0">
                <a:solidFill>
                  <a:srgbClr val="2B2E3C"/>
                </a:solidFill>
                <a:highlight>
                  <a:srgbClr val="F2EBE3"/>
                </a:highlight>
                <a:latin typeface="Consolas" pitchFamily="34" charset="0"/>
                <a:ea typeface="Consolas" pitchFamily="34" charset="-122"/>
                <a:cs typeface="Consolas" pitchFamily="34" charset="-120"/>
              </a:rPr>
              <a:t>u</a:t>
            </a:r>
            <a:r>
              <a:rPr lang="en-US" sz="850" dirty="0">
                <a:solidFill>
                  <a:srgbClr val="2B2E3C"/>
                </a:solidFill>
                <a:latin typeface="Open Sans" pitchFamily="34" charset="0"/>
                <a:ea typeface="Open Sans" pitchFamily="34" charset="-122"/>
                <a:cs typeface="Open Sans" pitchFamily="34" charset="-120"/>
              </a:rPr>
              <a:t>) or 'to' (</a:t>
            </a:r>
            <a:r>
              <a:rPr lang="en-US" sz="850" dirty="0">
                <a:solidFill>
                  <a:srgbClr val="2B2E3C"/>
                </a:solidFill>
                <a:highlight>
                  <a:srgbClr val="F2EBE3"/>
                </a:highlight>
                <a:latin typeface="Consolas" pitchFamily="34" charset="0"/>
                <a:ea typeface="Consolas" pitchFamily="34" charset="-122"/>
                <a:cs typeface="Consolas" pitchFamily="34" charset="-120"/>
              </a:rPr>
              <a:t>v</a:t>
            </a:r>
            <a:r>
              <a:rPr lang="en-US" sz="850" dirty="0">
                <a:solidFill>
                  <a:srgbClr val="2B2E3C"/>
                </a:solidFill>
                <a:latin typeface="Open Sans" pitchFamily="34" charset="0"/>
                <a:ea typeface="Open Sans" pitchFamily="34" charset="-122"/>
                <a:cs typeface="Open Sans" pitchFamily="34" charset="-120"/>
              </a:rPr>
              <a:t>) location entered by the user does not exist within the network's defined nodes, an error message indicating an invalid location is displayed.</a:t>
            </a:r>
            <a:endParaRPr lang="en-US" sz="850" dirty="0"/>
          </a:p>
        </p:txBody>
      </p:sp>
      <p:sp>
        <p:nvSpPr>
          <p:cNvPr id="27" name="Text 25"/>
          <p:cNvSpPr/>
          <p:nvPr/>
        </p:nvSpPr>
        <p:spPr>
          <a:xfrm>
            <a:off x="396835" y="5392579"/>
            <a:ext cx="6861691" cy="362903"/>
          </a:xfrm>
          <a:prstGeom prst="rect">
            <a:avLst/>
          </a:prstGeom>
          <a:noFill/>
        </p:spPr>
        <p:txBody>
          <a:bodyPr wrap="square" lIns="0" tIns="0" rIns="0" bIns="0" rtlCol="0" anchor="t"/>
          <a:lstStyle/>
          <a:p>
            <a:pPr marL="0" indent="0" algn="l">
              <a:lnSpc>
                <a:spcPts val="1400"/>
              </a:lnSpc>
              <a:buSzPct val="100000"/>
              <a:buNone/>
            </a:pPr>
            <a:r>
              <a:rPr lang="en-US" sz="850" b="1" dirty="0">
                <a:solidFill>
                  <a:srgbClr val="2B2E3C"/>
                </a:solidFill>
                <a:latin typeface="Open Sans" pitchFamily="34" charset="0"/>
                <a:ea typeface="Open Sans" pitchFamily="34" charset="-122"/>
                <a:cs typeface="Open Sans" pitchFamily="34" charset="-120"/>
              </a:rPr>
              <a:t>Road Not Blocked:</a:t>
            </a:r>
            <a:r>
              <a:rPr lang="en-US" sz="850" dirty="0">
                <a:solidFill>
                  <a:srgbClr val="2B2E3C"/>
                </a:solidFill>
                <a:latin typeface="Open Sans" pitchFamily="34" charset="0"/>
                <a:ea typeface="Open Sans" pitchFamily="34" charset="-122"/>
                <a:cs typeface="Open Sans" pitchFamily="34" charset="-120"/>
              </a:rPr>
              <a:t> If the specified road segment exists but is not currently blocked (i.e., its weight is not set to </a:t>
            </a:r>
            <a:r>
              <a:rPr lang="en-US" sz="850" dirty="0">
                <a:solidFill>
                  <a:srgbClr val="2B2E3C"/>
                </a:solidFill>
                <a:highlight>
                  <a:srgbClr val="F2EBE3"/>
                </a:highlight>
                <a:latin typeface="Consolas" pitchFamily="34" charset="0"/>
                <a:ea typeface="Consolas" pitchFamily="34" charset="-122"/>
                <a:cs typeface="Consolas" pitchFamily="34" charset="-120"/>
              </a:rPr>
              <a:t>INF</a:t>
            </a:r>
            <a:r>
              <a:rPr lang="en-US" sz="850" dirty="0">
                <a:solidFill>
                  <a:srgbClr val="2B2E3C"/>
                </a:solidFill>
                <a:latin typeface="Open Sans" pitchFamily="34" charset="0"/>
                <a:ea typeface="Open Sans" pitchFamily="34" charset="-122"/>
                <a:cs typeface="Open Sans" pitchFamily="34" charset="-120"/>
              </a:rPr>
              <a:t>), the system informs the user that the road cannot be unblocked because it was never blocked in the first place.</a:t>
            </a:r>
            <a:endParaRPr lang="en-US" sz="850" dirty="0"/>
          </a:p>
        </p:txBody>
      </p:sp>
      <p:sp>
        <p:nvSpPr>
          <p:cNvPr id="28" name="Shape 26"/>
          <p:cNvSpPr/>
          <p:nvPr/>
        </p:nvSpPr>
        <p:spPr>
          <a:xfrm>
            <a:off x="396835" y="5882997"/>
            <a:ext cx="6861691" cy="1803083"/>
          </a:xfrm>
          <a:prstGeom prst="roundRect">
            <a:avLst>
              <a:gd name="adj" fmla="val 2642"/>
            </a:avLst>
          </a:prstGeom>
          <a:solidFill>
            <a:srgbClr val="F2EBE3"/>
          </a:solidFill>
        </p:spPr>
      </p:sp>
      <p:sp>
        <p:nvSpPr>
          <p:cNvPr id="29" name="Shape 27"/>
          <p:cNvSpPr/>
          <p:nvPr/>
        </p:nvSpPr>
        <p:spPr>
          <a:xfrm>
            <a:off x="391239" y="5882997"/>
            <a:ext cx="6872883" cy="1803083"/>
          </a:xfrm>
          <a:prstGeom prst="roundRect">
            <a:avLst>
              <a:gd name="adj" fmla="val 944"/>
            </a:avLst>
          </a:prstGeom>
          <a:solidFill>
            <a:srgbClr val="F2EBE3"/>
          </a:solidFill>
        </p:spPr>
      </p:sp>
      <p:sp>
        <p:nvSpPr>
          <p:cNvPr id="30" name="Text 28"/>
          <p:cNvSpPr/>
          <p:nvPr/>
        </p:nvSpPr>
        <p:spPr>
          <a:xfrm>
            <a:off x="504587" y="5968008"/>
            <a:ext cx="6646188" cy="1633061"/>
          </a:xfrm>
          <a:prstGeom prst="rect">
            <a:avLst/>
          </a:prstGeom>
          <a:noFill/>
        </p:spPr>
        <p:txBody>
          <a:bodyPr wrap="square" lIns="0" tIns="0" rIns="0" bIns="0" rtlCol="0" anchor="t"/>
          <a:lstStyle/>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 Example of conceptual error handling</a:t>
            </a:r>
            <a:endParaRPr lang="en-US" sz="850" dirty="0"/>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if (!isValidLocation(u) || !isValidLocation(v)) {</a:t>
            </a:r>
            <a:endParaRPr lang="en-US" sz="850" dirty="0"/>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    cout &lt;&lt; "Error: Wrong location." &lt;&lt; endl;</a:t>
            </a:r>
            <a:endParaRPr lang="en-US" sz="850" dirty="0"/>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    return;</a:t>
            </a:r>
            <a:endParaRPr lang="en-US" sz="850" dirty="0"/>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a:t>
            </a:r>
            <a:endParaRPr lang="en-US" sz="850" dirty="0"/>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if (graph[id[u]][id[v]].weight != INF) { // Assuming INF marks a blocked road</a:t>
            </a:r>
            <a:endParaRPr lang="en-US" sz="850" dirty="0"/>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    cout &lt;&lt; "Error: Road not blocked." &lt;&lt; endl;</a:t>
            </a:r>
            <a:endParaRPr lang="en-US" sz="850" dirty="0"/>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    return;</a:t>
            </a:r>
            <a:endParaRPr lang="en-US" sz="850" dirty="0"/>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a:t>
            </a:r>
            <a:endParaRPr lang="en-US" sz="850" dirty="0"/>
          </a:p>
        </p:txBody>
      </p:sp>
      <p:sp>
        <p:nvSpPr>
          <p:cNvPr id="31" name="Text 29"/>
          <p:cNvSpPr/>
          <p:nvPr/>
        </p:nvSpPr>
        <p:spPr>
          <a:xfrm>
            <a:off x="7371874" y="4049435"/>
            <a:ext cx="113348" cy="141684"/>
          </a:xfrm>
          <a:prstGeom prst="rect">
            <a:avLst/>
          </a:prstGeom>
          <a:noFill/>
        </p:spPr>
        <p:txBody>
          <a:bodyPr wrap="none" lIns="0" tIns="0" rIns="0" bIns="0" rtlCol="0" anchor="t"/>
          <a:lstStyle/>
          <a:p>
            <a:pPr marL="0" indent="0" algn="l">
              <a:lnSpc>
                <a:spcPts val="1400"/>
              </a:lnSpc>
              <a:buNone/>
            </a:pPr>
            <a:r>
              <a:rPr lang="en-US" sz="850" dirty="0">
                <a:solidFill>
                  <a:srgbClr val="2B2E3C"/>
                </a:solidFill>
                <a:latin typeface="Bitter Light" pitchFamily="34" charset="0"/>
                <a:ea typeface="Bitter Light" pitchFamily="34" charset="-122"/>
                <a:cs typeface="Bitter Light" pitchFamily="34" charset="-120"/>
              </a:rPr>
              <a:t>04</a:t>
            </a:r>
            <a:endParaRPr lang="en-US" sz="850" dirty="0"/>
          </a:p>
        </p:txBody>
      </p:sp>
      <p:sp>
        <p:nvSpPr>
          <p:cNvPr id="32" name="Shape 30"/>
          <p:cNvSpPr/>
          <p:nvPr/>
        </p:nvSpPr>
        <p:spPr>
          <a:xfrm>
            <a:off x="7371874" y="4226838"/>
            <a:ext cx="6861691" cy="15240"/>
          </a:xfrm>
          <a:prstGeom prst="rect">
            <a:avLst/>
          </a:prstGeom>
          <a:solidFill>
            <a:srgbClr val="D2600F"/>
          </a:solidFill>
        </p:spPr>
      </p:sp>
      <p:sp>
        <p:nvSpPr>
          <p:cNvPr id="33" name="Text 31"/>
          <p:cNvSpPr/>
          <p:nvPr/>
        </p:nvSpPr>
        <p:spPr>
          <a:xfrm>
            <a:off x="7371874" y="4313992"/>
            <a:ext cx="2011561" cy="177165"/>
          </a:xfrm>
          <a:prstGeom prst="rect">
            <a:avLst/>
          </a:prstGeom>
          <a:noFill/>
        </p:spPr>
        <p:txBody>
          <a:bodyPr wrap="none" lIns="0" tIns="0" rIns="0" bIns="0" rtlCol="0" anchor="t"/>
          <a:lstStyle/>
          <a:p>
            <a:pPr marL="0" indent="0" algn="l">
              <a:lnSpc>
                <a:spcPts val="1350"/>
              </a:lnSpc>
              <a:buNone/>
            </a:pPr>
            <a:r>
              <a:rPr lang="en-US" sz="1100" dirty="0">
                <a:solidFill>
                  <a:srgbClr val="2B2E3C"/>
                </a:solidFill>
                <a:latin typeface="Bitter Medium" pitchFamily="34" charset="0"/>
                <a:ea typeface="Bitter Medium" pitchFamily="34" charset="-122"/>
                <a:cs typeface="Bitter Medium" pitchFamily="34" charset="-120"/>
              </a:rPr>
              <a:t>Restoring Original Travel Time</a:t>
            </a:r>
            <a:endParaRPr lang="en-US" sz="1100" dirty="0"/>
          </a:p>
        </p:txBody>
      </p:sp>
      <p:sp>
        <p:nvSpPr>
          <p:cNvPr id="34" name="Text 32"/>
          <p:cNvSpPr/>
          <p:nvPr/>
        </p:nvSpPr>
        <p:spPr>
          <a:xfrm>
            <a:off x="7371874" y="4559141"/>
            <a:ext cx="6861691" cy="544354"/>
          </a:xfrm>
          <a:prstGeom prst="rect">
            <a:avLst/>
          </a:prstGeom>
          <a:noFill/>
        </p:spPr>
        <p:txBody>
          <a:bodyPr wrap="square" lIns="0" tIns="0" rIns="0" bIns="0" rtlCol="0" anchor="t"/>
          <a:lstStyle/>
          <a:p>
            <a:pPr marL="0" indent="0" algn="l">
              <a:lnSpc>
                <a:spcPts val="1400"/>
              </a:lnSpc>
              <a:buNone/>
            </a:pPr>
            <a:r>
              <a:rPr lang="en-US" sz="850" dirty="0">
                <a:solidFill>
                  <a:srgbClr val="2B2E3C"/>
                </a:solidFill>
                <a:latin typeface="Open Sans" pitchFamily="34" charset="0"/>
                <a:ea typeface="Open Sans" pitchFamily="34" charset="-122"/>
                <a:cs typeface="Open Sans" pitchFamily="34" charset="-120"/>
              </a:rPr>
              <a:t>Once the input is validated and the road is confirmed to be blocked, its travel time (weight) is restored to its original value. This effectively unblocks the road. The system retrieves this original time from a lookup structure (e.g., a map named </a:t>
            </a:r>
            <a:r>
              <a:rPr lang="en-US" sz="850" dirty="0">
                <a:solidFill>
                  <a:srgbClr val="2B2E3C"/>
                </a:solidFill>
                <a:highlight>
                  <a:srgbClr val="F2EBE3"/>
                </a:highlight>
                <a:latin typeface="Consolas" pitchFamily="34" charset="0"/>
                <a:ea typeface="Consolas" pitchFamily="34" charset="-122"/>
                <a:cs typeface="Consolas" pitchFamily="34" charset="-120"/>
              </a:rPr>
              <a:t>originalTime</a:t>
            </a:r>
            <a:r>
              <a:rPr lang="en-US" sz="850" dirty="0">
                <a:solidFill>
                  <a:srgbClr val="2B2E3C"/>
                </a:solidFill>
                <a:latin typeface="Open Sans" pitchFamily="34" charset="0"/>
                <a:ea typeface="Open Sans" pitchFamily="34" charset="-122"/>
                <a:cs typeface="Open Sans" pitchFamily="34" charset="-120"/>
              </a:rPr>
              <a:t>) that stores the initial weights of all road segments.</a:t>
            </a:r>
            <a:endParaRPr lang="en-US" sz="850" dirty="0"/>
          </a:p>
        </p:txBody>
      </p:sp>
      <p:sp>
        <p:nvSpPr>
          <p:cNvPr id="35" name="Shape 33"/>
          <p:cNvSpPr/>
          <p:nvPr/>
        </p:nvSpPr>
        <p:spPr>
          <a:xfrm>
            <a:off x="7371874" y="5231011"/>
            <a:ext cx="6861691" cy="714375"/>
          </a:xfrm>
          <a:prstGeom prst="roundRect">
            <a:avLst>
              <a:gd name="adj" fmla="val 6668"/>
            </a:avLst>
          </a:prstGeom>
          <a:solidFill>
            <a:srgbClr val="F2EBE3"/>
          </a:solidFill>
        </p:spPr>
      </p:sp>
      <p:sp>
        <p:nvSpPr>
          <p:cNvPr id="36" name="Shape 34"/>
          <p:cNvSpPr/>
          <p:nvPr/>
        </p:nvSpPr>
        <p:spPr>
          <a:xfrm>
            <a:off x="7366278" y="5231011"/>
            <a:ext cx="6872883" cy="714375"/>
          </a:xfrm>
          <a:prstGeom prst="roundRect">
            <a:avLst>
              <a:gd name="adj" fmla="val 2381"/>
            </a:avLst>
          </a:prstGeom>
          <a:solidFill>
            <a:srgbClr val="F2EBE3"/>
          </a:solidFill>
        </p:spPr>
      </p:sp>
      <p:sp>
        <p:nvSpPr>
          <p:cNvPr id="37" name="Text 35"/>
          <p:cNvSpPr/>
          <p:nvPr/>
        </p:nvSpPr>
        <p:spPr>
          <a:xfrm>
            <a:off x="7479625" y="5316022"/>
            <a:ext cx="6646188" cy="544354"/>
          </a:xfrm>
          <a:prstGeom prst="rect">
            <a:avLst/>
          </a:prstGeom>
          <a:noFill/>
        </p:spPr>
        <p:txBody>
          <a:bodyPr wrap="square" lIns="0" tIns="0" rIns="0" bIns="0" rtlCol="0" anchor="t"/>
          <a:lstStyle/>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 Assuming 'e.second' refers to the weight of the edge (road)</a:t>
            </a:r>
            <a:endParaRPr lang="en-US" sz="850" dirty="0"/>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 and 'originalTime' maps a pair of node IDs to its original weight</a:t>
            </a:r>
            <a:endParaRPr lang="en-US" sz="850" dirty="0"/>
          </a:p>
          <a:p>
            <a:pPr marL="0" indent="0" algn="l">
              <a:lnSpc>
                <a:spcPts val="1400"/>
              </a:lnSpc>
              <a:buNone/>
            </a:pPr>
            <a:r>
              <a:rPr lang="en-US" sz="850" dirty="0">
                <a:solidFill>
                  <a:srgbClr val="2B2E3C"/>
                </a:solidFill>
                <a:highlight>
                  <a:srgbClr val="F2EBE3"/>
                </a:highlight>
                <a:latin typeface="Consolas" pitchFamily="34" charset="0"/>
                <a:ea typeface="Consolas" pitchFamily="34" charset="-122"/>
                <a:cs typeface="Consolas" pitchFamily="34" charset="-120"/>
              </a:rPr>
              <a:t>e.second = originalTime[{id[u],id[v]}]; // 'id' maps location names to their internal IDs</a:t>
            </a:r>
            <a:endParaRPr lang="en-US" sz="850" dirty="0"/>
          </a:p>
        </p:txBody>
      </p:sp>
      <p:sp>
        <p:nvSpPr>
          <p:cNvPr id="38" name="Text 36"/>
          <p:cNvSpPr/>
          <p:nvPr/>
        </p:nvSpPr>
        <p:spPr>
          <a:xfrm>
            <a:off x="7371874" y="6072902"/>
            <a:ext cx="6861691" cy="362903"/>
          </a:xfrm>
          <a:prstGeom prst="rect">
            <a:avLst/>
          </a:prstGeom>
          <a:noFill/>
        </p:spPr>
        <p:txBody>
          <a:bodyPr wrap="square" lIns="0" tIns="0" rIns="0" bIns="0" rtlCol="0" anchor="t"/>
          <a:lstStyle/>
          <a:p>
            <a:pPr marL="0" indent="0" algn="l">
              <a:lnSpc>
                <a:spcPts val="1400"/>
              </a:lnSpc>
              <a:buNone/>
            </a:pPr>
            <a:r>
              <a:rPr lang="en-US" sz="850" dirty="0">
                <a:solidFill>
                  <a:srgbClr val="2B2E3C"/>
                </a:solidFill>
                <a:latin typeface="Open Sans" pitchFamily="34" charset="0"/>
                <a:ea typeface="Open Sans" pitchFamily="34" charset="-122"/>
                <a:cs typeface="Open Sans" pitchFamily="34" charset="-120"/>
              </a:rPr>
              <a:t>It's important to note that the user is not asked to provide the original time; the system automatically restores it using stored data, ensuring consistency and ease of use.</a:t>
            </a:r>
            <a:endParaRPr lang="en-US" sz="850" dirty="0"/>
          </a:p>
        </p:txBody>
      </p:sp>
      <p:pic>
        <p:nvPicPr>
          <p:cNvPr id="39" name="Picture 38"/>
          <p:cNvPicPr>
            <a:picLocks noChangeAspect="1"/>
          </p:cNvPicPr>
          <p:nvPr/>
        </p:nvPicPr>
        <p:blipFill>
          <a:blip r:embed="rId1"/>
          <a:stretch>
            <a:fillRect/>
          </a:stretch>
        </p:blipFill>
        <p:spPr>
          <a:xfrm>
            <a:off x="12125325" y="7762875"/>
            <a:ext cx="2505075" cy="4667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2075498"/>
            <a:ext cx="6095048" cy="708779"/>
          </a:xfrm>
          <a:prstGeom prst="rect">
            <a:avLst/>
          </a:prstGeom>
          <a:noFill/>
        </p:spPr>
        <p:txBody>
          <a:bodyPr wrap="none" lIns="0" tIns="0" rIns="0" bIns="0" rtlCol="0" anchor="t"/>
          <a:lstStyle/>
          <a:p>
            <a:pPr marL="0" indent="0" algn="l">
              <a:lnSpc>
                <a:spcPts val="5550"/>
              </a:lnSpc>
              <a:buNone/>
            </a:pPr>
            <a:r>
              <a:rPr lang="en-US" sz="4450" dirty="0">
                <a:solidFill>
                  <a:srgbClr val="2C3F42"/>
                </a:solidFill>
                <a:latin typeface="Bitter Medium" pitchFamily="34" charset="0"/>
                <a:ea typeface="Bitter Medium" pitchFamily="34" charset="-122"/>
                <a:cs typeface="Bitter Medium" pitchFamily="34" charset="-120"/>
              </a:rPr>
              <a:t>Unblock a Road - Part 2</a:t>
            </a:r>
            <a:endParaRPr lang="en-US" sz="4450" dirty="0"/>
          </a:p>
        </p:txBody>
      </p:sp>
      <p:sp>
        <p:nvSpPr>
          <p:cNvPr id="3" name="Text 1"/>
          <p:cNvSpPr/>
          <p:nvPr/>
        </p:nvSpPr>
        <p:spPr>
          <a:xfrm>
            <a:off x="793790" y="3351252"/>
            <a:ext cx="3933349" cy="708660"/>
          </a:xfrm>
          <a:prstGeom prst="rect">
            <a:avLst/>
          </a:prstGeom>
          <a:noFill/>
        </p:spPr>
        <p:txBody>
          <a:bodyPr wrap="square" lIns="0" tIns="0" rIns="0" bIns="0" rtlCol="0" anchor="t"/>
          <a:lstStyle/>
          <a:p>
            <a:pPr marL="0" indent="0" algn="l">
              <a:lnSpc>
                <a:spcPts val="2750"/>
              </a:lnSpc>
              <a:buNone/>
            </a:pPr>
            <a:r>
              <a:rPr lang="en-US" sz="2200" dirty="0">
                <a:solidFill>
                  <a:srgbClr val="2C3F42"/>
                </a:solidFill>
                <a:latin typeface="Bitter Medium" pitchFamily="34" charset="0"/>
                <a:ea typeface="Bitter Medium" pitchFamily="34" charset="-122"/>
                <a:cs typeface="Bitter Medium" pitchFamily="34" charset="-120"/>
              </a:rPr>
              <a:t>Step 5: Restore Original Travel Time</a:t>
            </a:r>
            <a:endParaRPr lang="en-US" sz="2200" dirty="0"/>
          </a:p>
        </p:txBody>
      </p:sp>
      <p:sp>
        <p:nvSpPr>
          <p:cNvPr id="4" name="Text 2"/>
          <p:cNvSpPr/>
          <p:nvPr/>
        </p:nvSpPr>
        <p:spPr>
          <a:xfrm>
            <a:off x="793790" y="4286726"/>
            <a:ext cx="3933349" cy="1451610"/>
          </a:xfrm>
          <a:prstGeom prst="rect">
            <a:avLst/>
          </a:prstGeom>
          <a:noFill/>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The system automatically restores the road segment's original travel time (weight) using stored data, without requiring user input.</a:t>
            </a:r>
            <a:endParaRPr lang="en-US" sz="1750" dirty="0"/>
          </a:p>
        </p:txBody>
      </p:sp>
      <p:sp>
        <p:nvSpPr>
          <p:cNvPr id="5" name="Text 3"/>
          <p:cNvSpPr/>
          <p:nvPr/>
        </p:nvSpPr>
        <p:spPr>
          <a:xfrm>
            <a:off x="5288161" y="3351252"/>
            <a:ext cx="3933349" cy="708660"/>
          </a:xfrm>
          <a:prstGeom prst="rect">
            <a:avLst/>
          </a:prstGeom>
          <a:noFill/>
        </p:spPr>
        <p:txBody>
          <a:bodyPr wrap="square" lIns="0" tIns="0" rIns="0" bIns="0" rtlCol="0" anchor="t"/>
          <a:lstStyle/>
          <a:p>
            <a:pPr marL="0" indent="0" algn="l">
              <a:lnSpc>
                <a:spcPts val="2750"/>
              </a:lnSpc>
              <a:buNone/>
            </a:pPr>
            <a:r>
              <a:rPr lang="en-US" sz="2200" dirty="0">
                <a:solidFill>
                  <a:srgbClr val="2C3F42"/>
                </a:solidFill>
                <a:latin typeface="Bitter Medium" pitchFamily="34" charset="0"/>
                <a:ea typeface="Bitter Medium" pitchFamily="34" charset="-122"/>
                <a:cs typeface="Bitter Medium" pitchFamily="34" charset="-120"/>
              </a:rPr>
              <a:t>Step 6: Ensure Bidirectional Unblocking</a:t>
            </a:r>
            <a:endParaRPr lang="en-US" sz="2200" dirty="0"/>
          </a:p>
        </p:txBody>
      </p:sp>
      <p:sp>
        <p:nvSpPr>
          <p:cNvPr id="6" name="Text 4"/>
          <p:cNvSpPr/>
          <p:nvPr/>
        </p:nvSpPr>
        <p:spPr>
          <a:xfrm>
            <a:off x="5288161" y="4286726"/>
            <a:ext cx="3933349" cy="1451610"/>
          </a:xfrm>
          <a:prstGeom prst="rect">
            <a:avLst/>
          </a:prstGeom>
          <a:noFill/>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The road segment is unblocked in both directions (from 'u' to 'v' and 'v' to 'u') to maintain network consistency.</a:t>
            </a:r>
            <a:endParaRPr lang="en-US" sz="1750" dirty="0"/>
          </a:p>
        </p:txBody>
      </p:sp>
      <p:sp>
        <p:nvSpPr>
          <p:cNvPr id="7" name="Text 5"/>
          <p:cNvSpPr/>
          <p:nvPr/>
        </p:nvSpPr>
        <p:spPr>
          <a:xfrm>
            <a:off x="9782532" y="3351252"/>
            <a:ext cx="4069199" cy="708660"/>
          </a:xfrm>
          <a:prstGeom prst="rect">
            <a:avLst/>
          </a:prstGeom>
          <a:noFill/>
        </p:spPr>
        <p:txBody>
          <a:bodyPr wrap="square" lIns="0" tIns="0" rIns="0" bIns="0" rtlCol="0" anchor="t"/>
          <a:lstStyle/>
          <a:p>
            <a:pPr marL="0" indent="0" algn="l">
              <a:lnSpc>
                <a:spcPts val="2750"/>
              </a:lnSpc>
              <a:buNone/>
            </a:pPr>
            <a:r>
              <a:rPr lang="en-US" sz="2200" dirty="0">
                <a:solidFill>
                  <a:srgbClr val="2C3F42"/>
                </a:solidFill>
                <a:latin typeface="Bitter Medium" pitchFamily="34" charset="0"/>
                <a:ea typeface="Bitter Medium" pitchFamily="34" charset="-122"/>
                <a:cs typeface="Bitter Medium" pitchFamily="34" charset="-120"/>
              </a:rPr>
              <a:t>Step 7: Confirm Successful Unblock</a:t>
            </a:r>
            <a:endParaRPr lang="en-US" sz="2200" dirty="0"/>
          </a:p>
        </p:txBody>
      </p:sp>
      <p:sp>
        <p:nvSpPr>
          <p:cNvPr id="8" name="Text 6"/>
          <p:cNvSpPr/>
          <p:nvPr/>
        </p:nvSpPr>
        <p:spPr>
          <a:xfrm>
            <a:off x="9782532" y="4286726"/>
            <a:ext cx="4069199" cy="725805"/>
          </a:xfrm>
          <a:prstGeom prst="rect">
            <a:avLst/>
          </a:prstGeom>
          <a:noFill/>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A confirmation message </a:t>
            </a:r>
            <a:r>
              <a:rPr lang="en-US" sz="1750" dirty="0">
                <a:solidFill>
                  <a:srgbClr val="2B2E3C"/>
                </a:solidFill>
                <a:highlight>
                  <a:srgbClr val="F2EBE3"/>
                </a:highlight>
                <a:latin typeface="Consolas" pitchFamily="34" charset="0"/>
                <a:ea typeface="Consolas" pitchFamily="34" charset="-122"/>
                <a:cs typeface="Consolas" pitchFamily="34" charset="-120"/>
              </a:rPr>
              <a:t>"Road unblocked."</a:t>
            </a:r>
            <a:r>
              <a:rPr lang="en-US" sz="1750" dirty="0">
                <a:solidFill>
                  <a:srgbClr val="2B2E3C"/>
                </a:solidFill>
                <a:latin typeface="Open Sans" pitchFamily="34" charset="0"/>
                <a:ea typeface="Open Sans" pitchFamily="34" charset="-122"/>
                <a:cs typeface="Open Sans" pitchFamily="34" charset="-120"/>
              </a:rPr>
              <a:t> is displayed to the user.</a:t>
            </a:r>
            <a:endParaRPr lang="en-US" sz="1750" dirty="0"/>
          </a:p>
        </p:txBody>
      </p:sp>
      <p:sp>
        <p:nvSpPr>
          <p:cNvPr id="9" name="Text 7"/>
          <p:cNvSpPr/>
          <p:nvPr/>
        </p:nvSpPr>
        <p:spPr>
          <a:xfrm>
            <a:off x="9782532" y="5216604"/>
            <a:ext cx="4069199" cy="733425"/>
          </a:xfrm>
          <a:prstGeom prst="rect">
            <a:avLst/>
          </a:prstGeom>
          <a:noFill/>
        </p:spPr>
        <p:txBody>
          <a:bodyPr wrap="square" lIns="0" tIns="0" rIns="0" bIns="0" rtlCol="0" anchor="t"/>
          <a:lstStyle/>
          <a:p>
            <a:pPr marL="0" indent="0" algn="l">
              <a:lnSpc>
                <a:spcPts val="2850"/>
              </a:lnSpc>
              <a:buNone/>
            </a:pPr>
            <a:r>
              <a:rPr lang="en-US" sz="1750" dirty="0">
                <a:solidFill>
                  <a:srgbClr val="000000"/>
                </a:solidFill>
                <a:latin typeface="Open Sans" pitchFamily="34" charset="0"/>
                <a:ea typeface="Open Sans" pitchFamily="34" charset="-122"/>
                <a:cs typeface="Open Sans" pitchFamily="34" charset="-120"/>
              </a:rPr>
              <a:t>📌</a:t>
            </a:r>
            <a:r>
              <a:rPr lang="en-US" sz="1750" b="1" dirty="0">
                <a:solidFill>
                  <a:srgbClr val="2B2E3C"/>
                </a:solidFill>
                <a:latin typeface="Open Sans" pitchFamily="34" charset="0"/>
                <a:ea typeface="Open Sans" pitchFamily="34" charset="-122"/>
                <a:cs typeface="Open Sans" pitchFamily="34" charset="-120"/>
              </a:rPr>
              <a:t> Real-life meaning:</a:t>
            </a:r>
            <a:r>
              <a:rPr lang="en-US" sz="1750" dirty="0">
                <a:solidFill>
                  <a:srgbClr val="2B2E3C"/>
                </a:solidFill>
                <a:latin typeface="Open Sans" pitchFamily="34" charset="0"/>
                <a:ea typeface="Open Sans" pitchFamily="34" charset="-122"/>
                <a:cs typeface="Open Sans" pitchFamily="34" charset="-120"/>
              </a:rPr>
              <a:t> Traffic cleared, road reopened.</a:t>
            </a:r>
            <a:endParaRPr lang="en-US" sz="1750" dirty="0"/>
          </a:p>
        </p:txBody>
      </p:sp>
      <p:pic>
        <p:nvPicPr>
          <p:cNvPr id="10" name="Picture 9"/>
          <p:cNvPicPr>
            <a:picLocks noChangeAspect="1"/>
          </p:cNvPicPr>
          <p:nvPr/>
        </p:nvPicPr>
        <p:blipFill>
          <a:blip r:embed="rId1"/>
          <a:stretch>
            <a:fillRect/>
          </a:stretch>
        </p:blipFill>
        <p:spPr>
          <a:xfrm>
            <a:off x="12125325" y="7762875"/>
            <a:ext cx="2505075" cy="46672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52926" y="434459"/>
            <a:ext cx="3949898" cy="493752"/>
          </a:xfrm>
          <a:prstGeom prst="rect">
            <a:avLst/>
          </a:prstGeom>
          <a:noFill/>
        </p:spPr>
        <p:txBody>
          <a:bodyPr wrap="none" lIns="0" tIns="0" rIns="0" bIns="0" rtlCol="0" anchor="t"/>
          <a:lstStyle/>
          <a:p>
            <a:pPr marL="0" indent="0" algn="l">
              <a:lnSpc>
                <a:spcPts val="3850"/>
              </a:lnSpc>
              <a:buNone/>
            </a:pPr>
            <a:r>
              <a:rPr lang="en-US" sz="3100" dirty="0">
                <a:solidFill>
                  <a:srgbClr val="2C3F42"/>
                </a:solidFill>
                <a:latin typeface="Bitter Medium" pitchFamily="34" charset="0"/>
                <a:ea typeface="Bitter Medium" pitchFamily="34" charset="-122"/>
                <a:cs typeface="Bitter Medium" pitchFamily="34" charset="-120"/>
              </a:rPr>
              <a:t>BFS Traversal - Part 1</a:t>
            </a:r>
            <a:endParaRPr lang="en-US" sz="3100" dirty="0"/>
          </a:p>
        </p:txBody>
      </p:sp>
      <p:sp>
        <p:nvSpPr>
          <p:cNvPr id="3" name="Text 1"/>
          <p:cNvSpPr/>
          <p:nvPr/>
        </p:nvSpPr>
        <p:spPr>
          <a:xfrm>
            <a:off x="552926" y="991314"/>
            <a:ext cx="1974890" cy="246817"/>
          </a:xfrm>
          <a:prstGeom prst="rect">
            <a:avLst/>
          </a:prstGeom>
          <a:noFill/>
        </p:spPr>
        <p:txBody>
          <a:bodyPr wrap="none" lIns="0" tIns="0" rIns="0" bIns="0" rtlCol="0" anchor="t"/>
          <a:lstStyle/>
          <a:p>
            <a:pPr marL="0" indent="0" algn="l">
              <a:lnSpc>
                <a:spcPts val="1900"/>
              </a:lnSpc>
              <a:buNone/>
            </a:pPr>
            <a:r>
              <a:rPr lang="en-US" sz="1550" dirty="0">
                <a:solidFill>
                  <a:srgbClr val="2C3F42"/>
                </a:solidFill>
                <a:latin typeface="Bitter Medium" pitchFamily="34" charset="0"/>
                <a:ea typeface="Bitter Medium" pitchFamily="34" charset="-122"/>
                <a:cs typeface="Bitter Medium" pitchFamily="34" charset="-120"/>
              </a:rPr>
              <a:t>What BFS Does</a:t>
            </a:r>
            <a:endParaRPr lang="en-US" sz="1550" dirty="0"/>
          </a:p>
        </p:txBody>
      </p:sp>
      <p:sp>
        <p:nvSpPr>
          <p:cNvPr id="4" name="Text 2"/>
          <p:cNvSpPr/>
          <p:nvPr/>
        </p:nvSpPr>
        <p:spPr>
          <a:xfrm>
            <a:off x="552926" y="1475065"/>
            <a:ext cx="13524548" cy="505539"/>
          </a:xfrm>
          <a:prstGeom prst="rect">
            <a:avLst/>
          </a:prstGeom>
          <a:noFill/>
        </p:spPr>
        <p:txBody>
          <a:bodyPr wrap="square" lIns="0" tIns="0" rIns="0" bIns="0" rtlCol="0" anchor="t"/>
          <a:lstStyle/>
          <a:p>
            <a:pPr marL="0" indent="0" algn="l">
              <a:lnSpc>
                <a:spcPts val="1950"/>
              </a:lnSpc>
              <a:buNone/>
            </a:pPr>
            <a:r>
              <a:rPr lang="en-US" sz="1200" dirty="0">
                <a:solidFill>
                  <a:srgbClr val="2B2E3C"/>
                </a:solidFill>
                <a:latin typeface="Open Sans" pitchFamily="34" charset="0"/>
                <a:ea typeface="Open Sans" pitchFamily="34" charset="-122"/>
                <a:cs typeface="Open Sans" pitchFamily="34" charset="-120"/>
              </a:rPr>
              <a:t>BFS (Breadth-First Search) traverses a graph level by level, exploring all neighbor nodes at the current depth before moving to the next depth level. It is commonly used for testing unweighted traversal, finding the shortest path in an unweighted graph, or determining reachability within a network.</a:t>
            </a:r>
            <a:endParaRPr lang="en-US" sz="1200" dirty="0"/>
          </a:p>
        </p:txBody>
      </p:sp>
      <p:sp>
        <p:nvSpPr>
          <p:cNvPr id="5" name="Text 3"/>
          <p:cNvSpPr/>
          <p:nvPr/>
        </p:nvSpPr>
        <p:spPr>
          <a:xfrm>
            <a:off x="552926" y="2217539"/>
            <a:ext cx="1974890" cy="246817"/>
          </a:xfrm>
          <a:prstGeom prst="rect">
            <a:avLst/>
          </a:prstGeom>
          <a:noFill/>
        </p:spPr>
        <p:txBody>
          <a:bodyPr wrap="none" lIns="0" tIns="0" rIns="0" bIns="0" rtlCol="0" anchor="t"/>
          <a:lstStyle/>
          <a:p>
            <a:pPr marL="0" indent="0" algn="l">
              <a:lnSpc>
                <a:spcPts val="1900"/>
              </a:lnSpc>
              <a:buNone/>
            </a:pPr>
            <a:r>
              <a:rPr lang="en-US" sz="1550" dirty="0">
                <a:solidFill>
                  <a:srgbClr val="2C3F42"/>
                </a:solidFill>
                <a:latin typeface="Bitter Medium" pitchFamily="34" charset="0"/>
                <a:ea typeface="Bitter Medium" pitchFamily="34" charset="-122"/>
                <a:cs typeface="Bitter Medium" pitchFamily="34" charset="-120"/>
              </a:rPr>
              <a:t>Key Characteristics</a:t>
            </a:r>
            <a:endParaRPr lang="en-US" sz="1550" dirty="0"/>
          </a:p>
        </p:txBody>
      </p:sp>
      <p:sp>
        <p:nvSpPr>
          <p:cNvPr id="6" name="Text 4"/>
          <p:cNvSpPr/>
          <p:nvPr/>
        </p:nvSpPr>
        <p:spPr>
          <a:xfrm>
            <a:off x="552926" y="2701290"/>
            <a:ext cx="13524548" cy="252770"/>
          </a:xfrm>
          <a:prstGeom prst="rect">
            <a:avLst/>
          </a:prstGeom>
          <a:noFill/>
        </p:spPr>
        <p:txBody>
          <a:bodyPr wrap="none" lIns="0" tIns="0" rIns="0" bIns="0" rtlCol="0" anchor="t"/>
          <a:lstStyle/>
          <a:p>
            <a:pPr marL="342900" indent="-342900" algn="l">
              <a:lnSpc>
                <a:spcPts val="1950"/>
              </a:lnSpc>
              <a:buSzPct val="100000"/>
              <a:buChar char="•"/>
            </a:pPr>
            <a:r>
              <a:rPr lang="en-US" sz="1200" dirty="0">
                <a:solidFill>
                  <a:srgbClr val="2B2E3C"/>
                </a:solidFill>
                <a:latin typeface="Open Sans" pitchFamily="34" charset="0"/>
                <a:ea typeface="Open Sans" pitchFamily="34" charset="-122"/>
                <a:cs typeface="Open Sans" pitchFamily="34" charset="-120"/>
              </a:rPr>
              <a:t>Utilizes a queue data structure to manage the order of nodes to visit, ensuring breadth-first exploration.</a:t>
            </a:r>
            <a:endParaRPr lang="en-US" sz="1200" dirty="0"/>
          </a:p>
        </p:txBody>
      </p:sp>
      <p:sp>
        <p:nvSpPr>
          <p:cNvPr id="7" name="Text 5"/>
          <p:cNvSpPr/>
          <p:nvPr/>
        </p:nvSpPr>
        <p:spPr>
          <a:xfrm>
            <a:off x="552926" y="3009305"/>
            <a:ext cx="13524548" cy="252770"/>
          </a:xfrm>
          <a:prstGeom prst="rect">
            <a:avLst/>
          </a:prstGeom>
          <a:noFill/>
        </p:spPr>
        <p:txBody>
          <a:bodyPr wrap="none" lIns="0" tIns="0" rIns="0" bIns="0" rtlCol="0" anchor="t"/>
          <a:lstStyle/>
          <a:p>
            <a:pPr marL="342900" indent="-342900" algn="l">
              <a:lnSpc>
                <a:spcPts val="1950"/>
              </a:lnSpc>
              <a:buSzPct val="100000"/>
              <a:buChar char="•"/>
            </a:pPr>
            <a:r>
              <a:rPr lang="en-US" sz="1200" dirty="0">
                <a:solidFill>
                  <a:srgbClr val="2B2E3C"/>
                </a:solidFill>
                <a:latin typeface="Open Sans" pitchFamily="34" charset="0"/>
                <a:ea typeface="Open Sans" pitchFamily="34" charset="-122"/>
                <a:cs typeface="Open Sans" pitchFamily="34" charset="-120"/>
              </a:rPr>
              <a:t>The traversal begins from a specified starting node (e.g., "saddar").</a:t>
            </a:r>
            <a:endParaRPr lang="en-US" sz="1200" dirty="0"/>
          </a:p>
        </p:txBody>
      </p:sp>
      <p:sp>
        <p:nvSpPr>
          <p:cNvPr id="8" name="Text 6"/>
          <p:cNvSpPr/>
          <p:nvPr/>
        </p:nvSpPr>
        <p:spPr>
          <a:xfrm>
            <a:off x="552926" y="3317319"/>
            <a:ext cx="13524548" cy="252770"/>
          </a:xfrm>
          <a:prstGeom prst="rect">
            <a:avLst/>
          </a:prstGeom>
          <a:noFill/>
        </p:spPr>
        <p:txBody>
          <a:bodyPr wrap="none" lIns="0" tIns="0" rIns="0" bIns="0" rtlCol="0" anchor="t"/>
          <a:lstStyle/>
          <a:p>
            <a:pPr marL="342900" indent="-342900" algn="l">
              <a:lnSpc>
                <a:spcPts val="1950"/>
              </a:lnSpc>
              <a:buSzPct val="100000"/>
              <a:buChar char="•"/>
            </a:pPr>
            <a:r>
              <a:rPr lang="en-US" sz="1200" dirty="0">
                <a:solidFill>
                  <a:srgbClr val="2B2E3C"/>
                </a:solidFill>
                <a:latin typeface="Open Sans" pitchFamily="34" charset="0"/>
                <a:ea typeface="Open Sans" pitchFamily="34" charset="-122"/>
                <a:cs typeface="Open Sans" pitchFamily="34" charset="-120"/>
              </a:rPr>
              <a:t>Visited nodes are typically marked and printed to track the traversal path.</a:t>
            </a:r>
            <a:endParaRPr lang="en-US" sz="1200" dirty="0"/>
          </a:p>
        </p:txBody>
      </p:sp>
      <p:sp>
        <p:nvSpPr>
          <p:cNvPr id="9" name="Text 7"/>
          <p:cNvSpPr/>
          <p:nvPr/>
        </p:nvSpPr>
        <p:spPr>
          <a:xfrm>
            <a:off x="552926" y="3807023"/>
            <a:ext cx="2345412" cy="246817"/>
          </a:xfrm>
          <a:prstGeom prst="rect">
            <a:avLst/>
          </a:prstGeom>
          <a:noFill/>
        </p:spPr>
        <p:txBody>
          <a:bodyPr wrap="none" lIns="0" tIns="0" rIns="0" bIns="0" rtlCol="0" anchor="t"/>
          <a:lstStyle/>
          <a:p>
            <a:pPr marL="0" indent="0" algn="l">
              <a:lnSpc>
                <a:spcPts val="1900"/>
              </a:lnSpc>
              <a:buNone/>
            </a:pPr>
            <a:r>
              <a:rPr lang="en-US" sz="1550" dirty="0">
                <a:solidFill>
                  <a:srgbClr val="2C3F42"/>
                </a:solidFill>
                <a:latin typeface="Bitter Medium" pitchFamily="34" charset="0"/>
                <a:ea typeface="Bitter Medium" pitchFamily="34" charset="-122"/>
                <a:cs typeface="Bitter Medium" pitchFamily="34" charset="-120"/>
              </a:rPr>
              <a:t>Code Logic (Initialization)</a:t>
            </a:r>
            <a:endParaRPr lang="en-US" sz="1550" dirty="0"/>
          </a:p>
        </p:txBody>
      </p:sp>
      <p:sp>
        <p:nvSpPr>
          <p:cNvPr id="10" name="Shape 8"/>
          <p:cNvSpPr/>
          <p:nvPr/>
        </p:nvSpPr>
        <p:spPr>
          <a:xfrm>
            <a:off x="552926" y="4290774"/>
            <a:ext cx="13524548" cy="995243"/>
          </a:xfrm>
          <a:prstGeom prst="roundRect">
            <a:avLst>
              <a:gd name="adj" fmla="val 6668"/>
            </a:avLst>
          </a:prstGeom>
          <a:solidFill>
            <a:srgbClr val="F2EBE3"/>
          </a:solidFill>
        </p:spPr>
      </p:sp>
      <p:sp>
        <p:nvSpPr>
          <p:cNvPr id="11" name="Shape 9"/>
          <p:cNvSpPr/>
          <p:nvPr/>
        </p:nvSpPr>
        <p:spPr>
          <a:xfrm>
            <a:off x="545068" y="4290774"/>
            <a:ext cx="13540264" cy="995243"/>
          </a:xfrm>
          <a:prstGeom prst="roundRect">
            <a:avLst>
              <a:gd name="adj" fmla="val 2381"/>
            </a:avLst>
          </a:prstGeom>
          <a:solidFill>
            <a:srgbClr val="F2EBE3"/>
          </a:solidFill>
        </p:spPr>
      </p:sp>
      <p:sp>
        <p:nvSpPr>
          <p:cNvPr id="12" name="Text 10"/>
          <p:cNvSpPr/>
          <p:nvPr/>
        </p:nvSpPr>
        <p:spPr>
          <a:xfrm>
            <a:off x="703064" y="4409242"/>
            <a:ext cx="13224272" cy="758309"/>
          </a:xfrm>
          <a:prstGeom prst="rect">
            <a:avLst/>
          </a:prstGeom>
          <a:noFill/>
        </p:spPr>
        <p:txBody>
          <a:bodyPr wrap="square" lIns="0" tIns="0" rIns="0" bIns="0" rtlCol="0" anchor="t"/>
          <a:lstStyle/>
          <a:p>
            <a:pPr marL="0" indent="0" algn="l">
              <a:lnSpc>
                <a:spcPts val="1950"/>
              </a:lnSpc>
              <a:buNone/>
            </a:pPr>
            <a:r>
              <a:rPr lang="en-US" sz="1200" dirty="0">
                <a:solidFill>
                  <a:srgbClr val="2B2E3C"/>
                </a:solidFill>
                <a:highlight>
                  <a:srgbClr val="F2EBE3"/>
                </a:highlight>
                <a:latin typeface="Consolas" pitchFamily="34" charset="0"/>
                <a:ea typeface="Consolas" pitchFamily="34" charset="-122"/>
                <a:cs typeface="Consolas" pitchFamily="34" charset="-120"/>
              </a:rPr>
              <a:t>queue&lt;int&gt; q;</a:t>
            </a:r>
            <a:endParaRPr lang="en-US" sz="1200" dirty="0"/>
          </a:p>
          <a:p>
            <a:pPr marL="0" indent="0" algn="l">
              <a:lnSpc>
                <a:spcPts val="1950"/>
              </a:lnSpc>
              <a:buNone/>
            </a:pPr>
            <a:r>
              <a:rPr lang="en-US" sz="1200" dirty="0">
                <a:solidFill>
                  <a:srgbClr val="2B2E3C"/>
                </a:solidFill>
                <a:highlight>
                  <a:srgbClr val="F2EBE3"/>
                </a:highlight>
                <a:latin typeface="Consolas" pitchFamily="34" charset="0"/>
                <a:ea typeface="Consolas" pitchFamily="34" charset="-122"/>
                <a:cs typeface="Consolas" pitchFamily="34" charset="-120"/>
              </a:rPr>
              <a:t>visited[start] = true;</a:t>
            </a:r>
            <a:endParaRPr lang="en-US" sz="1200" dirty="0"/>
          </a:p>
          <a:p>
            <a:pPr marL="0" indent="0" algn="l">
              <a:lnSpc>
                <a:spcPts val="1950"/>
              </a:lnSpc>
              <a:buNone/>
            </a:pPr>
            <a:r>
              <a:rPr lang="en-US" sz="1200" dirty="0">
                <a:solidFill>
                  <a:srgbClr val="2B2E3C"/>
                </a:solidFill>
                <a:highlight>
                  <a:srgbClr val="F2EBE3"/>
                </a:highlight>
                <a:latin typeface="Consolas" pitchFamily="34" charset="0"/>
                <a:ea typeface="Consolas" pitchFamily="34" charset="-122"/>
                <a:cs typeface="Consolas" pitchFamily="34" charset="-120"/>
              </a:rPr>
              <a:t>q.push(start);</a:t>
            </a:r>
            <a:endParaRPr lang="en-US" sz="1200" dirty="0"/>
          </a:p>
        </p:txBody>
      </p:sp>
      <p:sp>
        <p:nvSpPr>
          <p:cNvPr id="13" name="Text 11"/>
          <p:cNvSpPr/>
          <p:nvPr/>
        </p:nvSpPr>
        <p:spPr>
          <a:xfrm>
            <a:off x="552926" y="5522952"/>
            <a:ext cx="1974890" cy="246817"/>
          </a:xfrm>
          <a:prstGeom prst="rect">
            <a:avLst/>
          </a:prstGeom>
          <a:noFill/>
        </p:spPr>
        <p:txBody>
          <a:bodyPr wrap="none" lIns="0" tIns="0" rIns="0" bIns="0" rtlCol="0" anchor="t"/>
          <a:lstStyle/>
          <a:p>
            <a:pPr marL="0" indent="0" algn="l">
              <a:lnSpc>
                <a:spcPts val="1900"/>
              </a:lnSpc>
              <a:buNone/>
            </a:pPr>
            <a:r>
              <a:rPr lang="en-US" sz="1550" dirty="0">
                <a:solidFill>
                  <a:srgbClr val="2C3F42"/>
                </a:solidFill>
                <a:latin typeface="Bitter Medium" pitchFamily="34" charset="0"/>
                <a:ea typeface="Bitter Medium" pitchFamily="34" charset="-122"/>
                <a:cs typeface="Bitter Medium" pitchFamily="34" charset="-120"/>
              </a:rPr>
              <a:t>Output Example</a:t>
            </a:r>
            <a:endParaRPr lang="en-US" sz="1550" dirty="0"/>
          </a:p>
        </p:txBody>
      </p:sp>
      <p:sp>
        <p:nvSpPr>
          <p:cNvPr id="14" name="Text 12"/>
          <p:cNvSpPr/>
          <p:nvPr/>
        </p:nvSpPr>
        <p:spPr>
          <a:xfrm>
            <a:off x="552926" y="6006703"/>
            <a:ext cx="13524548" cy="252770"/>
          </a:xfrm>
          <a:prstGeom prst="rect">
            <a:avLst/>
          </a:prstGeom>
          <a:noFill/>
        </p:spPr>
        <p:txBody>
          <a:bodyPr wrap="none" lIns="0" tIns="0" rIns="0" bIns="0" rtlCol="0" anchor="t"/>
          <a:lstStyle/>
          <a:p>
            <a:pPr marL="0" indent="0" algn="l">
              <a:lnSpc>
                <a:spcPts val="1950"/>
              </a:lnSpc>
              <a:buNone/>
            </a:pPr>
            <a:r>
              <a:rPr lang="en-US" sz="1200" dirty="0">
                <a:solidFill>
                  <a:srgbClr val="2B2E3C"/>
                </a:solidFill>
                <a:latin typeface="Open Sans" pitchFamily="34" charset="0"/>
                <a:ea typeface="Open Sans" pitchFamily="34" charset="-122"/>
                <a:cs typeface="Open Sans" pitchFamily="34" charset="-120"/>
              </a:rPr>
              <a:t>A typical output showing the traversal order might look like this:</a:t>
            </a:r>
            <a:endParaRPr lang="en-US" sz="1200" dirty="0"/>
          </a:p>
        </p:txBody>
      </p:sp>
      <p:sp>
        <p:nvSpPr>
          <p:cNvPr id="15" name="Text 13"/>
          <p:cNvSpPr/>
          <p:nvPr/>
        </p:nvSpPr>
        <p:spPr>
          <a:xfrm>
            <a:off x="552926" y="6437114"/>
            <a:ext cx="13524548" cy="252770"/>
          </a:xfrm>
          <a:prstGeom prst="rect">
            <a:avLst/>
          </a:prstGeom>
          <a:noFill/>
        </p:spPr>
        <p:txBody>
          <a:bodyPr wrap="none" lIns="0" tIns="0" rIns="0" bIns="0" rtlCol="0" anchor="t"/>
          <a:lstStyle/>
          <a:p>
            <a:pPr marL="0" indent="0" algn="l">
              <a:lnSpc>
                <a:spcPts val="1950"/>
              </a:lnSpc>
              <a:buNone/>
            </a:pPr>
            <a:r>
              <a:rPr lang="en-US" sz="1200" dirty="0">
                <a:solidFill>
                  <a:srgbClr val="2B2E3C"/>
                </a:solidFill>
                <a:latin typeface="Open Sans" pitchFamily="34" charset="0"/>
                <a:ea typeface="Open Sans" pitchFamily="34" charset="-122"/>
                <a:cs typeface="Open Sans" pitchFamily="34" charset="-120"/>
              </a:rPr>
              <a:t>"BFS Traversal: saddar isb streetfood 6throad scheme3"</a:t>
            </a:r>
            <a:endParaRPr lang="en-US" sz="1200" dirty="0"/>
          </a:p>
        </p:txBody>
      </p:sp>
      <p:sp>
        <p:nvSpPr>
          <p:cNvPr id="16" name="Shape 14"/>
          <p:cNvSpPr/>
          <p:nvPr/>
        </p:nvSpPr>
        <p:spPr>
          <a:xfrm>
            <a:off x="552926" y="6867525"/>
            <a:ext cx="13524548" cy="931664"/>
          </a:xfrm>
          <a:prstGeom prst="roundRect">
            <a:avLst>
              <a:gd name="adj" fmla="val 7123"/>
            </a:avLst>
          </a:prstGeom>
          <a:solidFill>
            <a:srgbClr val="FAD3B8"/>
          </a:solidFill>
        </p:spPr>
      </p:sp>
      <p:pic>
        <p:nvPicPr>
          <p:cNvPr id="17" name="Image 0" descr="preencoded.png"/>
          <p:cNvPicPr>
            <a:picLocks noChangeAspect="1"/>
          </p:cNvPicPr>
          <p:nvPr/>
        </p:nvPicPr>
        <p:blipFill>
          <a:blip r:embed="rId1"/>
          <a:stretch>
            <a:fillRect/>
          </a:stretch>
        </p:blipFill>
        <p:spPr>
          <a:xfrm>
            <a:off x="710922" y="7109460"/>
            <a:ext cx="197406" cy="157996"/>
          </a:xfrm>
          <a:prstGeom prst="rect">
            <a:avLst/>
          </a:prstGeom>
        </p:spPr>
      </p:pic>
      <p:sp>
        <p:nvSpPr>
          <p:cNvPr id="18" name="Text 15"/>
          <p:cNvSpPr/>
          <p:nvPr/>
        </p:nvSpPr>
        <p:spPr>
          <a:xfrm>
            <a:off x="1066324" y="7064931"/>
            <a:ext cx="12853154" cy="513159"/>
          </a:xfrm>
          <a:prstGeom prst="rect">
            <a:avLst/>
          </a:prstGeom>
          <a:noFill/>
        </p:spPr>
        <p:txBody>
          <a:bodyPr wrap="square" lIns="0" tIns="0" rIns="0" bIns="0" rtlCol="0" anchor="t"/>
          <a:lstStyle/>
          <a:p>
            <a:pPr marL="0" indent="0" algn="l">
              <a:lnSpc>
                <a:spcPts val="1950"/>
              </a:lnSpc>
              <a:buNone/>
            </a:pPr>
            <a:r>
              <a:rPr lang="en-US" sz="1200" dirty="0">
                <a:solidFill>
                  <a:srgbClr val="000000"/>
                </a:solidFill>
                <a:latin typeface="Open Sans" pitchFamily="34" charset="0"/>
                <a:ea typeface="Open Sans" pitchFamily="34" charset="-122"/>
                <a:cs typeface="Open Sans" pitchFamily="34" charset="-120"/>
              </a:rPr>
              <a:t>📌</a:t>
            </a:r>
            <a:r>
              <a:rPr lang="en-US" sz="1200" b="1" dirty="0">
                <a:solidFill>
                  <a:srgbClr val="000000"/>
                </a:solidFill>
                <a:latin typeface="Open Sans" pitchFamily="34" charset="0"/>
                <a:ea typeface="Open Sans" pitchFamily="34" charset="-122"/>
                <a:cs typeface="Open Sans" pitchFamily="34" charset="-120"/>
              </a:rPr>
              <a:t> Why BFS?</a:t>
            </a:r>
            <a:r>
              <a:rPr lang="en-US" sz="1200" dirty="0">
                <a:solidFill>
                  <a:srgbClr val="000000"/>
                </a:solidFill>
                <a:latin typeface="Open Sans" pitchFamily="34" charset="0"/>
                <a:ea typeface="Open Sans" pitchFamily="34" charset="-122"/>
                <a:cs typeface="Open Sans" pitchFamily="34" charset="-120"/>
              </a:rPr>
              <a:t> BFS is valuable for understanding reachability within a graph and is particularly useful for basic navigation testing, such as finding if one location is accessible from another.</a:t>
            </a:r>
            <a:endParaRPr lang="en-US" sz="1200" dirty="0"/>
          </a:p>
        </p:txBody>
      </p:sp>
      <p:pic>
        <p:nvPicPr>
          <p:cNvPr id="19" name="Picture 18"/>
          <p:cNvPicPr>
            <a:picLocks noChangeAspect="1"/>
          </p:cNvPicPr>
          <p:nvPr/>
        </p:nvPicPr>
        <p:blipFill>
          <a:blip r:embed="rId2"/>
          <a:stretch>
            <a:fillRect/>
          </a:stretch>
        </p:blipFill>
        <p:spPr>
          <a:xfrm>
            <a:off x="11462385" y="7783830"/>
            <a:ext cx="3086100" cy="31432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728311"/>
            <a:ext cx="5670590" cy="708779"/>
          </a:xfrm>
          <a:prstGeom prst="rect">
            <a:avLst/>
          </a:prstGeom>
          <a:noFill/>
        </p:spPr>
        <p:txBody>
          <a:bodyPr wrap="none" lIns="0" tIns="0" rIns="0" bIns="0" rtlCol="0" anchor="t"/>
          <a:lstStyle/>
          <a:p>
            <a:pPr marL="0" indent="0" algn="l">
              <a:lnSpc>
                <a:spcPts val="5550"/>
              </a:lnSpc>
              <a:buNone/>
            </a:pPr>
            <a:r>
              <a:rPr lang="en-US" sz="4450" dirty="0">
                <a:solidFill>
                  <a:srgbClr val="2C3F42"/>
                </a:solidFill>
                <a:latin typeface="Bitter Medium" pitchFamily="34" charset="0"/>
                <a:ea typeface="Bitter Medium" pitchFamily="34" charset="-122"/>
                <a:cs typeface="Bitter Medium" pitchFamily="34" charset="-120"/>
              </a:rPr>
              <a:t>BFS Traversal - Part 2</a:t>
            </a:r>
            <a:endParaRPr lang="en-US" sz="4450" dirty="0"/>
          </a:p>
        </p:txBody>
      </p:sp>
      <p:sp>
        <p:nvSpPr>
          <p:cNvPr id="3" name="Text 1"/>
          <p:cNvSpPr/>
          <p:nvPr/>
        </p:nvSpPr>
        <p:spPr>
          <a:xfrm>
            <a:off x="793790" y="3004066"/>
            <a:ext cx="2835235" cy="354330"/>
          </a:xfrm>
          <a:prstGeom prst="rect">
            <a:avLst/>
          </a:prstGeom>
          <a:noFill/>
        </p:spPr>
        <p:txBody>
          <a:bodyPr wrap="none" lIns="0" tIns="0" rIns="0" bIns="0" rtlCol="0" anchor="t"/>
          <a:lstStyle/>
          <a:p>
            <a:pPr marL="0" indent="0" algn="l">
              <a:lnSpc>
                <a:spcPts val="2750"/>
              </a:lnSpc>
              <a:buNone/>
            </a:pPr>
            <a:r>
              <a:rPr lang="en-US" sz="2200" dirty="0">
                <a:solidFill>
                  <a:srgbClr val="2C3F42"/>
                </a:solidFill>
                <a:latin typeface="Bitter Medium" pitchFamily="34" charset="0"/>
                <a:ea typeface="Bitter Medium" pitchFamily="34" charset="-122"/>
                <a:cs typeface="Bitter Medium" pitchFamily="34" charset="-120"/>
              </a:rPr>
              <a:t>Algorithm Steps</a:t>
            </a:r>
            <a:endParaRPr lang="en-US" sz="2200" dirty="0"/>
          </a:p>
        </p:txBody>
      </p:sp>
      <p:sp>
        <p:nvSpPr>
          <p:cNvPr id="4" name="Text 2"/>
          <p:cNvSpPr/>
          <p:nvPr/>
        </p:nvSpPr>
        <p:spPr>
          <a:xfrm>
            <a:off x="793790" y="3585210"/>
            <a:ext cx="6244709" cy="362903"/>
          </a:xfrm>
          <a:prstGeom prst="rect">
            <a:avLst/>
          </a:prstGeom>
          <a:noFill/>
        </p:spPr>
        <p:txBody>
          <a:bodyPr wrap="none" lIns="0" tIns="0" rIns="0" bIns="0" rtlCol="0" anchor="t"/>
          <a:lstStyle/>
          <a:p>
            <a:pPr marL="342900" indent="-342900" algn="l">
              <a:lnSpc>
                <a:spcPts val="2850"/>
              </a:lnSpc>
              <a:buSzPct val="100000"/>
              <a:buFont typeface="+mj-lt"/>
              <a:buAutoNum type="arabicPeriod"/>
            </a:pPr>
            <a:r>
              <a:rPr lang="en-US" sz="1750" dirty="0">
                <a:solidFill>
                  <a:srgbClr val="2B2E3C"/>
                </a:solidFill>
                <a:latin typeface="Open Sans" pitchFamily="34" charset="0"/>
                <a:ea typeface="Open Sans" pitchFamily="34" charset="-122"/>
                <a:cs typeface="Open Sans" pitchFamily="34" charset="-120"/>
              </a:rPr>
              <a:t>Initialize queue with start node</a:t>
            </a:r>
            <a:endParaRPr lang="en-US" sz="1750" dirty="0"/>
          </a:p>
        </p:txBody>
      </p:sp>
      <p:sp>
        <p:nvSpPr>
          <p:cNvPr id="5" name="Text 3"/>
          <p:cNvSpPr/>
          <p:nvPr/>
        </p:nvSpPr>
        <p:spPr>
          <a:xfrm>
            <a:off x="793790" y="4027408"/>
            <a:ext cx="6244709" cy="362903"/>
          </a:xfrm>
          <a:prstGeom prst="rect">
            <a:avLst/>
          </a:prstGeom>
          <a:noFill/>
        </p:spPr>
        <p:txBody>
          <a:bodyPr wrap="none" lIns="0" tIns="0" rIns="0" bIns="0" rtlCol="0" anchor="t"/>
          <a:lstStyle/>
          <a:p>
            <a:pPr marL="342900" indent="-342900" algn="l">
              <a:lnSpc>
                <a:spcPts val="2850"/>
              </a:lnSpc>
              <a:buSzPct val="100000"/>
              <a:buFont typeface="+mj-lt"/>
              <a:buAutoNum type="arabicPeriod" startAt="2"/>
            </a:pPr>
            <a:r>
              <a:rPr lang="en-US" sz="1750" dirty="0">
                <a:solidFill>
                  <a:srgbClr val="2B2E3C"/>
                </a:solidFill>
                <a:latin typeface="Open Sans" pitchFamily="34" charset="0"/>
                <a:ea typeface="Open Sans" pitchFamily="34" charset="-122"/>
                <a:cs typeface="Open Sans" pitchFamily="34" charset="-120"/>
              </a:rPr>
              <a:t>Mark as visited</a:t>
            </a:r>
            <a:endParaRPr lang="en-US" sz="1750" dirty="0"/>
          </a:p>
        </p:txBody>
      </p:sp>
      <p:sp>
        <p:nvSpPr>
          <p:cNvPr id="6" name="Text 4"/>
          <p:cNvSpPr/>
          <p:nvPr/>
        </p:nvSpPr>
        <p:spPr>
          <a:xfrm>
            <a:off x="793790" y="4469606"/>
            <a:ext cx="6244709" cy="725805"/>
          </a:xfrm>
          <a:prstGeom prst="rect">
            <a:avLst/>
          </a:prstGeom>
          <a:noFill/>
        </p:spPr>
        <p:txBody>
          <a:bodyPr wrap="square" lIns="0" tIns="0" rIns="0" bIns="0" rtlCol="0" anchor="t"/>
          <a:lstStyle/>
          <a:p>
            <a:pPr marL="342900" indent="-342900" algn="l">
              <a:lnSpc>
                <a:spcPts val="2850"/>
              </a:lnSpc>
              <a:buSzPct val="100000"/>
              <a:buFont typeface="+mj-lt"/>
              <a:buAutoNum type="arabicPeriod" startAt="3"/>
            </a:pPr>
            <a:r>
              <a:rPr lang="en-US" sz="1750" dirty="0">
                <a:solidFill>
                  <a:srgbClr val="2B2E3C"/>
                </a:solidFill>
                <a:latin typeface="Open Sans" pitchFamily="34" charset="0"/>
                <a:ea typeface="Open Sans" pitchFamily="34" charset="-122"/>
                <a:cs typeface="Open Sans" pitchFamily="34" charset="-120"/>
              </a:rPr>
              <a:t>While queue not empty: dequeue node, process it, enqueue unvisited neighbors</a:t>
            </a:r>
            <a:endParaRPr lang="en-US" sz="1750" dirty="0"/>
          </a:p>
        </p:txBody>
      </p:sp>
      <p:sp>
        <p:nvSpPr>
          <p:cNvPr id="7" name="Text 5"/>
          <p:cNvSpPr/>
          <p:nvPr/>
        </p:nvSpPr>
        <p:spPr>
          <a:xfrm>
            <a:off x="7599521" y="3004066"/>
            <a:ext cx="2835235" cy="354330"/>
          </a:xfrm>
          <a:prstGeom prst="rect">
            <a:avLst/>
          </a:prstGeom>
          <a:noFill/>
        </p:spPr>
        <p:txBody>
          <a:bodyPr wrap="none" lIns="0" tIns="0" rIns="0" bIns="0" rtlCol="0" anchor="t"/>
          <a:lstStyle/>
          <a:p>
            <a:pPr marL="0" indent="0" algn="l">
              <a:lnSpc>
                <a:spcPts val="2750"/>
              </a:lnSpc>
              <a:buNone/>
            </a:pPr>
            <a:r>
              <a:rPr lang="en-US" sz="2200" dirty="0">
                <a:solidFill>
                  <a:srgbClr val="2C3F42"/>
                </a:solidFill>
                <a:latin typeface="Bitter Medium" pitchFamily="34" charset="0"/>
                <a:ea typeface="Bitter Medium" pitchFamily="34" charset="-122"/>
                <a:cs typeface="Bitter Medium" pitchFamily="34" charset="-120"/>
              </a:rPr>
              <a:t>Output Example</a:t>
            </a:r>
            <a:endParaRPr lang="en-US" sz="2200" dirty="0"/>
          </a:p>
        </p:txBody>
      </p:sp>
      <p:sp>
        <p:nvSpPr>
          <p:cNvPr id="8" name="Text 6"/>
          <p:cNvSpPr/>
          <p:nvPr/>
        </p:nvSpPr>
        <p:spPr>
          <a:xfrm>
            <a:off x="7599521" y="3585210"/>
            <a:ext cx="6244709" cy="362903"/>
          </a:xfrm>
          <a:prstGeom prst="rect">
            <a:avLst/>
          </a:prstGeom>
          <a:noFill/>
        </p:spPr>
        <p:txBody>
          <a:bodyPr wrap="non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"BFS Traversal: saddar isb streetfood 6throad scheme3"</a:t>
            </a:r>
            <a:endParaRPr lang="en-US" sz="1750" dirty="0"/>
          </a:p>
        </p:txBody>
      </p:sp>
      <p:sp>
        <p:nvSpPr>
          <p:cNvPr id="9" name="Shape 7"/>
          <p:cNvSpPr/>
          <p:nvPr/>
        </p:nvSpPr>
        <p:spPr>
          <a:xfrm>
            <a:off x="793790" y="5529858"/>
            <a:ext cx="13042821" cy="971431"/>
          </a:xfrm>
          <a:prstGeom prst="roundRect">
            <a:avLst>
              <a:gd name="adj" fmla="val 9807"/>
            </a:avLst>
          </a:prstGeom>
          <a:solidFill>
            <a:srgbClr val="FAD3B8"/>
          </a:solidFill>
        </p:spPr>
      </p:sp>
      <p:pic>
        <p:nvPicPr>
          <p:cNvPr id="10" name="Image 0" descr="preencoded.png"/>
          <p:cNvPicPr>
            <a:picLocks noChangeAspect="1"/>
          </p:cNvPicPr>
          <p:nvPr/>
        </p:nvPicPr>
        <p:blipFill>
          <a:blip r:embed="rId1"/>
          <a:stretch>
            <a:fillRect/>
          </a:stretch>
        </p:blipFill>
        <p:spPr>
          <a:xfrm>
            <a:off x="1020604" y="5881568"/>
            <a:ext cx="283488" cy="226814"/>
          </a:xfrm>
          <a:prstGeom prst="rect">
            <a:avLst/>
          </a:prstGeom>
        </p:spPr>
      </p:pic>
      <p:sp>
        <p:nvSpPr>
          <p:cNvPr id="11" name="Text 8"/>
          <p:cNvSpPr/>
          <p:nvPr/>
        </p:nvSpPr>
        <p:spPr>
          <a:xfrm>
            <a:off x="1530906" y="5813346"/>
            <a:ext cx="12078891" cy="370523"/>
          </a:xfrm>
          <a:prstGeom prst="rect">
            <a:avLst/>
          </a:prstGeom>
          <a:noFill/>
        </p:spPr>
        <p:txBody>
          <a:bodyPr wrap="none" lIns="0" tIns="0" rIns="0" bIns="0" rtlCol="0" anchor="t"/>
          <a:lstStyle/>
          <a:p>
            <a:pPr marL="0" indent="0" algn="l">
              <a:lnSpc>
                <a:spcPts val="2850"/>
              </a:lnSpc>
              <a:buNone/>
            </a:pPr>
            <a:r>
              <a:rPr lang="en-US" sz="1750" dirty="0">
                <a:solidFill>
                  <a:srgbClr val="000000"/>
                </a:solidFill>
                <a:latin typeface="Open Sans" pitchFamily="34" charset="0"/>
                <a:ea typeface="Open Sans" pitchFamily="34" charset="-122"/>
                <a:cs typeface="Open Sans" pitchFamily="34" charset="-120"/>
              </a:rPr>
              <a:t>📌</a:t>
            </a:r>
            <a:r>
              <a:rPr lang="en-US" sz="1750" b="1" dirty="0">
                <a:solidFill>
                  <a:srgbClr val="000000"/>
                </a:solidFill>
                <a:latin typeface="Open Sans" pitchFamily="34" charset="0"/>
                <a:ea typeface="Open Sans" pitchFamily="34" charset="-122"/>
                <a:cs typeface="Open Sans" pitchFamily="34" charset="-120"/>
              </a:rPr>
              <a:t> Why BFS?</a:t>
            </a:r>
            <a:r>
              <a:rPr lang="en-US" sz="1750" dirty="0">
                <a:solidFill>
                  <a:srgbClr val="000000"/>
                </a:solidFill>
                <a:latin typeface="Open Sans" pitchFamily="34" charset="0"/>
                <a:ea typeface="Open Sans" pitchFamily="34" charset="-122"/>
                <a:cs typeface="Open Sans" pitchFamily="34" charset="-120"/>
              </a:rPr>
              <a:t> Shows reachability, useful for basic navigation testing.</a:t>
            </a:r>
            <a:endParaRPr lang="en-US" sz="1750" dirty="0"/>
          </a:p>
        </p:txBody>
      </p:sp>
      <p:pic>
        <p:nvPicPr>
          <p:cNvPr id="12" name="Picture 11"/>
          <p:cNvPicPr>
            <a:picLocks noChangeAspect="1"/>
          </p:cNvPicPr>
          <p:nvPr/>
        </p:nvPicPr>
        <p:blipFill>
          <a:blip r:embed="rId2"/>
          <a:stretch>
            <a:fillRect/>
          </a:stretch>
        </p:blipFill>
        <p:spPr>
          <a:xfrm>
            <a:off x="12125325" y="7762875"/>
            <a:ext cx="2505075" cy="46672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7941" y="524828"/>
            <a:ext cx="4771430" cy="596503"/>
          </a:xfrm>
          <a:prstGeom prst="rect">
            <a:avLst/>
          </a:prstGeom>
          <a:noFill/>
        </p:spPr>
        <p:txBody>
          <a:bodyPr wrap="none" lIns="0" tIns="0" rIns="0" bIns="0" rtlCol="0" anchor="t"/>
          <a:lstStyle/>
          <a:p>
            <a:pPr marL="0" indent="0" algn="l">
              <a:lnSpc>
                <a:spcPts val="4650"/>
              </a:lnSpc>
              <a:buNone/>
            </a:pPr>
            <a:r>
              <a:rPr lang="en-US" sz="3750" dirty="0">
                <a:solidFill>
                  <a:srgbClr val="2C3F42"/>
                </a:solidFill>
                <a:latin typeface="Bitter Medium" pitchFamily="34" charset="0"/>
                <a:ea typeface="Bitter Medium" pitchFamily="34" charset="-122"/>
                <a:cs typeface="Bitter Medium" pitchFamily="34" charset="-120"/>
              </a:rPr>
              <a:t>DFS Traversal - Part 1</a:t>
            </a:r>
            <a:endParaRPr lang="en-US" sz="3750" dirty="0"/>
          </a:p>
        </p:txBody>
      </p:sp>
      <p:sp>
        <p:nvSpPr>
          <p:cNvPr id="3" name="Text 1"/>
          <p:cNvSpPr/>
          <p:nvPr/>
        </p:nvSpPr>
        <p:spPr>
          <a:xfrm>
            <a:off x="667941" y="1503045"/>
            <a:ext cx="13294519" cy="610553"/>
          </a:xfrm>
          <a:prstGeom prst="rect">
            <a:avLst/>
          </a:prstGeom>
          <a:noFill/>
        </p:spPr>
        <p:txBody>
          <a:bodyPr wrap="square" lIns="0" tIns="0" rIns="0" bIns="0" rtlCol="0" anchor="t"/>
          <a:lstStyle/>
          <a:p>
            <a:pPr marL="0" indent="0" algn="l">
              <a:lnSpc>
                <a:spcPts val="2400"/>
              </a:lnSpc>
              <a:buNone/>
            </a:pPr>
            <a:r>
              <a:rPr lang="en-US" sz="1500" dirty="0">
                <a:solidFill>
                  <a:srgbClr val="2B2E3C"/>
                </a:solidFill>
                <a:latin typeface="Open Sans" pitchFamily="34" charset="0"/>
                <a:ea typeface="Open Sans" pitchFamily="34" charset="-122"/>
                <a:cs typeface="Open Sans" pitchFamily="34" charset="-120"/>
              </a:rPr>
              <a:t>Depth-First Search (DFS) is an algorithm for traversing or searching tree or graph data structures. It explores as far as possible along each branch before backtracking. It goes deep into one route, exploring depth-first, and inherently uses recursion to manage its exploration path.</a:t>
            </a:r>
            <a:endParaRPr lang="en-US" sz="1500" dirty="0"/>
          </a:p>
        </p:txBody>
      </p:sp>
      <p:sp>
        <p:nvSpPr>
          <p:cNvPr id="4" name="Text 2"/>
          <p:cNvSpPr/>
          <p:nvPr/>
        </p:nvSpPr>
        <p:spPr>
          <a:xfrm>
            <a:off x="667941" y="2399824"/>
            <a:ext cx="2385655" cy="298252"/>
          </a:xfrm>
          <a:prstGeom prst="rect">
            <a:avLst/>
          </a:prstGeom>
          <a:noFill/>
        </p:spPr>
        <p:txBody>
          <a:bodyPr wrap="none" lIns="0" tIns="0" rIns="0" bIns="0" rtlCol="0" anchor="t"/>
          <a:lstStyle/>
          <a:p>
            <a:pPr marL="0" indent="0" algn="l">
              <a:lnSpc>
                <a:spcPts val="2300"/>
              </a:lnSpc>
              <a:buNone/>
            </a:pPr>
            <a:r>
              <a:rPr lang="en-US" sz="1850" dirty="0">
                <a:solidFill>
                  <a:srgbClr val="2C3F42"/>
                </a:solidFill>
                <a:latin typeface="Bitter Medium" pitchFamily="34" charset="0"/>
                <a:ea typeface="Bitter Medium" pitchFamily="34" charset="-122"/>
                <a:cs typeface="Bitter Medium" pitchFamily="34" charset="-120"/>
              </a:rPr>
              <a:t>Key Characteristics</a:t>
            </a:r>
            <a:endParaRPr lang="en-US" sz="1850" dirty="0"/>
          </a:p>
        </p:txBody>
      </p:sp>
      <p:sp>
        <p:nvSpPr>
          <p:cNvPr id="5" name="Text 3"/>
          <p:cNvSpPr/>
          <p:nvPr/>
        </p:nvSpPr>
        <p:spPr>
          <a:xfrm>
            <a:off x="667941" y="2984302"/>
            <a:ext cx="13294519" cy="305276"/>
          </a:xfrm>
          <a:prstGeom prst="rect">
            <a:avLst/>
          </a:prstGeom>
          <a:noFill/>
        </p:spPr>
        <p:txBody>
          <a:bodyPr wrap="none" lIns="0" tIns="0" rIns="0" bIns="0" rtlCol="0" anchor="t"/>
          <a:lstStyle/>
          <a:p>
            <a:pPr marL="342900" indent="-342900" algn="l">
              <a:lnSpc>
                <a:spcPts val="2400"/>
              </a:lnSpc>
              <a:buSzPct val="100000"/>
              <a:buChar char="•"/>
            </a:pPr>
            <a:r>
              <a:rPr lang="en-US" sz="1500" dirty="0">
                <a:solidFill>
                  <a:srgbClr val="2B2E3C"/>
                </a:solidFill>
                <a:latin typeface="Open Sans" pitchFamily="34" charset="0"/>
                <a:ea typeface="Open Sans" pitchFamily="34" charset="-122"/>
                <a:cs typeface="Open Sans" pitchFamily="34" charset="-120"/>
              </a:rPr>
              <a:t>Explores deeply into one branch before backtracking.</a:t>
            </a:r>
            <a:endParaRPr lang="en-US" sz="1500" dirty="0"/>
          </a:p>
        </p:txBody>
      </p:sp>
      <p:sp>
        <p:nvSpPr>
          <p:cNvPr id="6" name="Text 4"/>
          <p:cNvSpPr/>
          <p:nvPr/>
        </p:nvSpPr>
        <p:spPr>
          <a:xfrm>
            <a:off x="667941" y="3356372"/>
            <a:ext cx="13294519" cy="305276"/>
          </a:xfrm>
          <a:prstGeom prst="rect">
            <a:avLst/>
          </a:prstGeom>
          <a:noFill/>
        </p:spPr>
        <p:txBody>
          <a:bodyPr wrap="none" lIns="0" tIns="0" rIns="0" bIns="0" rtlCol="0" anchor="t"/>
          <a:lstStyle/>
          <a:p>
            <a:pPr marL="342900" indent="-342900" algn="l">
              <a:lnSpc>
                <a:spcPts val="2400"/>
              </a:lnSpc>
              <a:buSzPct val="100000"/>
              <a:buChar char="•"/>
            </a:pPr>
            <a:r>
              <a:rPr lang="en-US" sz="1500" dirty="0">
                <a:solidFill>
                  <a:srgbClr val="2B2E3C"/>
                </a:solidFill>
                <a:latin typeface="Open Sans" pitchFamily="34" charset="0"/>
                <a:ea typeface="Open Sans" pitchFamily="34" charset="-122"/>
                <a:cs typeface="Open Sans" pitchFamily="34" charset="-120"/>
              </a:rPr>
              <a:t>Uses recursion (or an explicit stack) to keep track of nodes to visit.</a:t>
            </a:r>
            <a:endParaRPr lang="en-US" sz="1500" dirty="0"/>
          </a:p>
        </p:txBody>
      </p:sp>
      <p:sp>
        <p:nvSpPr>
          <p:cNvPr id="7" name="Text 5"/>
          <p:cNvSpPr/>
          <p:nvPr/>
        </p:nvSpPr>
        <p:spPr>
          <a:xfrm>
            <a:off x="667941" y="3728442"/>
            <a:ext cx="13294519" cy="305276"/>
          </a:xfrm>
          <a:prstGeom prst="rect">
            <a:avLst/>
          </a:prstGeom>
          <a:noFill/>
        </p:spPr>
        <p:txBody>
          <a:bodyPr wrap="none" lIns="0" tIns="0" rIns="0" bIns="0" rtlCol="0" anchor="t"/>
          <a:lstStyle/>
          <a:p>
            <a:pPr marL="342900" indent="-342900" algn="l">
              <a:lnSpc>
                <a:spcPts val="2400"/>
              </a:lnSpc>
              <a:buSzPct val="100000"/>
              <a:buChar char="•"/>
            </a:pPr>
            <a:r>
              <a:rPr lang="en-US" sz="1500" dirty="0">
                <a:solidFill>
                  <a:srgbClr val="2B2E3C"/>
                </a:solidFill>
                <a:latin typeface="Open Sans" pitchFamily="34" charset="0"/>
                <a:ea typeface="Open Sans" pitchFamily="34" charset="-122"/>
                <a:cs typeface="Open Sans" pitchFamily="34" charset="-120"/>
              </a:rPr>
              <a:t>Starts from a specified node (e.g., "saddar") and prints visited nodes as it explores.</a:t>
            </a:r>
            <a:endParaRPr lang="en-US" sz="1500" dirty="0"/>
          </a:p>
        </p:txBody>
      </p:sp>
      <p:sp>
        <p:nvSpPr>
          <p:cNvPr id="8" name="Text 6"/>
          <p:cNvSpPr/>
          <p:nvPr/>
        </p:nvSpPr>
        <p:spPr>
          <a:xfrm>
            <a:off x="667941" y="4319945"/>
            <a:ext cx="2385655" cy="298252"/>
          </a:xfrm>
          <a:prstGeom prst="rect">
            <a:avLst/>
          </a:prstGeom>
          <a:noFill/>
        </p:spPr>
        <p:txBody>
          <a:bodyPr wrap="none" lIns="0" tIns="0" rIns="0" bIns="0" rtlCol="0" anchor="t"/>
          <a:lstStyle/>
          <a:p>
            <a:pPr marL="0" indent="0" algn="l">
              <a:lnSpc>
                <a:spcPts val="2300"/>
              </a:lnSpc>
              <a:buNone/>
            </a:pPr>
            <a:r>
              <a:rPr lang="en-US" sz="1850" dirty="0">
                <a:solidFill>
                  <a:srgbClr val="2C3F42"/>
                </a:solidFill>
                <a:latin typeface="Bitter Medium" pitchFamily="34" charset="0"/>
                <a:ea typeface="Bitter Medium" pitchFamily="34" charset="-122"/>
                <a:cs typeface="Bitter Medium" pitchFamily="34" charset="-120"/>
              </a:rPr>
              <a:t>Code Logic</a:t>
            </a:r>
            <a:endParaRPr lang="en-US" sz="1850" dirty="0"/>
          </a:p>
        </p:txBody>
      </p:sp>
      <p:sp>
        <p:nvSpPr>
          <p:cNvPr id="9" name="Shape 7"/>
          <p:cNvSpPr/>
          <p:nvPr/>
        </p:nvSpPr>
        <p:spPr>
          <a:xfrm>
            <a:off x="667941" y="4904423"/>
            <a:ext cx="13294519" cy="591503"/>
          </a:xfrm>
          <a:prstGeom prst="roundRect">
            <a:avLst>
              <a:gd name="adj" fmla="val 13552"/>
            </a:avLst>
          </a:prstGeom>
          <a:solidFill>
            <a:srgbClr val="F2EBE3"/>
          </a:solidFill>
        </p:spPr>
      </p:sp>
      <p:sp>
        <p:nvSpPr>
          <p:cNvPr id="10" name="Shape 8"/>
          <p:cNvSpPr/>
          <p:nvPr/>
        </p:nvSpPr>
        <p:spPr>
          <a:xfrm>
            <a:off x="658416" y="4904423"/>
            <a:ext cx="13313569" cy="591503"/>
          </a:xfrm>
          <a:prstGeom prst="roundRect">
            <a:avLst>
              <a:gd name="adj" fmla="val 4840"/>
            </a:avLst>
          </a:prstGeom>
          <a:solidFill>
            <a:srgbClr val="F2EBE3"/>
          </a:solidFill>
        </p:spPr>
      </p:sp>
      <p:sp>
        <p:nvSpPr>
          <p:cNvPr id="11" name="Text 9"/>
          <p:cNvSpPr/>
          <p:nvPr/>
        </p:nvSpPr>
        <p:spPr>
          <a:xfrm>
            <a:off x="849273" y="5047536"/>
            <a:ext cx="12931854" cy="305276"/>
          </a:xfrm>
          <a:prstGeom prst="rect">
            <a:avLst/>
          </a:prstGeom>
          <a:noFill/>
        </p:spPr>
        <p:txBody>
          <a:bodyPr wrap="none" lIns="0" tIns="0" rIns="0" bIns="0" rtlCol="0" anchor="t"/>
          <a:lstStyle/>
          <a:p>
            <a:pPr marL="0" indent="0" algn="l">
              <a:lnSpc>
                <a:spcPts val="2400"/>
              </a:lnSpc>
              <a:buNone/>
            </a:pPr>
            <a:r>
              <a:rPr lang="en-US" sz="1500" dirty="0">
                <a:solidFill>
                  <a:srgbClr val="2B2E3C"/>
                </a:solidFill>
                <a:highlight>
                  <a:srgbClr val="F2EBE3"/>
                </a:highlight>
                <a:latin typeface="Consolas" pitchFamily="34" charset="0"/>
                <a:ea typeface="Consolas" pitchFamily="34" charset="-122"/>
                <a:cs typeface="Consolas" pitchFamily="34" charset="-120"/>
              </a:rPr>
              <a:t>DFS(next, adj, visited, names);</a:t>
            </a:r>
            <a:endParaRPr lang="en-US" sz="1500" dirty="0"/>
          </a:p>
        </p:txBody>
      </p:sp>
      <p:sp>
        <p:nvSpPr>
          <p:cNvPr id="12" name="Text 10"/>
          <p:cNvSpPr/>
          <p:nvPr/>
        </p:nvSpPr>
        <p:spPr>
          <a:xfrm>
            <a:off x="667941" y="5782151"/>
            <a:ext cx="2385655" cy="298252"/>
          </a:xfrm>
          <a:prstGeom prst="rect">
            <a:avLst/>
          </a:prstGeom>
          <a:noFill/>
        </p:spPr>
        <p:txBody>
          <a:bodyPr wrap="none" lIns="0" tIns="0" rIns="0" bIns="0" rtlCol="0" anchor="t"/>
          <a:lstStyle/>
          <a:p>
            <a:pPr marL="0" indent="0" algn="l">
              <a:lnSpc>
                <a:spcPts val="2300"/>
              </a:lnSpc>
              <a:buNone/>
            </a:pPr>
            <a:r>
              <a:rPr lang="en-US" sz="1850" dirty="0">
                <a:solidFill>
                  <a:srgbClr val="2C3F42"/>
                </a:solidFill>
                <a:latin typeface="Bitter Medium" pitchFamily="34" charset="0"/>
                <a:ea typeface="Bitter Medium" pitchFamily="34" charset="-122"/>
                <a:cs typeface="Bitter Medium" pitchFamily="34" charset="-120"/>
              </a:rPr>
              <a:t>Output Example</a:t>
            </a:r>
            <a:endParaRPr lang="en-US" sz="1850" dirty="0"/>
          </a:p>
        </p:txBody>
      </p:sp>
      <p:sp>
        <p:nvSpPr>
          <p:cNvPr id="13" name="Text 11"/>
          <p:cNvSpPr/>
          <p:nvPr/>
        </p:nvSpPr>
        <p:spPr>
          <a:xfrm>
            <a:off x="667941" y="6366629"/>
            <a:ext cx="13294519" cy="305276"/>
          </a:xfrm>
          <a:prstGeom prst="rect">
            <a:avLst/>
          </a:prstGeom>
          <a:noFill/>
        </p:spPr>
        <p:txBody>
          <a:bodyPr wrap="none" lIns="0" tIns="0" rIns="0" bIns="0" rtlCol="0" anchor="t"/>
          <a:lstStyle/>
          <a:p>
            <a:pPr marL="0" indent="0" algn="l">
              <a:lnSpc>
                <a:spcPts val="2400"/>
              </a:lnSpc>
              <a:buNone/>
            </a:pPr>
            <a:r>
              <a:rPr lang="en-US" sz="1500" dirty="0">
                <a:solidFill>
                  <a:srgbClr val="2B2E3C"/>
                </a:solidFill>
                <a:latin typeface="Open Sans" pitchFamily="34" charset="0"/>
                <a:ea typeface="Open Sans" pitchFamily="34" charset="-122"/>
                <a:cs typeface="Open Sans" pitchFamily="34" charset="-120"/>
              </a:rPr>
              <a:t>"DFS Traversal: saddar isb 6throad scheme3"</a:t>
            </a:r>
            <a:endParaRPr lang="en-US" sz="1500" dirty="0"/>
          </a:p>
        </p:txBody>
      </p:sp>
      <p:sp>
        <p:nvSpPr>
          <p:cNvPr id="14" name="Shape 12"/>
          <p:cNvSpPr/>
          <p:nvPr/>
        </p:nvSpPr>
        <p:spPr>
          <a:xfrm>
            <a:off x="667941" y="6886575"/>
            <a:ext cx="13294519" cy="826056"/>
          </a:xfrm>
          <a:prstGeom prst="roundRect">
            <a:avLst>
              <a:gd name="adj" fmla="val 9704"/>
            </a:avLst>
          </a:prstGeom>
          <a:solidFill>
            <a:srgbClr val="FAD3B8"/>
          </a:solidFill>
        </p:spPr>
      </p:sp>
      <p:pic>
        <p:nvPicPr>
          <p:cNvPr id="15" name="Image 0" descr="preencoded.png"/>
          <p:cNvPicPr>
            <a:picLocks noChangeAspect="1"/>
          </p:cNvPicPr>
          <p:nvPr/>
        </p:nvPicPr>
        <p:blipFill>
          <a:blip r:embed="rId1"/>
          <a:stretch>
            <a:fillRect/>
          </a:stretch>
        </p:blipFill>
        <p:spPr>
          <a:xfrm>
            <a:off x="858798" y="7186613"/>
            <a:ext cx="238482" cy="190857"/>
          </a:xfrm>
          <a:prstGeom prst="rect">
            <a:avLst/>
          </a:prstGeom>
        </p:spPr>
      </p:pic>
      <p:sp>
        <p:nvSpPr>
          <p:cNvPr id="16" name="Text 13"/>
          <p:cNvSpPr/>
          <p:nvPr/>
        </p:nvSpPr>
        <p:spPr>
          <a:xfrm>
            <a:off x="1288137" y="7125057"/>
            <a:ext cx="12483465" cy="320516"/>
          </a:xfrm>
          <a:prstGeom prst="rect">
            <a:avLst/>
          </a:prstGeom>
          <a:noFill/>
        </p:spPr>
        <p:txBody>
          <a:bodyPr wrap="none" lIns="0" tIns="0" rIns="0" bIns="0" rtlCol="0" anchor="t"/>
          <a:lstStyle/>
          <a:p>
            <a:pPr marL="0" indent="0" algn="l">
              <a:lnSpc>
                <a:spcPts val="2400"/>
              </a:lnSpc>
              <a:buNone/>
            </a:pPr>
            <a:r>
              <a:rPr lang="en-US" sz="1500" dirty="0">
                <a:solidFill>
                  <a:srgbClr val="000000"/>
                </a:solidFill>
                <a:latin typeface="Open Sans" pitchFamily="34" charset="0"/>
                <a:ea typeface="Open Sans" pitchFamily="34" charset="-122"/>
                <a:cs typeface="Open Sans" pitchFamily="34" charset="-120"/>
              </a:rPr>
              <a:t>📌</a:t>
            </a:r>
            <a:r>
              <a:rPr lang="en-US" sz="1500" b="1" dirty="0">
                <a:solidFill>
                  <a:srgbClr val="000000"/>
                </a:solidFill>
                <a:latin typeface="Open Sans" pitchFamily="34" charset="0"/>
                <a:ea typeface="Open Sans" pitchFamily="34" charset="-122"/>
                <a:cs typeface="Open Sans" pitchFamily="34" charset="-120"/>
              </a:rPr>
              <a:t> Why DFS?</a:t>
            </a:r>
            <a:r>
              <a:rPr lang="en-US" sz="1500" dirty="0">
                <a:solidFill>
                  <a:srgbClr val="000000"/>
                </a:solidFill>
                <a:latin typeface="Open Sans" pitchFamily="34" charset="0"/>
                <a:ea typeface="Open Sans" pitchFamily="34" charset="-122"/>
                <a:cs typeface="Open Sans" pitchFamily="34" charset="-120"/>
              </a:rPr>
              <a:t> Useful for path exploration, identifying cycles, and helping to understand full connectivity within a graph.</a:t>
            </a:r>
            <a:endParaRPr lang="en-US" sz="1500" dirty="0"/>
          </a:p>
        </p:txBody>
      </p:sp>
      <p:pic>
        <p:nvPicPr>
          <p:cNvPr id="18" name="Picture 17"/>
          <p:cNvPicPr>
            <a:picLocks noChangeAspect="1"/>
          </p:cNvPicPr>
          <p:nvPr/>
        </p:nvPicPr>
        <p:blipFill>
          <a:blip r:embed="rId2"/>
          <a:stretch>
            <a:fillRect/>
          </a:stretch>
        </p:blipFill>
        <p:spPr>
          <a:xfrm>
            <a:off x="10057130" y="7712710"/>
            <a:ext cx="4448175" cy="51625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909763"/>
            <a:ext cx="5670590" cy="708779"/>
          </a:xfrm>
          <a:prstGeom prst="rect">
            <a:avLst/>
          </a:prstGeom>
          <a:noFill/>
        </p:spPr>
        <p:txBody>
          <a:bodyPr wrap="none" lIns="0" tIns="0" rIns="0" bIns="0" rtlCol="0" anchor="t"/>
          <a:lstStyle/>
          <a:p>
            <a:pPr marL="0" indent="0" algn="l">
              <a:lnSpc>
                <a:spcPts val="5550"/>
              </a:lnSpc>
              <a:buNone/>
            </a:pPr>
            <a:r>
              <a:rPr lang="en-US" sz="4450" dirty="0">
                <a:solidFill>
                  <a:srgbClr val="2C3F42"/>
                </a:solidFill>
                <a:latin typeface="Bitter Medium" pitchFamily="34" charset="0"/>
                <a:ea typeface="Bitter Medium" pitchFamily="34" charset="-122"/>
                <a:cs typeface="Bitter Medium" pitchFamily="34" charset="-120"/>
              </a:rPr>
              <a:t>DFS Traversal - Part 2</a:t>
            </a:r>
            <a:endParaRPr lang="en-US" sz="4450" dirty="0"/>
          </a:p>
        </p:txBody>
      </p:sp>
      <p:sp>
        <p:nvSpPr>
          <p:cNvPr id="3" name="Text 1"/>
          <p:cNvSpPr/>
          <p:nvPr/>
        </p:nvSpPr>
        <p:spPr>
          <a:xfrm>
            <a:off x="793790" y="3185517"/>
            <a:ext cx="2835235" cy="354330"/>
          </a:xfrm>
          <a:prstGeom prst="rect">
            <a:avLst/>
          </a:prstGeom>
          <a:noFill/>
        </p:spPr>
        <p:txBody>
          <a:bodyPr wrap="none" lIns="0" tIns="0" rIns="0" bIns="0" rtlCol="0" anchor="t"/>
          <a:lstStyle/>
          <a:p>
            <a:pPr marL="0" indent="0" algn="l">
              <a:lnSpc>
                <a:spcPts val="2750"/>
              </a:lnSpc>
              <a:buNone/>
            </a:pPr>
            <a:r>
              <a:rPr lang="en-US" sz="2200" dirty="0">
                <a:solidFill>
                  <a:srgbClr val="2C3F42"/>
                </a:solidFill>
                <a:latin typeface="Bitter Medium" pitchFamily="34" charset="0"/>
                <a:ea typeface="Bitter Medium" pitchFamily="34" charset="-122"/>
                <a:cs typeface="Bitter Medium" pitchFamily="34" charset="-120"/>
              </a:rPr>
              <a:t>Algorithm Steps</a:t>
            </a:r>
            <a:endParaRPr lang="en-US" sz="2200" dirty="0"/>
          </a:p>
        </p:txBody>
      </p:sp>
      <p:sp>
        <p:nvSpPr>
          <p:cNvPr id="4" name="Text 2"/>
          <p:cNvSpPr/>
          <p:nvPr/>
        </p:nvSpPr>
        <p:spPr>
          <a:xfrm>
            <a:off x="793790" y="3766661"/>
            <a:ext cx="6244709" cy="362903"/>
          </a:xfrm>
          <a:prstGeom prst="rect">
            <a:avLst/>
          </a:prstGeom>
          <a:noFill/>
        </p:spPr>
        <p:txBody>
          <a:bodyPr wrap="none" lIns="0" tIns="0" rIns="0" bIns="0" rtlCol="0" anchor="t"/>
          <a:lstStyle/>
          <a:p>
            <a:pPr marL="342900" indent="-342900" algn="l">
              <a:lnSpc>
                <a:spcPts val="2850"/>
              </a:lnSpc>
              <a:buSzPct val="100000"/>
              <a:buFont typeface="+mj-lt"/>
              <a:buAutoNum type="arabicPeriod"/>
            </a:pPr>
            <a:r>
              <a:rPr lang="en-US" sz="1750" dirty="0">
                <a:solidFill>
                  <a:srgbClr val="2B2E3C"/>
                </a:solidFill>
                <a:latin typeface="Open Sans" pitchFamily="34" charset="0"/>
                <a:ea typeface="Open Sans" pitchFamily="34" charset="-122"/>
                <a:cs typeface="Open Sans" pitchFamily="34" charset="-120"/>
              </a:rPr>
              <a:t>Mark current node as visited</a:t>
            </a:r>
            <a:endParaRPr lang="en-US" sz="1750" dirty="0"/>
          </a:p>
        </p:txBody>
      </p:sp>
      <p:sp>
        <p:nvSpPr>
          <p:cNvPr id="5" name="Text 3"/>
          <p:cNvSpPr/>
          <p:nvPr/>
        </p:nvSpPr>
        <p:spPr>
          <a:xfrm>
            <a:off x="793790" y="4208859"/>
            <a:ext cx="6244709" cy="362903"/>
          </a:xfrm>
          <a:prstGeom prst="rect">
            <a:avLst/>
          </a:prstGeom>
          <a:noFill/>
        </p:spPr>
        <p:txBody>
          <a:bodyPr wrap="none" lIns="0" tIns="0" rIns="0" bIns="0" rtlCol="0" anchor="t"/>
          <a:lstStyle/>
          <a:p>
            <a:pPr marL="342900" indent="-342900" algn="l">
              <a:lnSpc>
                <a:spcPts val="2850"/>
              </a:lnSpc>
              <a:buSzPct val="100000"/>
              <a:buFont typeface="+mj-lt"/>
              <a:buAutoNum type="arabicPeriod" startAt="2"/>
            </a:pPr>
            <a:r>
              <a:rPr lang="en-US" sz="1750" dirty="0">
                <a:solidFill>
                  <a:srgbClr val="2B2E3C"/>
                </a:solidFill>
                <a:latin typeface="Open Sans" pitchFamily="34" charset="0"/>
                <a:ea typeface="Open Sans" pitchFamily="34" charset="-122"/>
                <a:cs typeface="Open Sans" pitchFamily="34" charset="-120"/>
              </a:rPr>
              <a:t>Process current node</a:t>
            </a:r>
            <a:endParaRPr lang="en-US" sz="1750" dirty="0"/>
          </a:p>
        </p:txBody>
      </p:sp>
      <p:sp>
        <p:nvSpPr>
          <p:cNvPr id="6" name="Text 4"/>
          <p:cNvSpPr/>
          <p:nvPr/>
        </p:nvSpPr>
        <p:spPr>
          <a:xfrm>
            <a:off x="793790" y="4651058"/>
            <a:ext cx="6244709" cy="362903"/>
          </a:xfrm>
          <a:prstGeom prst="rect">
            <a:avLst/>
          </a:prstGeom>
          <a:noFill/>
        </p:spPr>
        <p:txBody>
          <a:bodyPr wrap="none" lIns="0" tIns="0" rIns="0" bIns="0" rtlCol="0" anchor="t"/>
          <a:lstStyle/>
          <a:p>
            <a:pPr marL="342900" indent="-342900" algn="l">
              <a:lnSpc>
                <a:spcPts val="2850"/>
              </a:lnSpc>
              <a:buSzPct val="100000"/>
              <a:buFont typeface="+mj-lt"/>
              <a:buAutoNum type="arabicPeriod" startAt="3"/>
            </a:pPr>
            <a:r>
              <a:rPr lang="en-US" sz="1750" dirty="0">
                <a:solidFill>
                  <a:srgbClr val="2B2E3C"/>
                </a:solidFill>
                <a:latin typeface="Open Sans" pitchFamily="34" charset="0"/>
                <a:ea typeface="Open Sans" pitchFamily="34" charset="-122"/>
                <a:cs typeface="Open Sans" pitchFamily="34" charset="-120"/>
              </a:rPr>
              <a:t>For each unvisited neighbor: recursively call DFS.</a:t>
            </a:r>
            <a:endParaRPr lang="en-US" sz="1750" dirty="0"/>
          </a:p>
        </p:txBody>
      </p:sp>
      <p:sp>
        <p:nvSpPr>
          <p:cNvPr id="7" name="Text 5"/>
          <p:cNvSpPr/>
          <p:nvPr/>
        </p:nvSpPr>
        <p:spPr>
          <a:xfrm>
            <a:off x="7599521" y="3185517"/>
            <a:ext cx="2835235" cy="354330"/>
          </a:xfrm>
          <a:prstGeom prst="rect">
            <a:avLst/>
          </a:prstGeom>
          <a:noFill/>
        </p:spPr>
        <p:txBody>
          <a:bodyPr wrap="none" lIns="0" tIns="0" rIns="0" bIns="0" rtlCol="0" anchor="t"/>
          <a:lstStyle/>
          <a:p>
            <a:pPr marL="0" indent="0" algn="l">
              <a:lnSpc>
                <a:spcPts val="2750"/>
              </a:lnSpc>
              <a:buNone/>
            </a:pPr>
            <a:r>
              <a:rPr lang="en-US" sz="2200" dirty="0">
                <a:solidFill>
                  <a:srgbClr val="2C3F42"/>
                </a:solidFill>
                <a:latin typeface="Bitter Medium" pitchFamily="34" charset="0"/>
                <a:ea typeface="Bitter Medium" pitchFamily="34" charset="-122"/>
                <a:cs typeface="Bitter Medium" pitchFamily="34" charset="-120"/>
              </a:rPr>
              <a:t>Output Example</a:t>
            </a:r>
            <a:endParaRPr lang="en-US" sz="2200" dirty="0"/>
          </a:p>
        </p:txBody>
      </p:sp>
      <p:sp>
        <p:nvSpPr>
          <p:cNvPr id="8" name="Text 6"/>
          <p:cNvSpPr/>
          <p:nvPr/>
        </p:nvSpPr>
        <p:spPr>
          <a:xfrm>
            <a:off x="7599521" y="3766661"/>
            <a:ext cx="6244709" cy="362903"/>
          </a:xfrm>
          <a:prstGeom prst="rect">
            <a:avLst/>
          </a:prstGeom>
          <a:noFill/>
        </p:spPr>
        <p:txBody>
          <a:bodyPr wrap="non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"DFS Traversal: saddar isb 6throad scheme3"</a:t>
            </a:r>
            <a:endParaRPr lang="en-US" sz="1750" dirty="0"/>
          </a:p>
        </p:txBody>
      </p:sp>
      <p:sp>
        <p:nvSpPr>
          <p:cNvPr id="9" name="Shape 7"/>
          <p:cNvSpPr/>
          <p:nvPr/>
        </p:nvSpPr>
        <p:spPr>
          <a:xfrm>
            <a:off x="793790" y="5348407"/>
            <a:ext cx="13042821" cy="971431"/>
          </a:xfrm>
          <a:prstGeom prst="roundRect">
            <a:avLst>
              <a:gd name="adj" fmla="val 9807"/>
            </a:avLst>
          </a:prstGeom>
          <a:solidFill>
            <a:srgbClr val="FAD3B8"/>
          </a:solidFill>
        </p:spPr>
      </p:sp>
      <p:pic>
        <p:nvPicPr>
          <p:cNvPr id="10" name="Image 0" descr="preencoded.png"/>
          <p:cNvPicPr>
            <a:picLocks noChangeAspect="1"/>
          </p:cNvPicPr>
          <p:nvPr/>
        </p:nvPicPr>
        <p:blipFill>
          <a:blip r:embed="rId1"/>
          <a:stretch>
            <a:fillRect/>
          </a:stretch>
        </p:blipFill>
        <p:spPr>
          <a:xfrm>
            <a:off x="1020604" y="5700117"/>
            <a:ext cx="283488" cy="226814"/>
          </a:xfrm>
          <a:prstGeom prst="rect">
            <a:avLst/>
          </a:prstGeom>
        </p:spPr>
      </p:pic>
      <p:sp>
        <p:nvSpPr>
          <p:cNvPr id="11" name="Text 8"/>
          <p:cNvSpPr/>
          <p:nvPr/>
        </p:nvSpPr>
        <p:spPr>
          <a:xfrm>
            <a:off x="1530906" y="5631894"/>
            <a:ext cx="12078891" cy="370523"/>
          </a:xfrm>
          <a:prstGeom prst="rect">
            <a:avLst/>
          </a:prstGeom>
          <a:noFill/>
        </p:spPr>
        <p:txBody>
          <a:bodyPr wrap="none" lIns="0" tIns="0" rIns="0" bIns="0" rtlCol="0" anchor="t"/>
          <a:lstStyle/>
          <a:p>
            <a:pPr marL="0" indent="0" algn="l">
              <a:lnSpc>
                <a:spcPts val="2850"/>
              </a:lnSpc>
              <a:buNone/>
            </a:pPr>
            <a:r>
              <a:rPr lang="en-US" sz="1750" dirty="0">
                <a:solidFill>
                  <a:srgbClr val="000000"/>
                </a:solidFill>
                <a:latin typeface="Open Sans" pitchFamily="34" charset="0"/>
                <a:ea typeface="Open Sans" pitchFamily="34" charset="-122"/>
                <a:cs typeface="Open Sans" pitchFamily="34" charset="-120"/>
              </a:rPr>
              <a:t>📌</a:t>
            </a:r>
            <a:r>
              <a:rPr lang="en-US" sz="1750" b="1" dirty="0">
                <a:solidFill>
                  <a:srgbClr val="000000"/>
                </a:solidFill>
                <a:latin typeface="Open Sans" pitchFamily="34" charset="0"/>
                <a:ea typeface="Open Sans" pitchFamily="34" charset="-122"/>
                <a:cs typeface="Open Sans" pitchFamily="34" charset="-120"/>
              </a:rPr>
              <a:t> Why DFS?</a:t>
            </a:r>
            <a:r>
              <a:rPr lang="en-US" sz="1750" dirty="0">
                <a:solidFill>
                  <a:srgbClr val="000000"/>
                </a:solidFill>
                <a:latin typeface="Open Sans" pitchFamily="34" charset="0"/>
                <a:ea typeface="Open Sans" pitchFamily="34" charset="-122"/>
                <a:cs typeface="Open Sans" pitchFamily="34" charset="-120"/>
              </a:rPr>
              <a:t> Path exploration, helps understand full connectivity.</a:t>
            </a:r>
            <a:endParaRPr lang="en-US" sz="1750" dirty="0"/>
          </a:p>
        </p:txBody>
      </p:sp>
      <p:pic>
        <p:nvPicPr>
          <p:cNvPr id="12" name="Picture 11"/>
          <p:cNvPicPr>
            <a:picLocks noChangeAspect="1"/>
          </p:cNvPicPr>
          <p:nvPr/>
        </p:nvPicPr>
        <p:blipFill>
          <a:blip r:embed="rId2"/>
          <a:stretch>
            <a:fillRect/>
          </a:stretch>
        </p:blipFill>
        <p:spPr>
          <a:xfrm>
            <a:off x="10163175" y="7539355"/>
            <a:ext cx="4467225" cy="6858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2539960"/>
            <a:ext cx="5670590" cy="708779"/>
          </a:xfrm>
          <a:prstGeom prst="rect">
            <a:avLst/>
          </a:prstGeom>
          <a:noFill/>
        </p:spPr>
        <p:txBody>
          <a:bodyPr wrap="none" lIns="0" tIns="0" rIns="0" bIns="0" rtlCol="0" anchor="t"/>
          <a:lstStyle/>
          <a:p>
            <a:pPr marL="0" indent="0" algn="l">
              <a:lnSpc>
                <a:spcPts val="5550"/>
              </a:lnSpc>
              <a:buNone/>
            </a:pPr>
            <a:r>
              <a:rPr lang="en-US" sz="4450" dirty="0">
                <a:solidFill>
                  <a:srgbClr val="2C3F42"/>
                </a:solidFill>
                <a:latin typeface="Bitter Medium" pitchFamily="34" charset="0"/>
                <a:ea typeface="Bitter Medium" pitchFamily="34" charset="-122"/>
                <a:cs typeface="Bitter Medium" pitchFamily="34" charset="-120"/>
              </a:rPr>
              <a:t>Support Functions</a:t>
            </a:r>
            <a:endParaRPr lang="en-US" sz="4450" dirty="0"/>
          </a:p>
        </p:txBody>
      </p:sp>
      <p:sp>
        <p:nvSpPr>
          <p:cNvPr id="3" name="Text 1"/>
          <p:cNvSpPr/>
          <p:nvPr/>
        </p:nvSpPr>
        <p:spPr>
          <a:xfrm>
            <a:off x="793790" y="3815715"/>
            <a:ext cx="2835235" cy="354330"/>
          </a:xfrm>
          <a:prstGeom prst="rect">
            <a:avLst/>
          </a:prstGeom>
          <a:noFill/>
        </p:spPr>
        <p:txBody>
          <a:bodyPr wrap="none" lIns="0" tIns="0" rIns="0" bIns="0" rtlCol="0" anchor="t"/>
          <a:lstStyle/>
          <a:p>
            <a:pPr marL="0" indent="0" algn="l">
              <a:lnSpc>
                <a:spcPts val="2750"/>
              </a:lnSpc>
              <a:buNone/>
            </a:pPr>
            <a:r>
              <a:rPr lang="en-US" sz="2200" dirty="0">
                <a:solidFill>
                  <a:srgbClr val="2C3F42"/>
                </a:solidFill>
                <a:latin typeface="Bitter Medium" pitchFamily="34" charset="0"/>
                <a:ea typeface="Bitter Medium" pitchFamily="34" charset="-122"/>
                <a:cs typeface="Bitter Medium" pitchFamily="34" charset="-120"/>
              </a:rPr>
              <a:t>toLower()</a:t>
            </a:r>
            <a:endParaRPr lang="en-US" sz="2200" dirty="0"/>
          </a:p>
        </p:txBody>
      </p:sp>
      <p:sp>
        <p:nvSpPr>
          <p:cNvPr id="4" name="Text 2"/>
          <p:cNvSpPr/>
          <p:nvPr/>
        </p:nvSpPr>
        <p:spPr>
          <a:xfrm>
            <a:off x="793790" y="4396859"/>
            <a:ext cx="2845594" cy="1088708"/>
          </a:xfrm>
          <a:prstGeom prst="rect">
            <a:avLst/>
          </a:prstGeom>
          <a:noFill/>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Converts input to lowercase, makes program case-insensitive.</a:t>
            </a:r>
            <a:endParaRPr lang="en-US" sz="1750" dirty="0"/>
          </a:p>
        </p:txBody>
      </p:sp>
      <p:sp>
        <p:nvSpPr>
          <p:cNvPr id="5" name="Text 3"/>
          <p:cNvSpPr/>
          <p:nvPr/>
        </p:nvSpPr>
        <p:spPr>
          <a:xfrm>
            <a:off x="4200406" y="3815715"/>
            <a:ext cx="2835235" cy="354330"/>
          </a:xfrm>
          <a:prstGeom prst="rect">
            <a:avLst/>
          </a:prstGeom>
          <a:noFill/>
        </p:spPr>
        <p:txBody>
          <a:bodyPr wrap="none" lIns="0" tIns="0" rIns="0" bIns="0" rtlCol="0" anchor="t"/>
          <a:lstStyle/>
          <a:p>
            <a:pPr marL="0" indent="0" algn="l">
              <a:lnSpc>
                <a:spcPts val="2750"/>
              </a:lnSpc>
              <a:buNone/>
            </a:pPr>
            <a:r>
              <a:rPr lang="en-US" sz="2200" dirty="0">
                <a:solidFill>
                  <a:srgbClr val="2C3F42"/>
                </a:solidFill>
                <a:latin typeface="Bitter Medium" pitchFamily="34" charset="0"/>
                <a:ea typeface="Bitter Medium" pitchFamily="34" charset="-122"/>
                <a:cs typeface="Bitter Medium" pitchFamily="34" charset="-120"/>
              </a:rPr>
              <a:t>showRoutes()</a:t>
            </a:r>
            <a:endParaRPr lang="en-US" sz="2200" dirty="0"/>
          </a:p>
        </p:txBody>
      </p:sp>
      <p:sp>
        <p:nvSpPr>
          <p:cNvPr id="6" name="Text 4"/>
          <p:cNvSpPr/>
          <p:nvPr/>
        </p:nvSpPr>
        <p:spPr>
          <a:xfrm>
            <a:off x="4200406" y="4396859"/>
            <a:ext cx="2845594" cy="1088708"/>
          </a:xfrm>
          <a:prstGeom prst="rect">
            <a:avLst/>
          </a:prstGeom>
          <a:noFill/>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Displays all roads with their travel times and blocked status.</a:t>
            </a:r>
            <a:endParaRPr lang="en-US" sz="1750" dirty="0"/>
          </a:p>
        </p:txBody>
      </p:sp>
      <p:sp>
        <p:nvSpPr>
          <p:cNvPr id="7" name="Text 5"/>
          <p:cNvSpPr/>
          <p:nvPr/>
        </p:nvSpPr>
        <p:spPr>
          <a:xfrm>
            <a:off x="7607022" y="3815715"/>
            <a:ext cx="2837974" cy="354330"/>
          </a:xfrm>
          <a:prstGeom prst="rect">
            <a:avLst/>
          </a:prstGeom>
          <a:noFill/>
        </p:spPr>
        <p:txBody>
          <a:bodyPr wrap="none" lIns="0" tIns="0" rIns="0" bIns="0" rtlCol="0" anchor="t"/>
          <a:lstStyle/>
          <a:p>
            <a:pPr marL="0" indent="0" algn="l">
              <a:lnSpc>
                <a:spcPts val="2750"/>
              </a:lnSpc>
              <a:buNone/>
            </a:pPr>
            <a:r>
              <a:rPr lang="en-US" sz="2200" dirty="0">
                <a:solidFill>
                  <a:srgbClr val="2C3F42"/>
                </a:solidFill>
                <a:latin typeface="Bitter Medium" pitchFamily="34" charset="0"/>
                <a:ea typeface="Bitter Medium" pitchFamily="34" charset="-122"/>
                <a:cs typeface="Bitter Medium" pitchFamily="34" charset="-120"/>
              </a:rPr>
              <a:t>showBlockedRoutes()</a:t>
            </a:r>
            <a:endParaRPr lang="en-US" sz="2200" dirty="0"/>
          </a:p>
        </p:txBody>
      </p:sp>
      <p:sp>
        <p:nvSpPr>
          <p:cNvPr id="8" name="Text 6"/>
          <p:cNvSpPr/>
          <p:nvPr/>
        </p:nvSpPr>
        <p:spPr>
          <a:xfrm>
            <a:off x="7607022" y="4396859"/>
            <a:ext cx="2845594" cy="725805"/>
          </a:xfrm>
          <a:prstGeom prst="rect">
            <a:avLst/>
          </a:prstGeom>
          <a:noFill/>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Shows only currently blocked roads.</a:t>
            </a:r>
            <a:endParaRPr lang="en-US" sz="1750" dirty="0"/>
          </a:p>
        </p:txBody>
      </p:sp>
      <p:sp>
        <p:nvSpPr>
          <p:cNvPr id="9" name="Text 7"/>
          <p:cNvSpPr/>
          <p:nvPr/>
        </p:nvSpPr>
        <p:spPr>
          <a:xfrm>
            <a:off x="11013638" y="3815715"/>
            <a:ext cx="2835235" cy="354330"/>
          </a:xfrm>
          <a:prstGeom prst="rect">
            <a:avLst/>
          </a:prstGeom>
          <a:noFill/>
        </p:spPr>
        <p:txBody>
          <a:bodyPr wrap="none" lIns="0" tIns="0" rIns="0" bIns="0" rtlCol="0" anchor="t"/>
          <a:lstStyle/>
          <a:p>
            <a:pPr marL="0" indent="0" algn="l">
              <a:lnSpc>
                <a:spcPts val="2750"/>
              </a:lnSpc>
              <a:buNone/>
            </a:pPr>
            <a:r>
              <a:rPr lang="en-US" sz="2200" dirty="0">
                <a:solidFill>
                  <a:srgbClr val="2C3F42"/>
                </a:solidFill>
                <a:latin typeface="Bitter Medium" pitchFamily="34" charset="0"/>
                <a:ea typeface="Bitter Medium" pitchFamily="34" charset="-122"/>
                <a:cs typeface="Bitter Medium" pitchFamily="34" charset="-120"/>
              </a:rPr>
              <a:t>originalTime</a:t>
            </a:r>
            <a:endParaRPr lang="en-US" sz="2200" dirty="0"/>
          </a:p>
        </p:txBody>
      </p:sp>
      <p:sp>
        <p:nvSpPr>
          <p:cNvPr id="10" name="Text 8"/>
          <p:cNvSpPr/>
          <p:nvPr/>
        </p:nvSpPr>
        <p:spPr>
          <a:xfrm>
            <a:off x="11013638" y="4396859"/>
            <a:ext cx="2845594" cy="1088708"/>
          </a:xfrm>
          <a:prstGeom prst="rect">
            <a:avLst/>
          </a:prstGeom>
          <a:noFill/>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Stores original road time, allows unblock without asking user.</a:t>
            </a:r>
            <a:endParaRPr lang="en-US" sz="1750" dirty="0"/>
          </a:p>
        </p:txBody>
      </p:sp>
      <p:pic>
        <p:nvPicPr>
          <p:cNvPr id="11" name="Picture 10"/>
          <p:cNvPicPr>
            <a:picLocks noChangeAspect="1"/>
          </p:cNvPicPr>
          <p:nvPr/>
        </p:nvPicPr>
        <p:blipFill>
          <a:blip r:embed="rId1"/>
          <a:stretch>
            <a:fillRect/>
          </a:stretch>
        </p:blipFill>
        <p:spPr>
          <a:xfrm>
            <a:off x="10163175" y="7543800"/>
            <a:ext cx="4467225" cy="6858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2827615"/>
            <a:ext cx="9520714" cy="708779"/>
          </a:xfrm>
          <a:prstGeom prst="rect">
            <a:avLst/>
          </a:prstGeom>
          <a:noFill/>
        </p:spPr>
        <p:txBody>
          <a:bodyPr wrap="none" lIns="0" tIns="0" rIns="0" bIns="0" rtlCol="0" anchor="t"/>
          <a:lstStyle/>
          <a:p>
            <a:pPr marL="0" indent="0" algn="l">
              <a:lnSpc>
                <a:spcPts val="5550"/>
              </a:lnSpc>
              <a:buNone/>
            </a:pPr>
            <a:r>
              <a:rPr lang="en-US" sz="4450" dirty="0">
                <a:solidFill>
                  <a:srgbClr val="2C3F42"/>
                </a:solidFill>
                <a:latin typeface="Bitter Medium" pitchFamily="34" charset="0"/>
                <a:ea typeface="Bitter Medium" pitchFamily="34" charset="-122"/>
                <a:cs typeface="Bitter Medium" pitchFamily="34" charset="-120"/>
              </a:rPr>
              <a:t>                                   Thank you !</a:t>
            </a:r>
            <a:endParaRPr lang="en-US" sz="4450" dirty="0"/>
          </a:p>
        </p:txBody>
      </p:sp>
      <p:sp>
        <p:nvSpPr>
          <p:cNvPr id="3" name="Text 1"/>
          <p:cNvSpPr/>
          <p:nvPr/>
        </p:nvSpPr>
        <p:spPr>
          <a:xfrm>
            <a:off x="793790" y="3990023"/>
            <a:ext cx="13042821" cy="362903"/>
          </a:xfrm>
          <a:prstGeom prst="rect">
            <a:avLst/>
          </a:prstGeom>
          <a:noFill/>
        </p:spPr>
        <p:txBody>
          <a:bodyPr wrap="non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 </a:t>
            </a:r>
            <a:endParaRPr lang="en-US" sz="1750" dirty="0"/>
          </a:p>
        </p:txBody>
      </p:sp>
      <p:sp>
        <p:nvSpPr>
          <p:cNvPr id="4" name="Text 2"/>
          <p:cNvSpPr/>
          <p:nvPr/>
        </p:nvSpPr>
        <p:spPr>
          <a:xfrm>
            <a:off x="793790" y="4693087"/>
            <a:ext cx="10330934" cy="708779"/>
          </a:xfrm>
          <a:prstGeom prst="rect">
            <a:avLst/>
          </a:prstGeom>
          <a:noFill/>
        </p:spPr>
        <p:txBody>
          <a:bodyPr wrap="none" lIns="0" tIns="0" rIns="0" bIns="0" rtlCol="0" anchor="t"/>
          <a:lstStyle/>
          <a:p>
            <a:pPr marL="0" indent="0" algn="l">
              <a:lnSpc>
                <a:spcPts val="5550"/>
              </a:lnSpc>
              <a:buNone/>
            </a:pPr>
            <a:r>
              <a:rPr lang="en-US" sz="4450" dirty="0">
                <a:solidFill>
                  <a:srgbClr val="2C3F42"/>
                </a:solidFill>
                <a:latin typeface="Bitter Medium" pitchFamily="34" charset="0"/>
                <a:ea typeface="Bitter Medium" pitchFamily="34" charset="-122"/>
                <a:cs typeface="Bitter Medium" pitchFamily="34" charset="-120"/>
              </a:rPr>
              <a:t>                                 Any Questions ?</a:t>
            </a:r>
            <a:endParaRPr lang="en-US" sz="4450" dirty="0"/>
          </a:p>
        </p:txBody>
      </p:sp>
      <p:pic>
        <p:nvPicPr>
          <p:cNvPr id="5" name="Picture 4"/>
          <p:cNvPicPr>
            <a:picLocks noChangeAspect="1"/>
          </p:cNvPicPr>
          <p:nvPr/>
        </p:nvPicPr>
        <p:blipFill>
          <a:blip r:embed="rId1"/>
          <a:stretch>
            <a:fillRect/>
          </a:stretch>
        </p:blipFill>
        <p:spPr>
          <a:xfrm>
            <a:off x="10163175" y="7543800"/>
            <a:ext cx="4467225" cy="685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18245</Words>
  <Application>WPS Presentation</Application>
  <PresentationFormat>On-screen Show (16:9)</PresentationFormat>
  <Paragraphs>571</Paragraphs>
  <Slides>22</Slides>
  <Notes>22</Notes>
  <HiddenSlides>0</HiddenSlides>
  <MMClips>0</MMClips>
  <ScaleCrop>false</ScaleCrop>
  <HeadingPairs>
    <vt:vector size="6" baseType="variant">
      <vt:variant>
        <vt:lpstr>已用的字体</vt:lpstr>
      </vt:variant>
      <vt:variant>
        <vt:i4>22</vt:i4>
      </vt:variant>
      <vt:variant>
        <vt:lpstr>主题</vt:lpstr>
      </vt:variant>
      <vt:variant>
        <vt:i4>1</vt:i4>
      </vt:variant>
      <vt:variant>
        <vt:lpstr>幻灯片标题</vt:lpstr>
      </vt:variant>
      <vt:variant>
        <vt:i4>22</vt:i4>
      </vt:variant>
    </vt:vector>
  </HeadingPairs>
  <TitlesOfParts>
    <vt:vector size="45" baseType="lpstr">
      <vt:lpstr>Arial</vt:lpstr>
      <vt:lpstr>SimSun</vt:lpstr>
      <vt:lpstr>Wingdings</vt:lpstr>
      <vt:lpstr>DejaVu Sans</vt:lpstr>
      <vt:lpstr>Bitter Medium</vt:lpstr>
      <vt:lpstr>C059</vt:lpstr>
      <vt:lpstr>Bitter Medium</vt:lpstr>
      <vt:lpstr>Bitter Medium</vt:lpstr>
      <vt:lpstr>Open Sans</vt:lpstr>
      <vt:lpstr>Open Sans</vt:lpstr>
      <vt:lpstr>Open Sans</vt:lpstr>
      <vt:lpstr>Consolas</vt:lpstr>
      <vt:lpstr>Consolas</vt:lpstr>
      <vt:lpstr>Consolas</vt:lpstr>
      <vt:lpstr>Calibri</vt:lpstr>
      <vt:lpstr>Microsoft YaHei</vt:lpstr>
      <vt:lpstr>Droid Sans Fallback</vt:lpstr>
      <vt:lpstr>Arial Unicode MS</vt:lpstr>
      <vt:lpstr>Bitter Light</vt:lpstr>
      <vt:lpstr>Bitter Light</vt:lpstr>
      <vt:lpstr>Bitter Light</vt:lpstr>
      <vt:lpstr>Noto Color Emoji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zaiffii</cp:lastModifiedBy>
  <cp:revision>3</cp:revision>
  <dcterms:created xsi:type="dcterms:W3CDTF">2025-12-22T02:37:57Z</dcterms:created>
  <dcterms:modified xsi:type="dcterms:W3CDTF">2025-12-22T02:37:57Z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1033-11.1.0.11723</vt:lpwstr>
  </property>
</Properties>
</file>